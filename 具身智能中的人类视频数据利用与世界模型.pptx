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 Score</c:v>
                </c:pt>
              </c:strCache>
            </c:strRef>
          </c:tx>
          <c:spPr>
            <a:solidFill>
              <a:srgbClr val="005C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5C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ACT(2h)</c:v>
                  </c:pt>
                  <c:pt idx="1">
                    <c:v>ACT(3h)</c:v>
                  </c:pt>
                  <c:pt idx="2">
                    <c:v>EgoMimic(2hR)</c:v>
                  </c:pt>
                  <c:pt idx="3">
                    <c:v>EgoMimic(2hR+1hH)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74</c:v>
                </c:pt>
                <c:pt idx="2">
                  <c:v>104</c:v>
                </c:pt>
                <c:pt idx="3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5C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5C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5C82"/>
                </a:solidFill>
                <a:latin typeface="Arial"/>
              </a:rPr>
              <a:t>仿真基准性能对比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Being-H0.7</c:v>
                </c:pt>
              </c:strCache>
            </c:strRef>
          </c:tx>
          <c:spPr>
            <a:solidFill>
              <a:srgbClr val="005C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LIBERO</c:v>
                  </c:pt>
                  <c:pt idx="1">
                    <c:v>RoboCasa</c:v>
                  </c:pt>
                  <c:pt idx="2">
                    <c:v>GR1</c:v>
                  </c:pt>
                  <c:pt idx="3">
                    <c:v>CALVIN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99.2</c:v>
                </c:pt>
                <c:pt idx="1">
                  <c:v>62.1</c:v>
                </c:pt>
                <c:pt idx="2">
                  <c:v>49.2</c:v>
                </c:pt>
                <c:pt idx="3">
                  <c:v>4.67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π0.5</c:v>
                </c:pt>
              </c:strCache>
            </c:strRef>
          </c:tx>
          <c:spPr>
            <a:solidFill>
              <a:srgbClr val="00AC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LIBERO</c:v>
                  </c:pt>
                  <c:pt idx="1">
                    <c:v>RoboCasa</c:v>
                  </c:pt>
                  <c:pt idx="2">
                    <c:v>GR1</c:v>
                  </c:pt>
                  <c:pt idx="3">
                    <c:v>CALVIN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96.9</c:v>
                </c:pt>
                <c:pt idx="1">
                  <c:v>41.4</c:v>
                </c:pt>
                <c:pt idx="2">
                  <c:v>0</c:v>
                </c:pt>
                <c:pt idx="3">
                  <c:v>4.06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MINT-4B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LIBERO</c:v>
                  </c:pt>
                  <c:pt idx="1">
                    <c:v>RoboCasa</c:v>
                  </c:pt>
                  <c:pt idx="2">
                    <c:v>GR1</c:v>
                  </c:pt>
                  <c:pt idx="3">
                    <c:v>CALVIN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98.7</c:v>
                </c:pt>
                <c:pt idx="1">
                  <c:v>0</c:v>
                </c:pt>
                <c:pt idx="2">
                  <c:v>0</c:v>
                </c:pt>
                <c:pt idx="3">
                  <c:v>4.57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3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f4fa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270000"/>
          </a:xfrm>
          <a:prstGeom prst="rect">
            <a:avLst/>
          </a:prstGeom>
          <a:solidFill>
            <a:srgbClr val="F4FA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6256000" cy="3302000"/>
          </a:xfrm>
          <a:prstGeom prst="rect">
            <a:avLst/>
          </a:prstGeom>
          <a:gradFill rotWithShape="1" flip="none">
            <a:gsLst>
              <a:gs pos="0">
                <a:srgbClr val="004060"/>
              </a:gs>
              <a:gs pos="50000">
                <a:srgbClr val="005C82"/>
              </a:gs>
              <a:gs pos="100000">
                <a:srgbClr val="007AA8"/>
              </a:gs>
            </a:gsLst>
            <a:lin ang="54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762000" y="1651000"/>
            <a:ext cx="1397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具身智能中的人类视频数据利用与世界模型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2000" y="2768600"/>
            <a:ext cx="1270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spc="2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VIDEO DATA FOR EMBODIED AI &amp; WORLD MODELS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73600"/>
            <a:ext cx="16256000" cy="4470400"/>
          </a:xfrm>
          <a:prstGeom prst="rect">
            <a:avLst/>
          </a:prstGeom>
          <a:solidFill>
            <a:srgbClr val="F4FAFE"/>
          </a:solidFill>
          <a:ln/>
        </p:spPr>
      </p:sp>
      <p:sp>
        <p:nvSpPr>
          <p:cNvPr id="7" name="Shape 5"/>
          <p:cNvSpPr/>
          <p:nvPr/>
        </p:nvSpPr>
        <p:spPr>
          <a:xfrm>
            <a:off x="660400" y="50800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0038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文献综述汇报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|　四篇论文精读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0400" y="55880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5118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AoE · EgoMimic · EgoBridge · Being-H0.7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0400" y="6096000"/>
            <a:ext cx="177800" cy="177800"/>
          </a:xfrm>
          <a:prstGeom prst="diamond">
            <a:avLst/>
          </a:prstGeom>
          <a:solidFill>
            <a:srgbClr val="007AA8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6019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555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数据采集 · 跨本体学习 · 潜世界模型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0400" y="6604000"/>
            <a:ext cx="177800" cy="177800"/>
          </a:xfrm>
          <a:prstGeom prst="diamond">
            <a:avLst/>
          </a:prstGeom>
          <a:solidFill>
            <a:srgbClr val="B0BEC5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6527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2025年7月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192000" y="4953000"/>
            <a:ext cx="3556000" cy="3556000"/>
          </a:xfrm>
          <a:prstGeom prst="rect">
            <a:avLst/>
          </a:prstGeom>
          <a:solidFill>
            <a:srgbClr val="005C82">
              <a:alpha val="3137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700000" y="5461000"/>
            <a:ext cx="2540000" cy="2540000"/>
          </a:xfrm>
          <a:prstGeom prst="rect">
            <a:avLst/>
          </a:prstGeom>
          <a:solidFill>
            <a:srgbClr val="005C82">
              <a:alpha val="1961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08000" y="5969000"/>
            <a:ext cx="1524000" cy="1524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9144000"/>
          </a:xfrm>
          <a:prstGeom prst="rect">
            <a:avLst/>
          </a:prstGeom>
          <a:gradFill rotWithShape="1" flip="none">
            <a:gsLst>
              <a:gs pos="0">
                <a:srgbClr val="004060"/>
              </a:gs>
              <a:gs pos="100000">
                <a:srgbClr val="005C82"/>
              </a:gs>
            </a:gsLst>
            <a:lin ang="108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4826000"/>
            <a:ext cx="4826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508000" cy="5080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3556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目录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81000" y="43942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1000" y="3454400"/>
            <a:ext cx="1016000" cy="25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8" name="Shape 6"/>
          <p:cNvSpPr/>
          <p:nvPr/>
        </p:nvSpPr>
        <p:spPr>
          <a:xfrm>
            <a:off x="5257800" y="15240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9" name="Text 7"/>
          <p:cNvSpPr/>
          <p:nvPr/>
        </p:nvSpPr>
        <p:spPr>
          <a:xfrm>
            <a:off x="5588000" y="1397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研究背景与动机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88000" y="17907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and Motivation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80000" y="2184400"/>
            <a:ext cx="1066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25146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13" name="Text 11"/>
          <p:cNvSpPr/>
          <p:nvPr/>
        </p:nvSpPr>
        <p:spPr>
          <a:xfrm>
            <a:off x="5588000" y="2387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人类视频数据的采集与利用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88000" y="27813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and Utilization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80000" y="3175000"/>
            <a:ext cx="1066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35052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17" name="Text 15"/>
          <p:cNvSpPr/>
          <p:nvPr/>
        </p:nvSpPr>
        <p:spPr>
          <a:xfrm>
            <a:off x="5588000" y="33782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跨本体模仿学习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8000" y="37719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Cross-Embodiment Imitation Learning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80000" y="4165600"/>
            <a:ext cx="1066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257800" y="44958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21" name="Text 19"/>
          <p:cNvSpPr/>
          <p:nvPr/>
        </p:nvSpPr>
        <p:spPr>
          <a:xfrm>
            <a:off x="5588000" y="43688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潜世界动作模型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88000" y="47625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Latent World Action Models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80000" y="5156200"/>
            <a:ext cx="1066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257800" y="54864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25" name="Text 23"/>
          <p:cNvSpPr/>
          <p:nvPr/>
        </p:nvSpPr>
        <p:spPr>
          <a:xfrm>
            <a:off x="5588000" y="53594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88000" y="57531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and Future Directions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" y="1778000"/>
            <a:ext cx="4826000" cy="4826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0000" y="2286000"/>
            <a:ext cx="3810000" cy="3810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620000" y="2794000"/>
            <a:ext cx="12700" cy="27940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2921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0" y="3403600"/>
            <a:ext cx="736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研究背景与动机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28000" y="44196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and Motivation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5029200"/>
            <a:ext cx="2540000" cy="25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8128000" y="52832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　具身智能的数据瓶颈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0" y="57404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　VLA vs WAM：两条路线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60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1.1 具身智能的数据瓶颈与路线之争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具身智能：数据瓶颈与两条路线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0000" y="16764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16" name="Text 14"/>
          <p:cNvSpPr/>
          <p:nvPr/>
        </p:nvSpPr>
        <p:spPr>
          <a:xfrm>
            <a:off x="2870200" y="1600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核心矛盾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70200" y="2006600"/>
            <a:ext cx="12877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如何兼具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 的推理效率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WAM 的未来感知能力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？如何利用海量人类日常视频数据？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40000" y="2692400"/>
            <a:ext cx="1320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9" name="Shape 17"/>
          <p:cNvSpPr/>
          <p:nvPr/>
        </p:nvSpPr>
        <p:spPr>
          <a:xfrm>
            <a:off x="2540000" y="2895600"/>
            <a:ext cx="6350000" cy="4826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0" name="Text 18"/>
          <p:cNvSpPr/>
          <p:nvPr/>
        </p:nvSpPr>
        <p:spPr>
          <a:xfrm>
            <a:off x="2540000" y="28956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路线一：VLA（Vision-Language-Action）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540000" y="3378200"/>
            <a:ext cx="6350000" cy="3302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22" name="Text 20"/>
          <p:cNvSpPr/>
          <p:nvPr/>
        </p:nvSpPr>
        <p:spPr>
          <a:xfrm>
            <a:off x="2768600" y="3530600"/>
            <a:ext cx="58928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机制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：当前观测 + 指令 → 直接映射到动作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优点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：可扩展、推理简单高效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缺点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动作监督稀疏，易学习捷径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缺乏显式物理/动态建模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难以从无动作视频中学习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44000" y="2895600"/>
            <a:ext cx="6350000" cy="4826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28956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路线二：WAM（World-Action Models）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0" y="3378200"/>
            <a:ext cx="6350000" cy="3302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3530600"/>
            <a:ext cx="58928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机制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：视频生成模型预测未来帧 → 规划动作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优点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：联合建模世界动态与动作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缺点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训练和推理都要生成未来像素帧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像素细节对控制冗余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Roll-out 延迟高、内存大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540000" y="6985000"/>
            <a:ext cx="177800" cy="1778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2870200" y="69088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四篇论文的回应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870200" y="7315200"/>
            <a:ext cx="12877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AoE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解决数据来源 →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EgoMimic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解决数据利用 →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EgoBridge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解决知识迁移 →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Being-H0.7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解决推理效率，形成完整技术链路。</a:t>
            </a:r>
            <a:endParaRPr lang="en-US" sz="17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" y="1778000"/>
            <a:ext cx="4826000" cy="4826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0000" y="2286000"/>
            <a:ext cx="3810000" cy="3810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620000" y="2794000"/>
            <a:ext cx="12700" cy="27940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2921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0" y="3403600"/>
            <a:ext cx="736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人类视频数据的采集与利用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28000" y="44196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and Utilization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5029200"/>
            <a:ext cx="2540000" cy="25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8128000" y="52832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　AoE：低成本全天候采集系统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0" y="57404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2.2　EgoMimic：跨本体联合训练框架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844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数据与利用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2.1 AoE 采集系统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AoE：Always-on Egocentric 视频采集系统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0000" y="1574800"/>
            <a:ext cx="6350000" cy="3048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7272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核心设计：端云协同架构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2133600"/>
            <a:ext cx="5943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端侧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：智能手机+颈挂支架，实时视觉检测，选择性上传高价值片段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云端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：自动标注流水线（标定→重建→增强→过滤）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成本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：单用户 &lt;$20，vs 遥操作 &gt;$50k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0" y="1574800"/>
            <a:ext cx="6350000" cy="3048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9347200" y="17272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数据增强：人手 → 机器手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47200" y="2133600"/>
            <a:ext cx="5943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人体擦除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（Body Erasing）：去除人手/手臂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机器人 Inpaint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：按 URDF 渲染机械臂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背景替换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：世界模型生成新场景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540000" y="4876800"/>
            <a:ext cx="12954000" cy="7112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7000" y="4978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相机标定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80000" y="5130800"/>
            <a:ext cx="381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5C82"/>
          </a:solidFill>
          <a:ln/>
        </p:spPr>
      </p:sp>
      <p:sp>
        <p:nvSpPr>
          <p:cNvPr id="24" name="Text 22"/>
          <p:cNvSpPr/>
          <p:nvPr/>
        </p:nvSpPr>
        <p:spPr>
          <a:xfrm>
            <a:off x="5588000" y="4978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场景重建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01000" y="5130800"/>
            <a:ext cx="381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5C8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9000" y="4978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手部重建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922000" y="5130800"/>
            <a:ext cx="3810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0" y="4978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质量过滤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5842000"/>
          <a:ext cx="12954000" cy="1778000"/>
        </p:xfrm>
        <a:graphic>
          <a:graphicData uri="http://schemas.openxmlformats.org/drawingml/2006/table">
            <a:tbl>
              <a:tblPr/>
              <a:tblGrid>
                <a:gridCol w="2849880"/>
                <a:gridCol w="1684020"/>
                <a:gridCol w="1684020"/>
                <a:gridCol w="1684020"/>
                <a:gridCol w="1684020"/>
                <a:gridCol w="1684020"/>
                <a:gridCol w="1684020"/>
              </a:tblGrid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EgoDex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Ego4D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Ours(w/o d)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Ours(w/ d)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ATE ↓ (mm)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1.91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4.77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0.26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Close Laptop SR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45%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95%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 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2540000" y="78486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核心结论：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AoE 数据能显著提升机器人在复杂长程任务上的成功率，在遥操作数据稀疏时效果尤为突出。</a:t>
            </a:r>
            <a:endParaRPr lang="en-US" sz="17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844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数据与利用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2.2 EgoMimic 跨本体训练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EgoMimic：跨本体模仿学习的全栈框架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0000" y="16256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16" name="Text 14"/>
          <p:cNvSpPr/>
          <p:nvPr/>
        </p:nvSpPr>
        <p:spPr>
          <a:xfrm>
            <a:off x="2870200" y="1549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核心思想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70200" y="1955800"/>
            <a:ext cx="12877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将人类 egocentric 视频与机器人遥操作数据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平等对待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，作为 embodied demonstration 联合训练统一策略。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540000" y="2667000"/>
            <a:ext cx="1320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9" name="Shape 17"/>
          <p:cNvSpPr/>
          <p:nvPr/>
        </p:nvSpPr>
        <p:spPr>
          <a:xfrm>
            <a:off x="2540000" y="2844800"/>
            <a:ext cx="6350000" cy="4826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20" name="Text 18"/>
          <p:cNvSpPr/>
          <p:nvPr/>
        </p:nvSpPr>
        <p:spPr>
          <a:xfrm>
            <a:off x="2540000" y="28448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四大核心组件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540000" y="3327400"/>
            <a:ext cx="6350000" cy="2921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22" name="Text 20"/>
          <p:cNvSpPr/>
          <p:nvPr/>
        </p:nvSpPr>
        <p:spPr>
          <a:xfrm>
            <a:off x="2768600" y="3454400"/>
            <a:ext cx="5892800" cy="271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数据采集</a:t>
            </a:r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：Project Aria 眼镜，egocentric RGB + 3D hand tracking + SLAM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低成本硬件</a:t>
            </a:r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：双臂机器人，ViperX 300s，整机 &lt;$1,000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跨域对齐</a:t>
            </a:r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：坐标统一 + 动作分布归一化 + 视觉掩码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④ 统一架构</a:t>
            </a:r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：共享 Vision Encoder + Policy Network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2844800"/>
            <a:ext cx="6350000" cy="482600"/>
          </a:xfrm>
          <a:prstGeom prst="rect">
            <a:avLst/>
          </a:prstGeom>
          <a:solidFill>
            <a:srgbClr val="007AA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28448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关键实验结果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0" y="3327400"/>
            <a:ext cx="6350000" cy="2921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3454400"/>
            <a:ext cx="5892800" cy="271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人类数据提升性能 </a:t>
            </a:r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34-228%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1h 人类数据 &gt; 1h 机器人数据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可泛化到</a:t>
            </a:r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新物体</a:t>
            </a:r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和</a:t>
            </a:r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新场景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Object-in-Bowl：ACT 39pts → EgoMimic </a:t>
            </a:r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128pts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540000" y="6477000"/>
            <a:ext cx="177800" cy="1778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2870200" y="64008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 Scaling 趋势</a:t>
            </a:r>
            <a:endParaRPr lang="en-US" sz="20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2540000" y="6858000"/>
          <a:ext cx="12954000" cy="165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" y="1778000"/>
            <a:ext cx="4826000" cy="4826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0000" y="2286000"/>
            <a:ext cx="3810000" cy="3810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620000" y="2794000"/>
            <a:ext cx="12700" cy="27940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2921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0" y="3403600"/>
            <a:ext cx="736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跨本体模仿学习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28000" y="44196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Cross-Embodiment Imitation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5029200"/>
            <a:ext cx="2540000" cy="25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8128000" y="52832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　EgoBridge：Joint Optimal Transport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0" y="57404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　实验结果与消融分析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528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3.1 EgoBridge 最优运输对齐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EgoBridge：Joint Optimal Transport 跨本体对齐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0000" y="16256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16" name="Text 14"/>
          <p:cNvSpPr/>
          <p:nvPr/>
        </p:nvSpPr>
        <p:spPr>
          <a:xfrm>
            <a:off x="2870200" y="1549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核心问题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70200" y="1955800"/>
            <a:ext cx="12877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直接 co-training 让人/机数据在隐空间中形成</a:t>
            </a:r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分离簇</a:t>
            </a:r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，无法有效迁移人类-only 行为到新物体、新场景。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540000" y="2667000"/>
            <a:ext cx="1320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1000" y="2921000"/>
            <a:ext cx="635000" cy="635000"/>
          </a:xfrm>
          <a:prstGeom prst="ellipse">
            <a:avLst/>
          </a:prstGeom>
          <a:solidFill>
            <a:srgbClr val="005C82"/>
          </a:solidFill>
          <a:ln/>
        </p:spPr>
      </p:sp>
      <p:sp>
        <p:nvSpPr>
          <p:cNvPr id="20" name="Text 18"/>
          <p:cNvSpPr/>
          <p:nvPr/>
        </p:nvSpPr>
        <p:spPr>
          <a:xfrm>
            <a:off x="2921000" y="2921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556000" y="3225800"/>
            <a:ext cx="1524000" cy="25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22" name="Shape 20"/>
          <p:cNvSpPr/>
          <p:nvPr/>
        </p:nvSpPr>
        <p:spPr>
          <a:xfrm>
            <a:off x="5080000" y="2921000"/>
            <a:ext cx="635000" cy="635000"/>
          </a:xfrm>
          <a:prstGeom prst="ellipse">
            <a:avLst/>
          </a:prstGeom>
          <a:solidFill>
            <a:srgbClr val="007AA8"/>
          </a:solidFill>
          <a:ln/>
        </p:spPr>
      </p:sp>
      <p:sp>
        <p:nvSpPr>
          <p:cNvPr id="23" name="Text 21"/>
          <p:cNvSpPr/>
          <p:nvPr/>
        </p:nvSpPr>
        <p:spPr>
          <a:xfrm>
            <a:off x="5080000" y="2921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715000" y="3225800"/>
            <a:ext cx="1524000" cy="25400"/>
          </a:xfrm>
          <a:prstGeom prst="rect">
            <a:avLst/>
          </a:prstGeom>
          <a:solidFill>
            <a:srgbClr val="007A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239000" y="2921000"/>
            <a:ext cx="635000" cy="63500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6" name="Text 24"/>
          <p:cNvSpPr/>
          <p:nvPr/>
        </p:nvSpPr>
        <p:spPr>
          <a:xfrm>
            <a:off x="7239000" y="2921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540000" y="3632200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DTW 伪配对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弹性对齐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99000" y="3632200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007A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Joint-OT 代价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7A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(z,a)联合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3632200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Sinkhorn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可微求解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4419600"/>
          <a:ext cx="12954000" cy="2540000"/>
        </p:xfrm>
        <a:graphic>
          <a:graphicData uri="http://schemas.openxmlformats.org/drawingml/2006/table">
            <a:tbl>
              <a:tblPr/>
              <a:tblGrid>
                <a:gridCol w="2849880"/>
                <a:gridCol w="1684020"/>
                <a:gridCol w="1684020"/>
                <a:gridCol w="1684020"/>
                <a:gridCol w="1684020"/>
                <a:gridCol w="1684020"/>
                <a:gridCol w="168402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Scoop SR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Obj.Gen.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S+O Gen.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Drawer Pts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Beh.Gen.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Laundry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Robot-only BC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33%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40%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7%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38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9%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Co-train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60%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46%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55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22%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EgoMimic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53%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53%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49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14%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EgoBridge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67%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60%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27%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77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47%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72%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2540000" y="7188200"/>
            <a:ext cx="12954000" cy="11430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32" name="Shape 29"/>
          <p:cNvSpPr/>
          <p:nvPr/>
        </p:nvSpPr>
        <p:spPr>
          <a:xfrm>
            <a:off x="2717800" y="7416800"/>
            <a:ext cx="177800" cy="1778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33" name="Text 30"/>
          <p:cNvSpPr/>
          <p:nvPr/>
        </p:nvSpPr>
        <p:spPr>
          <a:xfrm>
            <a:off x="3098800" y="72898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核心发现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098800" y="7645400"/>
            <a:ext cx="12192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消融实验：DTW 换 MSE 导致 in-domain SR 从 47%→14%；Joint-OT 换 Marginal-OT 行为泛化从 33%→17%。三者缺一不可。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" y="1778000"/>
            <a:ext cx="4826000" cy="4826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0000" y="2286000"/>
            <a:ext cx="3810000" cy="3810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620000" y="2794000"/>
            <a:ext cx="12700" cy="27940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2921000"/>
            <a:ext cx="711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0" y="3403600"/>
            <a:ext cx="736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潜世界动作模型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28000" y="44196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B0BE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Latent World Action Models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5029200"/>
            <a:ext cx="2540000" cy="25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8128000" y="52832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4.1　Being-H0.7：核心架构与双分支设计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0" y="57404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4.2　实验结果与核心结论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212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4.1 Being-H0.7 架构设计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Being-H0.7：核心架构与双分支设计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0000" y="1574800"/>
            <a:ext cx="12954000" cy="711200"/>
          </a:xfrm>
          <a:prstGeom prst="roundRect">
            <a:avLst>
              <a:gd name="adj" fmla="val 4000"/>
            </a:avLst>
          </a:prstGeom>
          <a:solidFill>
            <a:srgbClr val="005C82"/>
          </a:solidFill>
          <a:ln/>
        </p:spPr>
      </p:sp>
      <p:sp>
        <p:nvSpPr>
          <p:cNvPr id="16" name="Text 14"/>
          <p:cNvSpPr/>
          <p:nvPr/>
        </p:nvSpPr>
        <p:spPr>
          <a:xfrm>
            <a:off x="2794000" y="1574800"/>
            <a:ext cx="12446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核心思想：</a:t>
            </a:r>
            <a:pPr algn="l">
              <a:lnSpc>
                <a:spcPct val="14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不问"下一帧像素长什么样"，要问"未来什么信息对动作决策有用"——压缩进潜查询。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540000" y="2514600"/>
            <a:ext cx="6223000" cy="3175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667000"/>
            <a:ext cx="58166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先验分支 Prior（部署用）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3073400"/>
            <a:ext cx="58166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可学习潜查询 Q（K=16）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仅凭当前上下文推断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与动作块一起组成 MoT 序列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推理时唯一运行的分支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无未来帧生成，单次前传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17000" y="2514600"/>
            <a:ext cx="6223000" cy="3175000"/>
          </a:xfrm>
          <a:prstGeom prst="roundRect">
            <a:avLst>
              <a:gd name="adj" fmla="val 4000"/>
            </a:avLst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9220200" y="2667000"/>
            <a:ext cx="58166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后验分支 Posterior（训练专用）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20200" y="3073400"/>
            <a:ext cx="5816600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用未来观测嵌入替换 Q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冻结 V-JEPA 2.1 编码未来帧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提供"看过未来"的软标签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训练后完全丢弃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通过潜空间对齐注入先验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40000" y="58928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联合对齐 + 反坍塌正则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540000" y="6299200"/>
            <a:ext cx="13208000" cy="12700"/>
          </a:xfrm>
          <a:prstGeom prst="rect">
            <a:avLst/>
          </a:prstGeom>
          <a:solidFill>
            <a:srgbClr val="E0F4F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2540000" y="6477000"/>
                <a:ext cx="12954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700" i="1" dirty="0">
                          <a:solidFill>
                            <a:srgbClr val="333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</m:t>
                      </m:r>
                      <m:r>
                        <a:rPr lang="en-US" sz="1700" dirty="0">
                          <a:solidFill>
                            <a:srgbClr val="333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F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M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333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w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g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333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g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333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r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e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pPr algn="ctr">
                  <a:lnSpc>
                    <a:spcPct val="120000"/>
                  </a:lnSpc>
                </a:pPr>
                <a:r>
                  <a:rPr lang="en-US" sz="1700" dirty="0">
                    <a:solidFill>
                      <a:srgbClr val="33333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其中　</a:t>
                </a:r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w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g</m:t>
                          </m:r>
                          <m:r>
                            <a:rPr lang="en-US" sz="1200" i="1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333333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p>
                        <m:sSupPr>
                          <m:ctrlP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10</m:t>
                          </m:r>
                        </m:e>
                        <m:sup>
                          <m: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−</m:t>
                          </m:r>
                          <m:r>
                            <a:rPr lang="en-US" sz="1200" dirty="0">
                              <a:solidFill>
                                <a:srgbClr val="333333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25" name="Text 23"/>
              <p:cNvSpPr/>
              <p:nvPr/>
            </p:nvSpPr>
            <p:spPr>
              <a:xfrm>
                <a:off x="2540000" y="6477000"/>
                <a:ext cx="12954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700" dirty="0">
                    <a:solidFill>
                      <a:srgbClr val="33333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L = L_{FM} + w_{align} \cdot L_{align} + L_{reg} \)</a:t>
                </a:r>
                <a:pPr algn="ctr">
                  <a:lnSpc>
                    <a:spcPct val="120000"/>
                  </a:lnSpc>
                </a:pPr>
                <a:r>
                  <a:rPr lang="en-US" sz="1700" dirty="0">
                    <a:solidFill>
                      <a:srgbClr val="33333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　　其中　</a:t>
                </a:r>
                <a:pPr algn="ctr">
                  <a:lnSpc>
                    <a:spcPct val="120000"/>
                  </a:lnSpc>
                </a:pPr>
                <a:r>
                  <a:rPr lang="en-US" sz="1700" dirty="0">
                    <a:solidFill>
                      <a:srgbClr val="333333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w_{align} = 10^{-5} \)</a:t>
                </a:r>
                <a:endParaRPr lang="en-US" sz="1700" dirty="0"/>
              </a:p>
            </p:txBody>
          </p:sp>
        </mc:Fallback>
      </mc:AlternateContent>
      <p:sp>
        <p:nvSpPr>
          <p:cNvPr id="26" name="Text 24"/>
          <p:cNvSpPr/>
          <p:nvPr/>
        </p:nvSpPr>
        <p:spPr>
          <a:xfrm>
            <a:off x="2540000" y="7112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隐藏层对齐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：L=9 层 Transformer 隐藏状态 Frobenius 对齐　|　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范数保持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：防止潜状态幅度衰减　|　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谱多样性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：防止信息坍缩到单一方向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212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4.2 Being-H0.7 实验结果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Being-H0.7：实验结果与核心结论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40000" y="1574800"/>
            <a:ext cx="3048000" cy="15240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16" name="Text 14"/>
          <p:cNvSpPr/>
          <p:nvPr/>
        </p:nvSpPr>
        <p:spPr>
          <a:xfrm>
            <a:off x="2540000" y="1676400"/>
            <a:ext cx="3048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99.2%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540000" y="2438400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E0F4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LIBERO SOTA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91200" y="1574800"/>
            <a:ext cx="3048000" cy="1524000"/>
          </a:xfrm>
          <a:prstGeom prst="rect">
            <a:avLst/>
          </a:prstGeom>
          <a:solidFill>
            <a:srgbClr val="007AA8"/>
          </a:solidFill>
          <a:ln/>
        </p:spPr>
      </p:sp>
      <p:sp>
        <p:nvSpPr>
          <p:cNvPr id="19" name="Text 17"/>
          <p:cNvSpPr/>
          <p:nvPr/>
        </p:nvSpPr>
        <p:spPr>
          <a:xfrm>
            <a:off x="5791200" y="1676400"/>
            <a:ext cx="3048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3.45ms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791200" y="2438400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E0F4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推理延迟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2400" y="1574800"/>
            <a:ext cx="3048000" cy="15240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2" name="Text 20"/>
          <p:cNvSpPr/>
          <p:nvPr/>
        </p:nvSpPr>
        <p:spPr>
          <a:xfrm>
            <a:off x="9042400" y="1676400"/>
            <a:ext cx="3048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70.0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042400" y="2438400"/>
            <a:ext cx="304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E0F4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Scene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293600" y="1574800"/>
            <a:ext cx="3200400" cy="1524000"/>
          </a:xfrm>
          <a:prstGeom prst="rect">
            <a:avLst/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93600" y="1676400"/>
            <a:ext cx="32004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基准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2293600" y="2438400"/>
            <a:ext cx="3200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仿真+真实全面领先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540000" y="3352800"/>
          <a:ext cx="8001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10871200" y="3454400"/>
            <a:ext cx="4622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核心发现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0871200" y="3860800"/>
            <a:ext cx="2286000" cy="25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0" name="Text 27"/>
          <p:cNvSpPr/>
          <p:nvPr/>
        </p:nvSpPr>
        <p:spPr>
          <a:xfrm>
            <a:off x="10871200" y="4038600"/>
            <a:ext cx="4622800" cy="287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六大仿真基准最高或次高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真实世界五项能力全面领先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延迟 3.45ms vs Fast-WAM 41.26ms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内存占用显著低于 Fast-WAM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Dynamic Scene 提升最明显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540000" y="7162800"/>
            <a:ext cx="12954000" cy="10160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32" name="Shape 29"/>
          <p:cNvSpPr/>
          <p:nvPr/>
        </p:nvSpPr>
        <p:spPr>
          <a:xfrm>
            <a:off x="2717800" y="7416800"/>
            <a:ext cx="177800" cy="1778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33" name="Text 30"/>
          <p:cNvSpPr/>
          <p:nvPr/>
        </p:nvSpPr>
        <p:spPr>
          <a:xfrm>
            <a:off x="3098800" y="7264400"/>
            <a:ext cx="1219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核心结论：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潜世界模型可替代像素级未来生成——不生成未来帧，仅通过潜空间对齐即可获得世界建模的泛化收益，实现效率与性能兼得。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896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总结与展望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总结与展望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四篇论文的内在联系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四篇论文的内在联系与启示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1000" y="1778000"/>
            <a:ext cx="762000" cy="762000"/>
          </a:xfrm>
          <a:prstGeom prst="ellipse">
            <a:avLst/>
          </a:prstGeom>
          <a:solidFill>
            <a:srgbClr val="005C82"/>
          </a:solidFill>
          <a:ln/>
        </p:spPr>
      </p:sp>
      <p:sp>
        <p:nvSpPr>
          <p:cNvPr id="17" name="Text 15"/>
          <p:cNvSpPr/>
          <p:nvPr/>
        </p:nvSpPr>
        <p:spPr>
          <a:xfrm>
            <a:off x="2921000" y="177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83000" y="2133600"/>
            <a:ext cx="1270000" cy="25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3000" y="1778000"/>
            <a:ext cx="762000" cy="762000"/>
          </a:xfrm>
          <a:prstGeom prst="ellipse">
            <a:avLst/>
          </a:prstGeom>
          <a:solidFill>
            <a:srgbClr val="007AA8"/>
          </a:solidFill>
          <a:ln/>
        </p:spPr>
      </p:sp>
      <p:sp>
        <p:nvSpPr>
          <p:cNvPr id="20" name="Text 18"/>
          <p:cNvSpPr/>
          <p:nvPr/>
        </p:nvSpPr>
        <p:spPr>
          <a:xfrm>
            <a:off x="4953000" y="177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EgoMimic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15000" y="2133600"/>
            <a:ext cx="1270000" cy="25400"/>
          </a:xfrm>
          <a:prstGeom prst="rect">
            <a:avLst/>
          </a:prstGeom>
          <a:solidFill>
            <a:srgbClr val="007AA8"/>
          </a:solidFill>
          <a:ln/>
        </p:spPr>
      </p:sp>
      <p:sp>
        <p:nvSpPr>
          <p:cNvPr id="22" name="Shape 20"/>
          <p:cNvSpPr/>
          <p:nvPr/>
        </p:nvSpPr>
        <p:spPr>
          <a:xfrm>
            <a:off x="6985000" y="1778000"/>
            <a:ext cx="762000" cy="76200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3" name="Text 21"/>
          <p:cNvSpPr/>
          <p:nvPr/>
        </p:nvSpPr>
        <p:spPr>
          <a:xfrm>
            <a:off x="6985000" y="177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EgoBridge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47000" y="2133600"/>
            <a:ext cx="1270000" cy="254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5" name="Shape 23"/>
          <p:cNvSpPr/>
          <p:nvPr/>
        </p:nvSpPr>
        <p:spPr>
          <a:xfrm>
            <a:off x="9017000" y="1778000"/>
            <a:ext cx="762000" cy="762000"/>
          </a:xfrm>
          <a:prstGeom prst="ellipse">
            <a:avLst/>
          </a:prstGeom>
          <a:solidFill>
            <a:srgbClr val="007AA8"/>
          </a:solidFill>
          <a:ln/>
        </p:spPr>
      </p:sp>
      <p:sp>
        <p:nvSpPr>
          <p:cNvPr id="26" name="Text 24"/>
          <p:cNvSpPr/>
          <p:nvPr/>
        </p:nvSpPr>
        <p:spPr>
          <a:xfrm>
            <a:off x="9017000" y="1778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Being-H0.7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40000" y="2616200"/>
            <a:ext cx="15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数据来源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2616200"/>
            <a:ext cx="15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7A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数据利用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04000" y="2616200"/>
            <a:ext cx="15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AC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知识迁移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36000" y="2616200"/>
            <a:ext cx="15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007A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推理效率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40000" y="3352800"/>
            <a:ext cx="12954000" cy="711200"/>
          </a:xfrm>
          <a:prstGeom prst="roundRect">
            <a:avLst>
              <a:gd name="adj" fmla="val 4000"/>
            </a:avLst>
          </a:prstGeom>
          <a:solidFill>
            <a:srgbClr val="005C82"/>
          </a:solidFill>
          <a:ln/>
        </p:spPr>
      </p:sp>
      <p:sp>
        <p:nvSpPr>
          <p:cNvPr id="32" name="Text 30"/>
          <p:cNvSpPr/>
          <p:nvPr/>
        </p:nvSpPr>
        <p:spPr>
          <a:xfrm>
            <a:off x="2794000" y="3352800"/>
            <a:ext cx="12446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共同主题：世界建模的本质是"学到对控制有用的未来结构"，而非"生成未来像素"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540000" y="43434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34" name="Text 32"/>
          <p:cNvSpPr/>
          <p:nvPr/>
        </p:nvSpPr>
        <p:spPr>
          <a:xfrm>
            <a:off x="2870200" y="4267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跨本体迁移是关键支柱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870200" y="4673600"/>
            <a:ext cx="12877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 AoE 的"人手→机器手"数据增强，到 EgoMimic 的联合训练，再到 EgoBridge 的显式行为级 OT 对齐，跨本体迁移能力逐步深化。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2540000" y="5638800"/>
            <a:ext cx="1320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37" name="Shape 35"/>
          <p:cNvSpPr/>
          <p:nvPr/>
        </p:nvSpPr>
        <p:spPr>
          <a:xfrm>
            <a:off x="2540000" y="5867400"/>
            <a:ext cx="177800" cy="1778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38" name="Text 36"/>
          <p:cNvSpPr/>
          <p:nvPr/>
        </p:nvSpPr>
        <p:spPr>
          <a:xfrm>
            <a:off x="2870200" y="5791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潜空间表示是效率革命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2870200" y="6197600"/>
            <a:ext cx="12877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Being-H0.7 证明潜空间蒸馏可完全替代像素级未来生成，将 WAM 的研究焦点从"如何生成视频"转向"如何在潜空间编码未来"。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2540000" y="7162800"/>
            <a:ext cx="13208000" cy="127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41" name="Shape 39"/>
          <p:cNvSpPr/>
          <p:nvPr/>
        </p:nvSpPr>
        <p:spPr>
          <a:xfrm>
            <a:off x="2540000" y="7391400"/>
            <a:ext cx="177800" cy="177800"/>
          </a:xfrm>
          <a:prstGeom prst="diamond">
            <a:avLst/>
          </a:prstGeom>
          <a:solidFill>
            <a:srgbClr val="007AA8"/>
          </a:solidFill>
          <a:ln/>
        </p:spPr>
      </p:sp>
      <p:sp>
        <p:nvSpPr>
          <p:cNvPr id="42" name="Text 40"/>
          <p:cNvSpPr/>
          <p:nvPr/>
        </p:nvSpPr>
        <p:spPr>
          <a:xfrm>
            <a:off x="2870200" y="7315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训练-推理不对称是设计利器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870200" y="7721600"/>
            <a:ext cx="12877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后验分支训练时用未来、推理时丢弃——这种"训练特权"思路可能是下一代策略网络的默认组件。</a:t>
            </a:r>
            <a:endParaRPr lang="en-US" sz="17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  <a:ln/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89600"/>
            <a:ext cx="2286000" cy="11684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研究背景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21844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数据采集与利用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跨本体学习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" y="45212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潜世界模型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总结与展望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总结与展望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›　局限性与未来方向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局限性与未来方向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0000" y="1574800"/>
            <a:ext cx="6350000" cy="48260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17" name="Text 15"/>
          <p:cNvSpPr/>
          <p:nvPr/>
        </p:nvSpPr>
        <p:spPr>
          <a:xfrm>
            <a:off x="2540000" y="15748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现有局限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40000" y="2057400"/>
            <a:ext cx="6350000" cy="4318000"/>
          </a:xfrm>
          <a:prstGeom prst="rect">
            <a:avLst/>
          </a:prstGeom>
          <a:solidFill>
            <a:srgbClr val="E0F4FA"/>
          </a:solidFill>
          <a:ln/>
        </p:spPr>
      </p:sp>
      <p:sp>
        <p:nvSpPr>
          <p:cNvPr id="19" name="Text 17"/>
          <p:cNvSpPr/>
          <p:nvPr/>
        </p:nvSpPr>
        <p:spPr>
          <a:xfrm>
            <a:off x="2768600" y="2209800"/>
            <a:ext cx="5892800" cy="401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Being-H0.7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潜查询数量 K=16 手工设定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对齐权重敏感（10⁻⁵）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无显式长程规划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EgoBridge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DTW 假设单任务结构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Sinkhorn 超参数敏感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AoE / EgoMimic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高频动态控制受限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◆ 强遮挡场景精度待提升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0" y="1574800"/>
            <a:ext cx="6350000" cy="4826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5748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未来方向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0" y="2057400"/>
            <a:ext cx="6350000" cy="4318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2209800"/>
            <a:ext cx="5892800" cy="401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自适应潜查询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动态决定查询数量与稀疏性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OT + 世界模型结合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对齐后的隐空间用于未来预测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真实+合成闭环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"真实数据 + 合成 rollout"训练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④ 扩展到无标签视频</a:t>
            </a:r>
            <a:endParaRPr lang="en-US" sz="1600" dirty="0"/>
          </a:p>
          <a:p>
            <a:pPr algn="l">
              <a:lnSpc>
                <a:spcPct val="165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结合 point tracking / 逆动力学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540000" y="6654800"/>
            <a:ext cx="12954000" cy="762000"/>
          </a:xfrm>
          <a:prstGeom prst="rect">
            <a:avLst/>
          </a:prstGeom>
          <a:solidFill>
            <a:srgbClr val="005C82"/>
          </a:solidFill>
          <a:ln/>
        </p:spPr>
      </p:sp>
      <p:sp>
        <p:nvSpPr>
          <p:cNvPr id="25" name="Shape 23"/>
          <p:cNvSpPr/>
          <p:nvPr/>
        </p:nvSpPr>
        <p:spPr>
          <a:xfrm>
            <a:off x="2717800" y="6934200"/>
            <a:ext cx="152400" cy="152400"/>
          </a:xfrm>
          <a:prstGeom prst="diamond">
            <a:avLst/>
          </a:prstGeom>
          <a:solidFill>
            <a:srgbClr val="00ACC1"/>
          </a:solidFill>
          <a:ln/>
        </p:spPr>
      </p:sp>
      <p:sp>
        <p:nvSpPr>
          <p:cNvPr id="26" name="Text 24"/>
          <p:cNvSpPr/>
          <p:nvPr/>
        </p:nvSpPr>
        <p:spPr>
          <a:xfrm>
            <a:off x="3022600" y="6731000"/>
            <a:ext cx="1231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跨本体迁移与潜空间表示是具身智能走向规模化的两个关键支柱，未来有望实现"任意人类视频 → 任意机器人策略"的通用迁移。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270000"/>
          </a:xfrm>
          <a:prstGeom prst="rect">
            <a:avLst/>
          </a:prstGeom>
          <a:solidFill>
            <a:srgbClr val="F4FA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6256000" cy="3810000"/>
          </a:xfrm>
          <a:prstGeom prst="rect">
            <a:avLst/>
          </a:prstGeom>
          <a:gradFill rotWithShape="1" flip="none">
            <a:gsLst>
              <a:gs pos="0">
                <a:srgbClr val="004060"/>
              </a:gs>
              <a:gs pos="50000">
                <a:srgbClr val="005C82"/>
              </a:gs>
              <a:gs pos="100000">
                <a:srgbClr val="007AA8"/>
              </a:gs>
            </a:gsLst>
            <a:lin ang="54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016000" y="18796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感谢聆听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16000" y="30226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spc="40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5181600"/>
            <a:ext cx="16256000" cy="3962400"/>
          </a:xfrm>
          <a:prstGeom prst="rect">
            <a:avLst/>
          </a:prstGeom>
          <a:solidFill>
            <a:srgbClr val="F4FAF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55372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461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具身智能中的人类视频数据利用与世界模型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6000" y="6045200"/>
            <a:ext cx="177800" cy="177800"/>
          </a:xfrm>
          <a:prstGeom prst="diamond">
            <a:avLst/>
          </a:prstGeom>
          <a:solidFill>
            <a:srgbClr val="005C8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5969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AoE · EgoMimic · EgoBridge · Being-H0.7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6553200"/>
            <a:ext cx="177800" cy="177800"/>
          </a:xfrm>
          <a:prstGeom prst="diamond">
            <a:avLst/>
          </a:prstGeom>
          <a:solidFill>
            <a:srgbClr val="B0BEC5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647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2025年7月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366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05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敬请各位老师批评指正  |  Q &amp; 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065000" y="5461000"/>
            <a:ext cx="3556000" cy="3175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0" y="5969000"/>
            <a:ext cx="2540000" cy="2159000"/>
          </a:xfrm>
          <a:prstGeom prst="rect">
            <a:avLst/>
          </a:prstGeom>
          <a:solidFill>
            <a:srgbClr val="005C82">
              <a:alpha val="3137"/>
            </a:srgbClr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081000" y="6477000"/>
            <a:ext cx="1524000" cy="1143000"/>
          </a:xfrm>
          <a:prstGeom prst="rect">
            <a:avLst/>
          </a:prstGeom>
          <a:solidFill>
            <a:srgbClr val="005C82">
              <a:alpha val="1961"/>
            </a:srgbClr>
          </a:solidFill>
          <a:ln w="12700">
            <a:solidFill>
              <a:srgbClr val="005C82"/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具身智能中的人类视频数据利用与世界模型</dc:title>
  <dc:subject>具身智能中的人类视频数据利用与世界模型</dc:subject>
  <dc:creator>Kimi</dc:creator>
  <cp:lastModifiedBy>Kimi</cp:lastModifiedBy>
  <cp:revision>1</cp:revision>
  <dcterms:created xsi:type="dcterms:W3CDTF">2026-07-05T11:47:44Z</dcterms:created>
  <dcterms:modified xsi:type="dcterms:W3CDTF">2026-07-05T11:47:44Z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具身智能中的人类视频数据利用与世界模型","ContentProducer":"001191110108MACG2KBH8F10000","ProduceID":"19f277f4-96a2-82b8-8000-00008e665a71","ReservedCode1":"","ContentPropagator":"001191110108MACG2KBH8F20000","PropagateID":"19f27792-16e2-8a65-8000-09b6b6d2d1dd","ReservedCode2":""}</vt:lpwstr>
  </property>
</Properties>
</file>