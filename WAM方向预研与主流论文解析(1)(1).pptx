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6.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solidFill>
                  <a:srgbClr val="000000"/>
                </a:solidFill>
                <a:latin typeface="Calibri Light"/>
              </a:rPr>
              <a:t>C</a:t>
            </a:r>
            <a:r>
              <a:rPr b="0" lang="en-US" sz="4400" spc="-1" strike="noStrike">
                <a:solidFill>
                  <a:srgbClr val="000000"/>
                </a:solidFill>
                <a:latin typeface="Calibri Light"/>
              </a:rPr>
              <a:t>li</a:t>
            </a:r>
            <a:r>
              <a:rPr b="0" lang="en-US" sz="4400" spc="-1" strike="noStrike">
                <a:solidFill>
                  <a:srgbClr val="000000"/>
                </a:solidFill>
                <a:latin typeface="Calibri Light"/>
              </a:rPr>
              <a:t>c</a:t>
            </a:r>
            <a:r>
              <a:rPr b="0" lang="en-US" sz="4400" spc="-1" strike="noStrike">
                <a:solidFill>
                  <a:srgbClr val="000000"/>
                </a:solidFill>
                <a:latin typeface="Calibri Light"/>
              </a:rPr>
              <a:t>k </a:t>
            </a:r>
            <a:r>
              <a:rPr b="0" lang="en-US" sz="4400" spc="-1" strike="noStrike">
                <a:solidFill>
                  <a:srgbClr val="000000"/>
                </a:solidFill>
                <a:latin typeface="Calibri Light"/>
              </a:rPr>
              <a:t>t</a:t>
            </a:r>
            <a:r>
              <a:rPr b="0" lang="en-US" sz="4400" spc="-1" strike="noStrike">
                <a:solidFill>
                  <a:srgbClr val="000000"/>
                </a:solidFill>
                <a:latin typeface="Calibri Light"/>
              </a:rPr>
              <a:t>o </a:t>
            </a:r>
            <a:r>
              <a:rPr b="0" lang="en-US" sz="4400" spc="-1" strike="noStrike">
                <a:solidFill>
                  <a:srgbClr val="000000"/>
                </a:solidFill>
                <a:latin typeface="Calibri Light"/>
              </a:rPr>
              <a:t>m</a:t>
            </a:r>
            <a:r>
              <a:rPr b="0" lang="en-US" sz="4400" spc="-1" strike="noStrike">
                <a:solidFill>
                  <a:srgbClr val="000000"/>
                </a:solidFill>
                <a:latin typeface="Calibri Light"/>
              </a:rPr>
              <a:t>o</a:t>
            </a:r>
            <a:r>
              <a:rPr b="0" lang="en-US" sz="4400" spc="-1" strike="noStrike">
                <a:solidFill>
                  <a:srgbClr val="000000"/>
                </a:solidFill>
                <a:latin typeface="Calibri Light"/>
              </a:rPr>
              <a:t>v</a:t>
            </a:r>
            <a:r>
              <a:rPr b="0" lang="en-US" sz="4400" spc="-1" strike="noStrike">
                <a:solidFill>
                  <a:srgbClr val="000000"/>
                </a:solidFill>
                <a:latin typeface="Calibri Light"/>
              </a:rPr>
              <a:t>e </a:t>
            </a:r>
            <a:r>
              <a:rPr b="0" lang="en-US" sz="4400" spc="-1" strike="noStrike">
                <a:solidFill>
                  <a:srgbClr val="000000"/>
                </a:solidFill>
                <a:latin typeface="Calibri Light"/>
              </a:rPr>
              <a:t>t</a:t>
            </a:r>
            <a:r>
              <a:rPr b="0" lang="en-US" sz="4400" spc="-1" strike="noStrike">
                <a:solidFill>
                  <a:srgbClr val="000000"/>
                </a:solidFill>
                <a:latin typeface="Calibri Light"/>
              </a:rPr>
              <a:t>h</a:t>
            </a:r>
            <a:r>
              <a:rPr b="0" lang="en-US" sz="4400" spc="-1" strike="noStrike">
                <a:solidFill>
                  <a:srgbClr val="000000"/>
                </a:solidFill>
                <a:latin typeface="Calibri Light"/>
              </a:rPr>
              <a:t>e </a:t>
            </a:r>
            <a:r>
              <a:rPr b="0" lang="en-US" sz="4400" spc="-1" strike="noStrike">
                <a:solidFill>
                  <a:srgbClr val="000000"/>
                </a:solidFill>
                <a:latin typeface="Calibri Light"/>
              </a:rPr>
              <a:t>s</a:t>
            </a:r>
            <a:r>
              <a:rPr b="0" lang="en-US" sz="4400" spc="-1" strike="noStrike">
                <a:solidFill>
                  <a:srgbClr val="000000"/>
                </a:solidFill>
                <a:latin typeface="Calibri Light"/>
              </a:rPr>
              <a:t>li</a:t>
            </a:r>
            <a:r>
              <a:rPr b="0" lang="en-US" sz="4400" spc="-1" strike="noStrike">
                <a:solidFill>
                  <a:srgbClr val="000000"/>
                </a:solidFill>
                <a:latin typeface="Calibri Light"/>
              </a:rPr>
              <a:t>d</a:t>
            </a:r>
            <a:r>
              <a:rPr b="0" lang="en-US" sz="4400" spc="-1" strike="noStrike">
                <a:solidFill>
                  <a:srgbClr val="000000"/>
                </a:solidFill>
                <a:latin typeface="Calibri Light"/>
              </a:rPr>
              <a:t>e</a:t>
            </a:r>
            <a:endParaRPr b="0" lang="en-US" sz="4400" spc="-1" strike="noStrike">
              <a:solidFill>
                <a:srgbClr val="000000"/>
              </a:solidFill>
              <a:latin typeface="Calibri Light"/>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a:t>
            </a:r>
            <a:r>
              <a:rPr b="0" lang="en-US" sz="2000" spc="-1" strike="noStrike">
                <a:latin typeface="Arial"/>
              </a:rPr>
              <a:t>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45BC9503-DD6E-45FC-8279-440CB948937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27"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F346A5B-7881-462F-B984-4D71217C3B4B}"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30"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2AA3F8B-1B17-4920-99DE-3D2C278CE70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33"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4FC074C-EE56-4554-B2B7-5FC484F19E8F}"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6040" cy="308592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36"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CC50C22-BAE8-4821-AFC7-7E0C6DC3F8CB}"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6040" cy="308592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39"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629FCBB-E01A-45BB-B199-6855A66FB635}"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6040" cy="308592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42"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64BD5C0-F046-40C9-AD90-A72F2762CB8E}"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685800" y="1143000"/>
            <a:ext cx="5486040" cy="3085920"/>
          </a:xfrm>
          <a:prstGeom prst="rect">
            <a:avLst/>
          </a:prstGeom>
          <a:ln w="0">
            <a:noFill/>
          </a:ln>
        </p:spPr>
      </p:sp>
      <p:sp>
        <p:nvSpPr>
          <p:cNvPr id="64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45"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3AE63B0-8AD3-4303-84F9-FFB392874BA6}"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6040" cy="308592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48"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4E1D671-3B62-4949-9AB8-88383BD71FF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6040" cy="308592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51"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2C9579A-52F4-4855-B5B6-25E1F6CDB74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685800" y="1143000"/>
            <a:ext cx="5486040" cy="3085920"/>
          </a:xfrm>
          <a:prstGeom prst="rect">
            <a:avLst/>
          </a:prstGeom>
          <a:ln w="0">
            <a:noFill/>
          </a:ln>
        </p:spPr>
      </p:sp>
      <p:sp>
        <p:nvSpPr>
          <p:cNvPr id="6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54"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94FE0FD-2436-459D-8C03-FC4584694FA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685800" y="1143000"/>
            <a:ext cx="5486040" cy="3085920"/>
          </a:xfrm>
          <a:prstGeom prst="rect">
            <a:avLst/>
          </a:prstGeom>
          <a:ln w="0">
            <a:noFill/>
          </a:ln>
        </p:spPr>
      </p:sp>
      <p:sp>
        <p:nvSpPr>
          <p:cNvPr id="6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57"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3E355B3-37ED-4895-8784-F192F1468F1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685800" y="1143000"/>
            <a:ext cx="5486040" cy="3085920"/>
          </a:xfrm>
          <a:prstGeom prst="rect">
            <a:avLst/>
          </a:prstGeom>
          <a:ln w="0">
            <a:noFill/>
          </a:ln>
        </p:spPr>
      </p:sp>
      <p:sp>
        <p:nvSpPr>
          <p:cNvPr id="6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60"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E1725A97-BF92-41FC-925C-E8BC1BD314B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685800" y="1143000"/>
            <a:ext cx="5486040" cy="3085920"/>
          </a:xfrm>
          <a:prstGeom prst="rect">
            <a:avLst/>
          </a:prstGeom>
          <a:ln w="0">
            <a:noFill/>
          </a:ln>
        </p:spPr>
      </p:sp>
      <p:sp>
        <p:nvSpPr>
          <p:cNvPr id="6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63"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5C42678-DC6F-4F14-B082-8351E5812E5D}"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685800" y="1143000"/>
            <a:ext cx="5486040" cy="3085920"/>
          </a:xfrm>
          <a:prstGeom prst="rect">
            <a:avLst/>
          </a:prstGeom>
          <a:ln w="0">
            <a:noFill/>
          </a:ln>
        </p:spPr>
      </p:sp>
      <p:sp>
        <p:nvSpPr>
          <p:cNvPr id="6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66"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D5FB498-D264-4194-AB9B-7CE5AB6AD543}"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685800" y="1143000"/>
            <a:ext cx="5486040" cy="3085920"/>
          </a:xfrm>
          <a:prstGeom prst="rect">
            <a:avLst/>
          </a:prstGeom>
          <a:ln w="0">
            <a:noFill/>
          </a:ln>
        </p:spPr>
      </p:sp>
      <p:sp>
        <p:nvSpPr>
          <p:cNvPr id="66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69"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324E169-2A6D-45AD-BE7E-4D061442AF0B}"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685800" y="1143000"/>
            <a:ext cx="5486040" cy="3085920"/>
          </a:xfrm>
          <a:prstGeom prst="rect">
            <a:avLst/>
          </a:prstGeom>
          <a:ln w="0">
            <a:noFill/>
          </a:ln>
        </p:spPr>
      </p:sp>
      <p:sp>
        <p:nvSpPr>
          <p:cNvPr id="67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72"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5D7EC4F-E404-44F6-B76F-10C1F971686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685800" y="1143000"/>
            <a:ext cx="5486040" cy="3085920"/>
          </a:xfrm>
          <a:prstGeom prst="rect">
            <a:avLst/>
          </a:prstGeom>
          <a:ln w="0">
            <a:noFill/>
          </a:ln>
        </p:spPr>
      </p:sp>
      <p:sp>
        <p:nvSpPr>
          <p:cNvPr id="67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75"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449C5F03-59A4-461B-8F96-9C149A83AB6C}"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6040" cy="3085920"/>
          </a:xfrm>
          <a:prstGeom prst="rect">
            <a:avLst/>
          </a:prstGeom>
          <a:ln w="0">
            <a:noFill/>
          </a:ln>
        </p:spPr>
      </p:sp>
      <p:sp>
        <p:nvSpPr>
          <p:cNvPr id="67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78"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9D3A2AC-EF6E-4D14-A74B-5A59ED85089E}"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6040" cy="3085920"/>
          </a:xfrm>
          <a:prstGeom prst="rect">
            <a:avLst/>
          </a:prstGeom>
          <a:ln w="0">
            <a:noFill/>
          </a:ln>
        </p:spPr>
      </p:sp>
      <p:sp>
        <p:nvSpPr>
          <p:cNvPr id="68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81"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BAE240F-6DD7-422A-8D2A-8D2A84FD5A4B}"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6040" cy="3085920"/>
          </a:xfrm>
          <a:prstGeom prst="rect">
            <a:avLst/>
          </a:prstGeom>
          <a:ln w="0">
            <a:noFill/>
          </a:ln>
        </p:spPr>
      </p:sp>
      <p:sp>
        <p:nvSpPr>
          <p:cNvPr id="68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84"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5FDAB93-381B-4EFA-9C1B-7F3D9AFD633A}"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6040" cy="3085920"/>
          </a:xfrm>
          <a:prstGeom prst="rect">
            <a:avLst/>
          </a:prstGeom>
          <a:ln w="0">
            <a:noFill/>
          </a:ln>
        </p:spPr>
      </p:sp>
      <p:sp>
        <p:nvSpPr>
          <p:cNvPr id="68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87"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7D944B2-50A7-48AC-8E2E-26375CD800E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6040" cy="3085920"/>
          </a:xfrm>
          <a:prstGeom prst="rect">
            <a:avLst/>
          </a:prstGeom>
          <a:ln w="0">
            <a:noFill/>
          </a:ln>
        </p:spPr>
      </p:sp>
      <p:sp>
        <p:nvSpPr>
          <p:cNvPr id="68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90"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78C9112-BC3F-4113-A9D3-8B7A136B2790}"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685800" y="1143000"/>
            <a:ext cx="5486040" cy="3085920"/>
          </a:xfrm>
          <a:prstGeom prst="rect">
            <a:avLst/>
          </a:prstGeom>
          <a:ln w="0">
            <a:noFill/>
          </a:ln>
        </p:spPr>
      </p:sp>
      <p:sp>
        <p:nvSpPr>
          <p:cNvPr id="69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93"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20E7061-00F0-4B71-A975-45C10C0FD5C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685800" y="1143000"/>
            <a:ext cx="5486040" cy="3085920"/>
          </a:xfrm>
          <a:prstGeom prst="rect">
            <a:avLst/>
          </a:prstGeom>
          <a:ln w="0">
            <a:noFill/>
          </a:ln>
        </p:spPr>
      </p:sp>
      <p:sp>
        <p:nvSpPr>
          <p:cNvPr id="69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96"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83552D4-28A0-4D5B-AFEE-FA703E80E29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685800" y="1143000"/>
            <a:ext cx="5486040" cy="3085920"/>
          </a:xfrm>
          <a:prstGeom prst="rect">
            <a:avLst/>
          </a:prstGeom>
          <a:ln w="0">
            <a:noFill/>
          </a:ln>
        </p:spPr>
      </p:sp>
      <p:sp>
        <p:nvSpPr>
          <p:cNvPr id="69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699"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BDEA1DF-E316-4175-B0CE-0E04D8B7A15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685800" y="1143000"/>
            <a:ext cx="5486040" cy="3085920"/>
          </a:xfrm>
          <a:prstGeom prst="rect">
            <a:avLst/>
          </a:prstGeom>
          <a:ln w="0">
            <a:noFill/>
          </a:ln>
        </p:spPr>
      </p:sp>
      <p:sp>
        <p:nvSpPr>
          <p:cNvPr id="70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702"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7ED0B1E-A928-43F3-861E-F782F3B197AF}"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3" name="PlaceHolder 2"/>
          <p:cNvSpPr>
            <a:spLocks noGrp="1"/>
          </p:cNvSpPr>
          <p:nvPr>
            <p:ph type="subTitle"/>
          </p:nvPr>
        </p:nvSpPr>
        <p:spPr>
          <a:xfrm>
            <a:off x="812520" y="2139480"/>
            <a:ext cx="14630040" cy="53028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5" name="PlaceHolder 2"/>
          <p:cNvSpPr>
            <a:spLocks noGrp="1"/>
          </p:cNvSpPr>
          <p:nvPr>
            <p:ph/>
          </p:nvPr>
        </p:nvSpPr>
        <p:spPr>
          <a:xfrm>
            <a:off x="812520" y="2139480"/>
            <a:ext cx="14630040" cy="530280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7" name="PlaceHolder 2"/>
          <p:cNvSpPr>
            <a:spLocks noGrp="1"/>
          </p:cNvSpPr>
          <p:nvPr>
            <p:ph/>
          </p:nvPr>
        </p:nvSpPr>
        <p:spPr>
          <a:xfrm>
            <a:off x="812520" y="2139480"/>
            <a:ext cx="7139160" cy="530280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 name="PlaceHolder 3"/>
          <p:cNvSpPr>
            <a:spLocks noGrp="1"/>
          </p:cNvSpPr>
          <p:nvPr>
            <p:ph/>
          </p:nvPr>
        </p:nvSpPr>
        <p:spPr>
          <a:xfrm>
            <a:off x="8309160" y="2139480"/>
            <a:ext cx="7139160" cy="530280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812520" y="364680"/>
            <a:ext cx="14630040" cy="70768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12" name="PlaceHolder 2"/>
          <p:cNvSpPr>
            <a:spLocks noGrp="1"/>
          </p:cNvSpPr>
          <p:nvPr>
            <p:ph/>
          </p:nvPr>
        </p:nvSpPr>
        <p:spPr>
          <a:xfrm>
            <a:off x="81252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 name="PlaceHolder 3"/>
          <p:cNvSpPr>
            <a:spLocks noGrp="1"/>
          </p:cNvSpPr>
          <p:nvPr>
            <p:ph/>
          </p:nvPr>
        </p:nvSpPr>
        <p:spPr>
          <a:xfrm>
            <a:off x="8309160" y="2139480"/>
            <a:ext cx="7139160" cy="530280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 name="PlaceHolder 4"/>
          <p:cNvSpPr>
            <a:spLocks noGrp="1"/>
          </p:cNvSpPr>
          <p:nvPr>
            <p:ph/>
          </p:nvPr>
        </p:nvSpPr>
        <p:spPr>
          <a:xfrm>
            <a:off x="812520" y="49096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16" name="PlaceHolder 2"/>
          <p:cNvSpPr>
            <a:spLocks noGrp="1"/>
          </p:cNvSpPr>
          <p:nvPr>
            <p:ph/>
          </p:nvPr>
        </p:nvSpPr>
        <p:spPr>
          <a:xfrm>
            <a:off x="812520" y="2139480"/>
            <a:ext cx="7139160" cy="530280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3"/>
          <p:cNvSpPr>
            <a:spLocks noGrp="1"/>
          </p:cNvSpPr>
          <p:nvPr>
            <p:ph/>
          </p:nvPr>
        </p:nvSpPr>
        <p:spPr>
          <a:xfrm>
            <a:off x="830916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8" name="PlaceHolder 4"/>
          <p:cNvSpPr>
            <a:spLocks noGrp="1"/>
          </p:cNvSpPr>
          <p:nvPr>
            <p:ph/>
          </p:nvPr>
        </p:nvSpPr>
        <p:spPr>
          <a:xfrm>
            <a:off x="8309160" y="49096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20" name="PlaceHolder 2"/>
          <p:cNvSpPr>
            <a:spLocks noGrp="1"/>
          </p:cNvSpPr>
          <p:nvPr>
            <p:ph/>
          </p:nvPr>
        </p:nvSpPr>
        <p:spPr>
          <a:xfrm>
            <a:off x="81252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3"/>
          <p:cNvSpPr>
            <a:spLocks noGrp="1"/>
          </p:cNvSpPr>
          <p:nvPr>
            <p:ph/>
          </p:nvPr>
        </p:nvSpPr>
        <p:spPr>
          <a:xfrm>
            <a:off x="830916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2" name="PlaceHolder 4"/>
          <p:cNvSpPr>
            <a:spLocks noGrp="1"/>
          </p:cNvSpPr>
          <p:nvPr>
            <p:ph/>
          </p:nvPr>
        </p:nvSpPr>
        <p:spPr>
          <a:xfrm>
            <a:off x="812520" y="4909680"/>
            <a:ext cx="1463004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24" name="PlaceHolder 2"/>
          <p:cNvSpPr>
            <a:spLocks noGrp="1"/>
          </p:cNvSpPr>
          <p:nvPr>
            <p:ph/>
          </p:nvPr>
        </p:nvSpPr>
        <p:spPr>
          <a:xfrm>
            <a:off x="812520" y="2139480"/>
            <a:ext cx="1463004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3"/>
          <p:cNvSpPr>
            <a:spLocks noGrp="1"/>
          </p:cNvSpPr>
          <p:nvPr>
            <p:ph/>
          </p:nvPr>
        </p:nvSpPr>
        <p:spPr>
          <a:xfrm>
            <a:off x="812520" y="4909680"/>
            <a:ext cx="1463004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27" name="PlaceHolder 2"/>
          <p:cNvSpPr>
            <a:spLocks noGrp="1"/>
          </p:cNvSpPr>
          <p:nvPr>
            <p:ph/>
          </p:nvPr>
        </p:nvSpPr>
        <p:spPr>
          <a:xfrm>
            <a:off x="81252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8309160" y="21394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9" name="PlaceHolder 4"/>
          <p:cNvSpPr>
            <a:spLocks noGrp="1"/>
          </p:cNvSpPr>
          <p:nvPr>
            <p:ph/>
          </p:nvPr>
        </p:nvSpPr>
        <p:spPr>
          <a:xfrm>
            <a:off x="812520" y="49096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0" name="PlaceHolder 5"/>
          <p:cNvSpPr>
            <a:spLocks noGrp="1"/>
          </p:cNvSpPr>
          <p:nvPr>
            <p:ph/>
          </p:nvPr>
        </p:nvSpPr>
        <p:spPr>
          <a:xfrm>
            <a:off x="8309160" y="4909680"/>
            <a:ext cx="713916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endParaRPr b="0" lang="en-US" sz="4400" spc="-1" strike="noStrike">
              <a:solidFill>
                <a:srgbClr val="000000"/>
              </a:solidFill>
              <a:latin typeface="Calibri Light"/>
            </a:endParaRPr>
          </a:p>
        </p:txBody>
      </p:sp>
      <p:sp>
        <p:nvSpPr>
          <p:cNvPr id="32" name="PlaceHolder 2"/>
          <p:cNvSpPr>
            <a:spLocks noGrp="1"/>
          </p:cNvSpPr>
          <p:nvPr>
            <p:ph/>
          </p:nvPr>
        </p:nvSpPr>
        <p:spPr>
          <a:xfrm>
            <a:off x="812520" y="21394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3"/>
          <p:cNvSpPr>
            <a:spLocks noGrp="1"/>
          </p:cNvSpPr>
          <p:nvPr>
            <p:ph/>
          </p:nvPr>
        </p:nvSpPr>
        <p:spPr>
          <a:xfrm>
            <a:off x="5758920" y="21394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4" name="PlaceHolder 4"/>
          <p:cNvSpPr>
            <a:spLocks noGrp="1"/>
          </p:cNvSpPr>
          <p:nvPr>
            <p:ph/>
          </p:nvPr>
        </p:nvSpPr>
        <p:spPr>
          <a:xfrm>
            <a:off x="10705680" y="21394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5" name="PlaceHolder 5"/>
          <p:cNvSpPr>
            <a:spLocks noGrp="1"/>
          </p:cNvSpPr>
          <p:nvPr>
            <p:ph/>
          </p:nvPr>
        </p:nvSpPr>
        <p:spPr>
          <a:xfrm>
            <a:off x="812520" y="49096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6"/>
          <p:cNvSpPr>
            <a:spLocks noGrp="1"/>
          </p:cNvSpPr>
          <p:nvPr>
            <p:ph/>
          </p:nvPr>
        </p:nvSpPr>
        <p:spPr>
          <a:xfrm>
            <a:off x="5758920" y="49096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7"/>
          <p:cNvSpPr>
            <a:spLocks noGrp="1"/>
          </p:cNvSpPr>
          <p:nvPr>
            <p:ph/>
          </p:nvPr>
        </p:nvSpPr>
        <p:spPr>
          <a:xfrm>
            <a:off x="10705680" y="4909680"/>
            <a:ext cx="4710600" cy="25293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12520" y="364680"/>
            <a:ext cx="14630040" cy="1526400"/>
          </a:xfrm>
          <a:prstGeom prst="rect">
            <a:avLst/>
          </a:prstGeom>
          <a:noFill/>
          <a:ln w="0">
            <a:noFill/>
          </a:ln>
        </p:spPr>
        <p:txBody>
          <a:bodyPr lIns="0" rIns="0" tIns="0" bIns="0" anchor="ctr">
            <a:noAutofit/>
          </a:bodyPr>
          <a:p>
            <a:pPr algn="ctr">
              <a:buNone/>
            </a:pPr>
            <a:r>
              <a:rPr b="0" lang="en-US" sz="4400" spc="-1" strike="noStrike">
                <a:solidFill>
                  <a:srgbClr val="000000"/>
                </a:solidFill>
                <a:latin typeface="Calibri Light"/>
              </a:rPr>
              <a:t>Click to </a:t>
            </a:r>
            <a:r>
              <a:rPr b="0" lang="en-US" sz="4400" spc="-1" strike="noStrike">
                <a:solidFill>
                  <a:srgbClr val="000000"/>
                </a:solidFill>
                <a:latin typeface="Calibri Light"/>
              </a:rPr>
              <a:t>edit the </a:t>
            </a:r>
            <a:r>
              <a:rPr b="0" lang="en-US" sz="4400" spc="-1" strike="noStrike">
                <a:solidFill>
                  <a:srgbClr val="000000"/>
                </a:solidFill>
                <a:latin typeface="Calibri Light"/>
              </a:rPr>
              <a:t>title text </a:t>
            </a:r>
            <a:r>
              <a:rPr b="0" lang="en-US" sz="4400" spc="-1" strike="noStrike">
                <a:solidFill>
                  <a:srgbClr val="000000"/>
                </a:solidFill>
                <a:latin typeface="Calibri Light"/>
              </a:rPr>
              <a:t>format</a:t>
            </a:r>
            <a:endParaRPr b="0" lang="en-US" sz="4400" spc="-1" strike="noStrike">
              <a:solidFill>
                <a:srgbClr val="000000"/>
              </a:solidFill>
              <a:latin typeface="Calibri Light"/>
            </a:endParaRPr>
          </a:p>
        </p:txBody>
      </p:sp>
      <p:sp>
        <p:nvSpPr>
          <p:cNvPr id="1" name="PlaceHolder 2"/>
          <p:cNvSpPr>
            <a:spLocks noGrp="1"/>
          </p:cNvSpPr>
          <p:nvPr>
            <p:ph type="body"/>
          </p:nvPr>
        </p:nvSpPr>
        <p:spPr>
          <a:xfrm>
            <a:off x="812520" y="2139480"/>
            <a:ext cx="1463004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4" name="Shape 0"/>
          <p:cNvSpPr/>
          <p:nvPr/>
        </p:nvSpPr>
        <p:spPr>
          <a:xfrm>
            <a:off x="0" y="0"/>
            <a:ext cx="16255800" cy="1269720"/>
          </a:xfrm>
          <a:prstGeom prst="rect">
            <a:avLst/>
          </a:prstGeom>
          <a:solidFill>
            <a:srgbClr val="f4fafe"/>
          </a:solidFill>
          <a:ln w="0">
            <a:noFill/>
          </a:ln>
        </p:spPr>
        <p:style>
          <a:lnRef idx="0"/>
          <a:fillRef idx="0"/>
          <a:effectRef idx="0"/>
          <a:fontRef idx="minor"/>
        </p:style>
      </p:sp>
      <p:sp>
        <p:nvSpPr>
          <p:cNvPr id="45" name="Shape 1"/>
          <p:cNvSpPr/>
          <p:nvPr/>
        </p:nvSpPr>
        <p:spPr>
          <a:xfrm>
            <a:off x="635040" y="304920"/>
            <a:ext cx="634680" cy="634680"/>
          </a:xfrm>
          <a:prstGeom prst="ellipse">
            <a:avLst/>
          </a:prstGeom>
          <a:solidFill>
            <a:srgbClr val="e0f4fa"/>
          </a:solidFill>
          <a:ln w="12600">
            <a:solidFill>
              <a:srgbClr val="005c82"/>
            </a:solidFill>
            <a:round/>
          </a:ln>
        </p:spPr>
        <p:style>
          <a:lnRef idx="0"/>
          <a:fillRef idx="0"/>
          <a:effectRef idx="0"/>
          <a:fontRef idx="minor"/>
        </p:style>
      </p:sp>
      <p:sp>
        <p:nvSpPr>
          <p:cNvPr id="46" name="Text 2"/>
          <p:cNvSpPr/>
          <p:nvPr/>
        </p:nvSpPr>
        <p:spPr>
          <a:xfrm>
            <a:off x="1447920" y="355680"/>
            <a:ext cx="5079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组会预研汇报 </a:t>
            </a:r>
            <a:r>
              <a:rPr b="1" lang="en-US" sz="2000" spc="-1" strike="noStrike">
                <a:solidFill>
                  <a:srgbClr val="005c82"/>
                </a:solidFill>
                <a:latin typeface="Quattrocento Sans"/>
                <a:ea typeface="Quattrocento Sans"/>
              </a:rPr>
              <a:t>· </a:t>
            </a:r>
            <a:r>
              <a:rPr b="1" lang="zh-CN" sz="2000" spc="-1" strike="noStrike">
                <a:solidFill>
                  <a:srgbClr val="005c82"/>
                </a:solidFill>
                <a:latin typeface="Quattrocento Sans"/>
                <a:ea typeface="Quattrocento Sans"/>
              </a:rPr>
              <a:t>第一周</a:t>
            </a:r>
            <a:endParaRPr b="0" lang="en-US" sz="2000" spc="-1" strike="noStrike">
              <a:latin typeface="Arial"/>
            </a:endParaRPr>
          </a:p>
        </p:txBody>
      </p:sp>
      <p:sp>
        <p:nvSpPr>
          <p:cNvPr id="47" name="Text 3"/>
          <p:cNvSpPr/>
          <p:nvPr/>
        </p:nvSpPr>
        <p:spPr>
          <a:xfrm>
            <a:off x="1447920" y="736560"/>
            <a:ext cx="507960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200" spc="-1" strike="noStrike">
                <a:solidFill>
                  <a:srgbClr val="b0bec5"/>
                </a:solidFill>
                <a:latin typeface="Quattrocento Sans"/>
                <a:ea typeface="Quattrocento Sans"/>
              </a:rPr>
              <a:t>Weekly Research Report</a:t>
            </a:r>
            <a:endParaRPr b="0" lang="en-US" sz="1200" spc="-1" strike="noStrike">
              <a:latin typeface="Arial"/>
            </a:endParaRPr>
          </a:p>
        </p:txBody>
      </p:sp>
      <p:sp>
        <p:nvSpPr>
          <p:cNvPr id="48" name="Shape 4"/>
          <p:cNvSpPr/>
          <p:nvPr/>
        </p:nvSpPr>
        <p:spPr>
          <a:xfrm>
            <a:off x="0" y="1371600"/>
            <a:ext cx="16255800" cy="3301560"/>
          </a:xfrm>
          <a:prstGeom prst="rect">
            <a:avLst/>
          </a:prstGeom>
          <a:gradFill rotWithShape="0">
            <a:gsLst>
              <a:gs pos="0">
                <a:srgbClr val="004060"/>
              </a:gs>
              <a:gs pos="100000">
                <a:srgbClr val="005c82"/>
              </a:gs>
            </a:gsLst>
            <a:lin ang="5400000"/>
          </a:gradFill>
          <a:ln w="0">
            <a:noFill/>
          </a:ln>
        </p:spPr>
        <p:style>
          <a:lnRef idx="0"/>
          <a:fillRef idx="0"/>
          <a:effectRef idx="0"/>
          <a:fontRef idx="minor"/>
        </p:style>
      </p:sp>
      <p:sp>
        <p:nvSpPr>
          <p:cNvPr id="49" name="Text 5"/>
          <p:cNvSpPr/>
          <p:nvPr/>
        </p:nvSpPr>
        <p:spPr>
          <a:xfrm>
            <a:off x="762120" y="1752480"/>
            <a:ext cx="139698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4400" spc="-1" strike="noStrike">
                <a:solidFill>
                  <a:srgbClr val="ffffff"/>
                </a:solidFill>
                <a:latin typeface="Quattrocento Sans"/>
                <a:ea typeface="Quattrocento Sans"/>
              </a:rPr>
              <a:t>WAM</a:t>
            </a:r>
            <a:r>
              <a:rPr b="1" lang="zh-CN" sz="4400" spc="-1" strike="noStrike">
                <a:solidFill>
                  <a:srgbClr val="ffffff"/>
                </a:solidFill>
                <a:latin typeface="Quattrocento Sans"/>
                <a:ea typeface="Quattrocento Sans"/>
              </a:rPr>
              <a:t>方向预研与主流论文解析</a:t>
            </a:r>
            <a:endParaRPr b="0" lang="en-US" sz="4400" spc="-1" strike="noStrike">
              <a:latin typeface="Arial"/>
            </a:endParaRPr>
          </a:p>
        </p:txBody>
      </p:sp>
      <p:sp>
        <p:nvSpPr>
          <p:cNvPr id="50" name="Text 6"/>
          <p:cNvSpPr/>
          <p:nvPr/>
        </p:nvSpPr>
        <p:spPr>
          <a:xfrm>
            <a:off x="762120" y="2768760"/>
            <a:ext cx="1269972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600" spc="199" strike="noStrike">
                <a:solidFill>
                  <a:srgbClr val="ffffff"/>
                </a:solidFill>
                <a:latin typeface="Quattrocento Sans"/>
                <a:ea typeface="Quattrocento Sans"/>
              </a:rPr>
              <a:t>WORLD ACTION MODELS &amp; JEPA FAMILY</a:t>
            </a:r>
            <a:endParaRPr b="0" lang="en-US" sz="1600" spc="-1" strike="noStrike">
              <a:latin typeface="Arial"/>
            </a:endParaRPr>
          </a:p>
        </p:txBody>
      </p:sp>
      <p:sp>
        <p:nvSpPr>
          <p:cNvPr id="51" name="Shape 7"/>
          <p:cNvSpPr/>
          <p:nvPr/>
        </p:nvSpPr>
        <p:spPr>
          <a:xfrm>
            <a:off x="0" y="4673520"/>
            <a:ext cx="16255800" cy="4470120"/>
          </a:xfrm>
          <a:prstGeom prst="rect">
            <a:avLst/>
          </a:prstGeom>
          <a:solidFill>
            <a:srgbClr val="f4fafe"/>
          </a:solidFill>
          <a:ln w="0">
            <a:noFill/>
          </a:ln>
        </p:spPr>
        <p:style>
          <a:lnRef idx="0"/>
          <a:fillRef idx="0"/>
          <a:effectRef idx="0"/>
          <a:fontRef idx="minor"/>
        </p:style>
      </p:sp>
      <p:sp>
        <p:nvSpPr>
          <p:cNvPr id="52" name="Shape 8"/>
          <p:cNvSpPr/>
          <p:nvPr/>
        </p:nvSpPr>
        <p:spPr>
          <a:xfrm>
            <a:off x="660240" y="5079960"/>
            <a:ext cx="177480" cy="177480"/>
          </a:xfrm>
          <a:prstGeom prst="diamond">
            <a:avLst/>
          </a:prstGeom>
          <a:solidFill>
            <a:srgbClr val="005c82"/>
          </a:solidFill>
          <a:ln w="0">
            <a:noFill/>
          </a:ln>
        </p:spPr>
        <p:style>
          <a:lnRef idx="0"/>
          <a:fillRef idx="0"/>
          <a:effectRef idx="0"/>
          <a:fontRef idx="minor"/>
        </p:style>
      </p:sp>
      <p:sp>
        <p:nvSpPr>
          <p:cNvPr id="53" name="Text 9"/>
          <p:cNvSpPr/>
          <p:nvPr/>
        </p:nvSpPr>
        <p:spPr>
          <a:xfrm>
            <a:off x="1015920" y="5003640"/>
            <a:ext cx="761976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333333"/>
                </a:solidFill>
                <a:latin typeface="Quattrocento Sans"/>
                <a:ea typeface="Quattrocento Sans"/>
              </a:rPr>
              <a:t>主题：</a:t>
            </a:r>
            <a:r>
              <a:rPr b="0" lang="zh-CN" sz="1800" spc="-1" strike="noStrike">
                <a:solidFill>
                  <a:srgbClr val="333333"/>
                </a:solidFill>
                <a:latin typeface="Quattrocento Sans"/>
                <a:ea typeface="Quattrocento Sans"/>
              </a:rPr>
              <a:t>基于自监督学习的视觉世界模型进展</a:t>
            </a:r>
            <a:endParaRPr b="0" lang="en-US" sz="1800" spc="-1" strike="noStrike">
              <a:latin typeface="Arial"/>
            </a:endParaRPr>
          </a:p>
        </p:txBody>
      </p:sp>
      <p:sp>
        <p:nvSpPr>
          <p:cNvPr id="54" name="Shape 10"/>
          <p:cNvSpPr/>
          <p:nvPr/>
        </p:nvSpPr>
        <p:spPr>
          <a:xfrm>
            <a:off x="660240" y="5587920"/>
            <a:ext cx="177480" cy="177480"/>
          </a:xfrm>
          <a:prstGeom prst="diamond">
            <a:avLst/>
          </a:prstGeom>
          <a:solidFill>
            <a:srgbClr val="005c82"/>
          </a:solidFill>
          <a:ln w="0">
            <a:noFill/>
          </a:ln>
        </p:spPr>
        <p:style>
          <a:lnRef idx="0"/>
          <a:fillRef idx="0"/>
          <a:effectRef idx="0"/>
          <a:fontRef idx="minor"/>
        </p:style>
      </p:sp>
      <p:sp>
        <p:nvSpPr>
          <p:cNvPr id="55" name="Text 11"/>
          <p:cNvSpPr/>
          <p:nvPr/>
        </p:nvSpPr>
        <p:spPr>
          <a:xfrm>
            <a:off x="1015920" y="5511960"/>
            <a:ext cx="8889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zh-CN" sz="1600" spc="-1" strike="noStrike">
                <a:solidFill>
                  <a:srgbClr val="333333"/>
                </a:solidFill>
                <a:latin typeface="Quattrocento Sans"/>
                <a:ea typeface="Quattrocento Sans"/>
              </a:rPr>
              <a:t>覆盖论文：</a:t>
            </a:r>
            <a:r>
              <a:rPr b="0" lang="en-US" sz="1600" spc="-1" strike="noStrike">
                <a:solidFill>
                  <a:srgbClr val="333333"/>
                </a:solidFill>
                <a:latin typeface="Quattrocento Sans"/>
                <a:ea typeface="Quattrocento Sans"/>
              </a:rPr>
              <a:t>WAM</a:t>
            </a:r>
            <a:r>
              <a:rPr b="0" lang="zh-CN" sz="1600" spc="-1" strike="noStrike">
                <a:solidFill>
                  <a:srgbClr val="333333"/>
                </a:solidFill>
                <a:latin typeface="Quattrocento Sans"/>
                <a:ea typeface="Quattrocento Sans"/>
              </a:rPr>
              <a:t>综述 </a:t>
            </a:r>
            <a:r>
              <a:rPr b="0" lang="en-US" sz="1600" spc="-1" strike="noStrike">
                <a:solidFill>
                  <a:srgbClr val="333333"/>
                </a:solidFill>
                <a:latin typeface="Quattrocento Sans"/>
                <a:ea typeface="Quattrocento Sans"/>
              </a:rPr>
              <a:t>/ PathToAMI / LeJEPA / V-JEPA 2 / V-JEPA 2.1</a:t>
            </a:r>
            <a:endParaRPr b="0" lang="en-US" sz="1600" spc="-1" strike="noStrike">
              <a:latin typeface="Arial"/>
            </a:endParaRPr>
          </a:p>
        </p:txBody>
      </p:sp>
      <p:sp>
        <p:nvSpPr>
          <p:cNvPr id="56" name="Shape 12"/>
          <p:cNvSpPr/>
          <p:nvPr/>
        </p:nvSpPr>
        <p:spPr>
          <a:xfrm>
            <a:off x="660240" y="6095880"/>
            <a:ext cx="177480" cy="177480"/>
          </a:xfrm>
          <a:prstGeom prst="diamond">
            <a:avLst/>
          </a:prstGeom>
          <a:solidFill>
            <a:srgbClr val="007aa8"/>
          </a:solidFill>
          <a:ln w="0">
            <a:noFill/>
          </a:ln>
        </p:spPr>
        <p:style>
          <a:lnRef idx="0"/>
          <a:fillRef idx="0"/>
          <a:effectRef idx="0"/>
          <a:fontRef idx="minor"/>
        </p:style>
      </p:sp>
      <p:sp>
        <p:nvSpPr>
          <p:cNvPr id="57" name="Text 13"/>
          <p:cNvSpPr/>
          <p:nvPr/>
        </p:nvSpPr>
        <p:spPr>
          <a:xfrm>
            <a:off x="1015920" y="6019920"/>
            <a:ext cx="5079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600" spc="-1" strike="noStrike">
                <a:solidFill>
                  <a:srgbClr val="555555"/>
                </a:solidFill>
                <a:latin typeface="Quattrocento Sans"/>
                <a:ea typeface="Quattrocento Sans"/>
              </a:rPr>
              <a:t>2025</a:t>
            </a:r>
            <a:r>
              <a:rPr b="0" lang="zh-CN" sz="1600" spc="-1" strike="noStrike">
                <a:solidFill>
                  <a:srgbClr val="555555"/>
                </a:solidFill>
                <a:latin typeface="Quattrocento Sans"/>
                <a:ea typeface="Quattrocento Sans"/>
              </a:rPr>
              <a:t>年</a:t>
            </a:r>
            <a:r>
              <a:rPr b="0" lang="en-US" sz="1600" spc="-1" strike="noStrike">
                <a:solidFill>
                  <a:srgbClr val="555555"/>
                </a:solidFill>
                <a:latin typeface="Quattrocento Sans"/>
                <a:ea typeface="Quattrocento Sans"/>
              </a:rPr>
              <a:t>6</a:t>
            </a:r>
            <a:r>
              <a:rPr b="0" lang="zh-CN" sz="1600" spc="-1" strike="noStrike">
                <a:solidFill>
                  <a:srgbClr val="555555"/>
                </a:solidFill>
                <a:latin typeface="Quattrocento Sans"/>
                <a:ea typeface="Quattrocento Sans"/>
              </a:rPr>
              <a:t>月</a:t>
            </a:r>
            <a:endParaRPr b="0" lang="en-US" sz="1600" spc="-1" strike="noStrike">
              <a:latin typeface="Arial"/>
            </a:endParaRPr>
          </a:p>
        </p:txBody>
      </p:sp>
      <p:sp>
        <p:nvSpPr>
          <p:cNvPr id="58" name="Shape 14"/>
          <p:cNvSpPr/>
          <p:nvPr/>
        </p:nvSpPr>
        <p:spPr>
          <a:xfrm>
            <a:off x="12192120" y="4952880"/>
            <a:ext cx="3555720" cy="3555720"/>
          </a:xfrm>
          <a:prstGeom prst="rect">
            <a:avLst/>
          </a:prstGeom>
          <a:solidFill>
            <a:srgbClr val="005c82">
              <a:alpha val="3000"/>
            </a:srgbClr>
          </a:solidFill>
          <a:ln w="12600">
            <a:solidFill>
              <a:srgbClr val="005c82"/>
            </a:solidFill>
            <a:round/>
          </a:ln>
        </p:spPr>
        <p:style>
          <a:lnRef idx="0"/>
          <a:fillRef idx="0"/>
          <a:effectRef idx="0"/>
          <a:fontRef idx="minor"/>
        </p:style>
      </p:sp>
      <p:sp>
        <p:nvSpPr>
          <p:cNvPr id="59" name="Shape 15"/>
          <p:cNvSpPr/>
          <p:nvPr/>
        </p:nvSpPr>
        <p:spPr>
          <a:xfrm>
            <a:off x="12700080" y="5460840"/>
            <a:ext cx="2539800" cy="2539800"/>
          </a:xfrm>
          <a:prstGeom prst="rect">
            <a:avLst/>
          </a:prstGeom>
          <a:solidFill>
            <a:srgbClr val="005c82">
              <a:alpha val="2000"/>
            </a:srgbClr>
          </a:solidFill>
          <a:ln w="12600">
            <a:solidFill>
              <a:srgbClr val="005c82"/>
            </a:solidFill>
            <a:round/>
          </a:ln>
        </p:spPr>
        <p:style>
          <a:lnRef idx="0"/>
          <a:fillRef idx="0"/>
          <a:effectRef idx="0"/>
          <a:fontRef idx="minor"/>
        </p:style>
      </p:sp>
      <p:sp>
        <p:nvSpPr>
          <p:cNvPr id="60" name="Shape 16"/>
          <p:cNvSpPr/>
          <p:nvPr/>
        </p:nvSpPr>
        <p:spPr>
          <a:xfrm>
            <a:off x="13208040" y="5969160"/>
            <a:ext cx="1523520" cy="1523520"/>
          </a:xfrm>
          <a:prstGeom prst="rect">
            <a:avLst/>
          </a:prstGeom>
          <a:solidFill>
            <a:srgbClr val="005c82">
              <a:alpha val="4000"/>
            </a:srgbClr>
          </a:solidFill>
          <a:ln w="12600">
            <a:solidFill>
              <a:srgbClr val="005c82"/>
            </a:solidFill>
            <a:round/>
          </a:ln>
        </p:spPr>
        <p:style>
          <a:lnRef idx="0"/>
          <a:fillRef idx="0"/>
          <a:effectRef idx="0"/>
          <a:fontRef idx="minor"/>
        </p:style>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61" name="Shape 0"/>
          <p:cNvSpPr/>
          <p:nvPr/>
        </p:nvSpPr>
        <p:spPr>
          <a:xfrm>
            <a:off x="0" y="0"/>
            <a:ext cx="4825800" cy="9143640"/>
          </a:xfrm>
          <a:prstGeom prst="rect">
            <a:avLst/>
          </a:prstGeom>
          <a:gradFill rotWithShape="0">
            <a:gsLst>
              <a:gs pos="0">
                <a:srgbClr val="004060"/>
              </a:gs>
              <a:gs pos="100000">
                <a:srgbClr val="005c82"/>
              </a:gs>
            </a:gsLst>
            <a:lin ang="10800000"/>
          </a:gradFill>
          <a:ln w="0">
            <a:noFill/>
          </a:ln>
        </p:spPr>
        <p:style>
          <a:lnRef idx="0"/>
          <a:fillRef idx="0"/>
          <a:effectRef idx="0"/>
          <a:fontRef idx="minor"/>
        </p:style>
      </p:sp>
      <p:sp>
        <p:nvSpPr>
          <p:cNvPr id="62" name="Text 1"/>
          <p:cNvSpPr/>
          <p:nvPr/>
        </p:nvSpPr>
        <p:spPr>
          <a:xfrm>
            <a:off x="0" y="4826160"/>
            <a:ext cx="4825800" cy="2031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7200" spc="-1" strike="noStrike">
                <a:solidFill>
                  <a:srgbClr val="ffffff"/>
                </a:solidFill>
                <a:latin typeface="Quattrocento Sans"/>
                <a:ea typeface="Quattrocento Sans"/>
              </a:rPr>
              <a:t>CONTENT</a:t>
            </a:r>
            <a:endParaRPr b="0" lang="en-US" sz="7200" spc="-1" strike="noStrike">
              <a:latin typeface="Arial"/>
            </a:endParaRPr>
          </a:p>
        </p:txBody>
      </p:sp>
      <p:sp>
        <p:nvSpPr>
          <p:cNvPr id="63" name="Shape 2"/>
          <p:cNvSpPr/>
          <p:nvPr/>
        </p:nvSpPr>
        <p:spPr>
          <a:xfrm>
            <a:off x="380880" y="380880"/>
            <a:ext cx="507600" cy="50760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64" name="Text 3"/>
          <p:cNvSpPr/>
          <p:nvPr/>
        </p:nvSpPr>
        <p:spPr>
          <a:xfrm>
            <a:off x="380880" y="3556080"/>
            <a:ext cx="4063680" cy="76176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zh-CN" sz="4600" spc="-1" strike="noStrike">
                <a:solidFill>
                  <a:srgbClr val="ffffff"/>
                </a:solidFill>
                <a:latin typeface="Quattrocento Sans"/>
                <a:ea typeface="Quattrocento Sans"/>
              </a:rPr>
              <a:t>目录</a:t>
            </a:r>
            <a:endParaRPr b="0" lang="en-US" sz="4600" spc="-1" strike="noStrike">
              <a:latin typeface="Arial"/>
            </a:endParaRPr>
          </a:p>
        </p:txBody>
      </p:sp>
      <p:sp>
        <p:nvSpPr>
          <p:cNvPr id="65" name="Text 4"/>
          <p:cNvSpPr/>
          <p:nvPr/>
        </p:nvSpPr>
        <p:spPr>
          <a:xfrm>
            <a:off x="380880" y="4394160"/>
            <a:ext cx="406368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299" strike="noStrike">
                <a:solidFill>
                  <a:srgbClr val="00acc1"/>
                </a:solidFill>
                <a:latin typeface="Quattrocento Sans"/>
                <a:ea typeface="Quattrocento Sans"/>
              </a:rPr>
              <a:t>CONTENTS</a:t>
            </a:r>
            <a:endParaRPr b="0" lang="en-US" sz="1400" spc="-1" strike="noStrike">
              <a:latin typeface="Arial"/>
            </a:endParaRPr>
          </a:p>
        </p:txBody>
      </p:sp>
      <p:sp>
        <p:nvSpPr>
          <p:cNvPr id="66" name="Shape 5"/>
          <p:cNvSpPr/>
          <p:nvPr/>
        </p:nvSpPr>
        <p:spPr>
          <a:xfrm>
            <a:off x="380880" y="3454560"/>
            <a:ext cx="1015560" cy="25200"/>
          </a:xfrm>
          <a:prstGeom prst="rect">
            <a:avLst/>
          </a:prstGeom>
          <a:solidFill>
            <a:srgbClr val="00acc1"/>
          </a:solidFill>
          <a:ln w="0">
            <a:noFill/>
          </a:ln>
        </p:spPr>
        <p:style>
          <a:lnRef idx="0"/>
          <a:fillRef idx="0"/>
          <a:effectRef idx="0"/>
          <a:fontRef idx="minor"/>
        </p:style>
      </p:sp>
      <p:sp>
        <p:nvSpPr>
          <p:cNvPr id="67" name="Shape 6"/>
          <p:cNvSpPr/>
          <p:nvPr/>
        </p:nvSpPr>
        <p:spPr>
          <a:xfrm>
            <a:off x="5257800" y="1523880"/>
            <a:ext cx="177480" cy="177480"/>
          </a:xfrm>
          <a:prstGeom prst="diamond">
            <a:avLst/>
          </a:prstGeom>
          <a:solidFill>
            <a:srgbClr val="005c82"/>
          </a:solidFill>
          <a:ln w="0">
            <a:noFill/>
          </a:ln>
        </p:spPr>
        <p:style>
          <a:lnRef idx="0"/>
          <a:fillRef idx="0"/>
          <a:effectRef idx="0"/>
          <a:fontRef idx="minor"/>
        </p:style>
      </p:sp>
      <p:sp>
        <p:nvSpPr>
          <p:cNvPr id="68" name="Text 7"/>
          <p:cNvSpPr/>
          <p:nvPr/>
        </p:nvSpPr>
        <p:spPr>
          <a:xfrm>
            <a:off x="5587920" y="139716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2400" spc="-1" strike="noStrike">
                <a:solidFill>
                  <a:srgbClr val="333333"/>
                </a:solidFill>
                <a:latin typeface="Quattrocento Sans"/>
                <a:ea typeface="Quattrocento Sans"/>
              </a:rPr>
              <a:t>WAM</a:t>
            </a:r>
            <a:r>
              <a:rPr b="1" lang="zh-CN" sz="2400" spc="-1" strike="noStrike">
                <a:solidFill>
                  <a:srgbClr val="333333"/>
                </a:solidFill>
                <a:latin typeface="Quattrocento Sans"/>
                <a:ea typeface="Quattrocento Sans"/>
              </a:rPr>
              <a:t>概述与分类体系</a:t>
            </a:r>
            <a:endParaRPr b="0" lang="en-US" sz="2400" spc="-1" strike="noStrike">
              <a:latin typeface="Arial"/>
            </a:endParaRPr>
          </a:p>
        </p:txBody>
      </p:sp>
      <p:sp>
        <p:nvSpPr>
          <p:cNvPr id="69" name="Text 8"/>
          <p:cNvSpPr/>
          <p:nvPr/>
        </p:nvSpPr>
        <p:spPr>
          <a:xfrm>
            <a:off x="5587920" y="179064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World Action Models Taxonomy</a:t>
            </a:r>
            <a:endParaRPr b="0" lang="en-US" sz="1400" spc="-1" strike="noStrike">
              <a:latin typeface="Arial"/>
            </a:endParaRPr>
          </a:p>
        </p:txBody>
      </p:sp>
      <p:sp>
        <p:nvSpPr>
          <p:cNvPr id="70" name="Shape 9"/>
          <p:cNvSpPr/>
          <p:nvPr/>
        </p:nvSpPr>
        <p:spPr>
          <a:xfrm>
            <a:off x="5079960" y="2184480"/>
            <a:ext cx="10667520" cy="12240"/>
          </a:xfrm>
          <a:prstGeom prst="rect">
            <a:avLst/>
          </a:prstGeom>
          <a:solidFill>
            <a:srgbClr val="e0f4fa"/>
          </a:solidFill>
          <a:ln w="0">
            <a:noFill/>
          </a:ln>
        </p:spPr>
        <p:style>
          <a:lnRef idx="0"/>
          <a:fillRef idx="0"/>
          <a:effectRef idx="0"/>
          <a:fontRef idx="minor"/>
        </p:style>
      </p:sp>
      <p:sp>
        <p:nvSpPr>
          <p:cNvPr id="71" name="Shape 10"/>
          <p:cNvSpPr/>
          <p:nvPr/>
        </p:nvSpPr>
        <p:spPr>
          <a:xfrm>
            <a:off x="5257800" y="2514600"/>
            <a:ext cx="177480" cy="177480"/>
          </a:xfrm>
          <a:prstGeom prst="diamond">
            <a:avLst/>
          </a:prstGeom>
          <a:solidFill>
            <a:srgbClr val="005c82"/>
          </a:solidFill>
          <a:ln w="0">
            <a:noFill/>
          </a:ln>
        </p:spPr>
        <p:style>
          <a:lnRef idx="0"/>
          <a:fillRef idx="0"/>
          <a:effectRef idx="0"/>
          <a:fontRef idx="minor"/>
        </p:style>
      </p:sp>
      <p:sp>
        <p:nvSpPr>
          <p:cNvPr id="72" name="Text 11"/>
          <p:cNvSpPr/>
          <p:nvPr/>
        </p:nvSpPr>
        <p:spPr>
          <a:xfrm>
            <a:off x="5587920" y="238752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2400" spc="-1" strike="noStrike">
                <a:solidFill>
                  <a:srgbClr val="333333"/>
                </a:solidFill>
                <a:latin typeface="Quattrocento Sans"/>
                <a:ea typeface="Quattrocento Sans"/>
              </a:rPr>
              <a:t>JEPA</a:t>
            </a:r>
            <a:r>
              <a:rPr b="1" lang="zh-CN" sz="2400" spc="-1" strike="noStrike">
                <a:solidFill>
                  <a:srgbClr val="333333"/>
                </a:solidFill>
                <a:latin typeface="Quattrocento Sans"/>
                <a:ea typeface="Quattrocento Sans"/>
              </a:rPr>
              <a:t>架构蓝图</a:t>
            </a:r>
            <a:endParaRPr b="0" lang="en-US" sz="2400" spc="-1" strike="noStrike">
              <a:latin typeface="Arial"/>
            </a:endParaRPr>
          </a:p>
        </p:txBody>
      </p:sp>
      <p:sp>
        <p:nvSpPr>
          <p:cNvPr id="73" name="Text 12"/>
          <p:cNvSpPr/>
          <p:nvPr/>
        </p:nvSpPr>
        <p:spPr>
          <a:xfrm>
            <a:off x="5587920" y="278136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Path Towards Autonomous Machine Intelligence</a:t>
            </a:r>
            <a:endParaRPr b="0" lang="en-US" sz="1400" spc="-1" strike="noStrike">
              <a:latin typeface="Arial"/>
            </a:endParaRPr>
          </a:p>
        </p:txBody>
      </p:sp>
      <p:sp>
        <p:nvSpPr>
          <p:cNvPr id="74" name="Shape 13"/>
          <p:cNvSpPr/>
          <p:nvPr/>
        </p:nvSpPr>
        <p:spPr>
          <a:xfrm>
            <a:off x="5079960" y="3174840"/>
            <a:ext cx="10667520" cy="12240"/>
          </a:xfrm>
          <a:prstGeom prst="rect">
            <a:avLst/>
          </a:prstGeom>
          <a:solidFill>
            <a:srgbClr val="e0f4fa"/>
          </a:solidFill>
          <a:ln w="0">
            <a:noFill/>
          </a:ln>
        </p:spPr>
        <p:style>
          <a:lnRef idx="0"/>
          <a:fillRef idx="0"/>
          <a:effectRef idx="0"/>
          <a:fontRef idx="minor"/>
        </p:style>
      </p:sp>
      <p:sp>
        <p:nvSpPr>
          <p:cNvPr id="75" name="Shape 14"/>
          <p:cNvSpPr/>
          <p:nvPr/>
        </p:nvSpPr>
        <p:spPr>
          <a:xfrm>
            <a:off x="5257800" y="3505320"/>
            <a:ext cx="177480" cy="177480"/>
          </a:xfrm>
          <a:prstGeom prst="diamond">
            <a:avLst/>
          </a:prstGeom>
          <a:solidFill>
            <a:srgbClr val="005c82"/>
          </a:solidFill>
          <a:ln w="0">
            <a:noFill/>
          </a:ln>
        </p:spPr>
        <p:style>
          <a:lnRef idx="0"/>
          <a:fillRef idx="0"/>
          <a:effectRef idx="0"/>
          <a:fontRef idx="minor"/>
        </p:style>
      </p:sp>
      <p:sp>
        <p:nvSpPr>
          <p:cNvPr id="76" name="Text 15"/>
          <p:cNvSpPr/>
          <p:nvPr/>
        </p:nvSpPr>
        <p:spPr>
          <a:xfrm>
            <a:off x="5587920" y="337824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2400" spc="-1" strike="noStrike">
                <a:solidFill>
                  <a:srgbClr val="333333"/>
                </a:solidFill>
                <a:latin typeface="Quattrocento Sans"/>
                <a:ea typeface="Quattrocento Sans"/>
              </a:rPr>
              <a:t>LeJEPA</a:t>
            </a:r>
            <a:r>
              <a:rPr b="1" lang="zh-CN" sz="2400" spc="-1" strike="noStrike">
                <a:solidFill>
                  <a:srgbClr val="333333"/>
                </a:solidFill>
                <a:latin typeface="Quattrocento Sans"/>
                <a:ea typeface="Quattrocento Sans"/>
              </a:rPr>
              <a:t>论文解析</a:t>
            </a:r>
            <a:endParaRPr b="0" lang="en-US" sz="2400" spc="-1" strike="noStrike">
              <a:latin typeface="Arial"/>
            </a:endParaRPr>
          </a:p>
        </p:txBody>
      </p:sp>
      <p:sp>
        <p:nvSpPr>
          <p:cNvPr id="77" name="Text 16"/>
          <p:cNvSpPr/>
          <p:nvPr/>
        </p:nvSpPr>
        <p:spPr>
          <a:xfrm>
            <a:off x="5587920" y="377208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Latent-Euclidean JEPA</a:t>
            </a:r>
            <a:endParaRPr b="0" lang="en-US" sz="1400" spc="-1" strike="noStrike">
              <a:latin typeface="Arial"/>
            </a:endParaRPr>
          </a:p>
        </p:txBody>
      </p:sp>
      <p:sp>
        <p:nvSpPr>
          <p:cNvPr id="78" name="Shape 17"/>
          <p:cNvSpPr/>
          <p:nvPr/>
        </p:nvSpPr>
        <p:spPr>
          <a:xfrm>
            <a:off x="5079960" y="4165560"/>
            <a:ext cx="10667520" cy="12240"/>
          </a:xfrm>
          <a:prstGeom prst="rect">
            <a:avLst/>
          </a:prstGeom>
          <a:solidFill>
            <a:srgbClr val="e0f4fa"/>
          </a:solidFill>
          <a:ln w="0">
            <a:noFill/>
          </a:ln>
        </p:spPr>
        <p:style>
          <a:lnRef idx="0"/>
          <a:fillRef idx="0"/>
          <a:effectRef idx="0"/>
          <a:fontRef idx="minor"/>
        </p:style>
      </p:sp>
      <p:sp>
        <p:nvSpPr>
          <p:cNvPr id="79" name="Shape 18"/>
          <p:cNvSpPr/>
          <p:nvPr/>
        </p:nvSpPr>
        <p:spPr>
          <a:xfrm>
            <a:off x="5257800" y="4495680"/>
            <a:ext cx="177480" cy="177480"/>
          </a:xfrm>
          <a:prstGeom prst="diamond">
            <a:avLst/>
          </a:prstGeom>
          <a:solidFill>
            <a:srgbClr val="005c82"/>
          </a:solidFill>
          <a:ln w="0">
            <a:noFill/>
          </a:ln>
        </p:spPr>
        <p:style>
          <a:lnRef idx="0"/>
          <a:fillRef idx="0"/>
          <a:effectRef idx="0"/>
          <a:fontRef idx="minor"/>
        </p:style>
      </p:sp>
      <p:sp>
        <p:nvSpPr>
          <p:cNvPr id="80" name="Text 19"/>
          <p:cNvSpPr/>
          <p:nvPr/>
        </p:nvSpPr>
        <p:spPr>
          <a:xfrm>
            <a:off x="5587920" y="436896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2400" spc="-1" strike="noStrike">
                <a:solidFill>
                  <a:srgbClr val="333333"/>
                </a:solidFill>
                <a:latin typeface="Quattrocento Sans"/>
                <a:ea typeface="Quattrocento Sans"/>
              </a:rPr>
              <a:t>V-JEPA 2 </a:t>
            </a:r>
            <a:r>
              <a:rPr b="1" lang="zh-CN" sz="2400" spc="-1" strike="noStrike">
                <a:solidFill>
                  <a:srgbClr val="333333"/>
                </a:solidFill>
                <a:latin typeface="Quattrocento Sans"/>
                <a:ea typeface="Quattrocento Sans"/>
              </a:rPr>
              <a:t>论文解析</a:t>
            </a:r>
            <a:endParaRPr b="0" lang="en-US" sz="2400" spc="-1" strike="noStrike">
              <a:latin typeface="Arial"/>
            </a:endParaRPr>
          </a:p>
        </p:txBody>
      </p:sp>
      <p:sp>
        <p:nvSpPr>
          <p:cNvPr id="81" name="Text 20"/>
          <p:cNvSpPr/>
          <p:nvPr/>
        </p:nvSpPr>
        <p:spPr>
          <a:xfrm>
            <a:off x="5587920" y="476244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Self-Supervised Video World Models</a:t>
            </a:r>
            <a:endParaRPr b="0" lang="en-US" sz="1400" spc="-1" strike="noStrike">
              <a:latin typeface="Arial"/>
            </a:endParaRPr>
          </a:p>
        </p:txBody>
      </p:sp>
      <p:sp>
        <p:nvSpPr>
          <p:cNvPr id="82" name="Shape 21"/>
          <p:cNvSpPr/>
          <p:nvPr/>
        </p:nvSpPr>
        <p:spPr>
          <a:xfrm>
            <a:off x="5079960" y="5156280"/>
            <a:ext cx="10667520" cy="12240"/>
          </a:xfrm>
          <a:prstGeom prst="rect">
            <a:avLst/>
          </a:prstGeom>
          <a:solidFill>
            <a:srgbClr val="e0f4fa"/>
          </a:solidFill>
          <a:ln w="0">
            <a:noFill/>
          </a:ln>
        </p:spPr>
        <p:style>
          <a:lnRef idx="0"/>
          <a:fillRef idx="0"/>
          <a:effectRef idx="0"/>
          <a:fontRef idx="minor"/>
        </p:style>
      </p:sp>
      <p:sp>
        <p:nvSpPr>
          <p:cNvPr id="83" name="Shape 22"/>
          <p:cNvSpPr/>
          <p:nvPr/>
        </p:nvSpPr>
        <p:spPr>
          <a:xfrm>
            <a:off x="5257800" y="5486400"/>
            <a:ext cx="177480" cy="177480"/>
          </a:xfrm>
          <a:prstGeom prst="diamond">
            <a:avLst/>
          </a:prstGeom>
          <a:solidFill>
            <a:srgbClr val="005c82"/>
          </a:solidFill>
          <a:ln w="0">
            <a:noFill/>
          </a:ln>
        </p:spPr>
        <p:style>
          <a:lnRef idx="0"/>
          <a:fillRef idx="0"/>
          <a:effectRef idx="0"/>
          <a:fontRef idx="minor"/>
        </p:style>
      </p:sp>
      <p:sp>
        <p:nvSpPr>
          <p:cNvPr id="84" name="Text 23"/>
          <p:cNvSpPr/>
          <p:nvPr/>
        </p:nvSpPr>
        <p:spPr>
          <a:xfrm>
            <a:off x="5587920" y="535932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2400" spc="-1" strike="noStrike">
                <a:solidFill>
                  <a:srgbClr val="333333"/>
                </a:solidFill>
                <a:latin typeface="Quattrocento Sans"/>
                <a:ea typeface="Quattrocento Sans"/>
              </a:rPr>
              <a:t>V-JEPA 2.1 </a:t>
            </a:r>
            <a:r>
              <a:rPr b="1" lang="zh-CN" sz="2400" spc="-1" strike="noStrike">
                <a:solidFill>
                  <a:srgbClr val="333333"/>
                </a:solidFill>
                <a:latin typeface="Quattrocento Sans"/>
                <a:ea typeface="Quattrocento Sans"/>
              </a:rPr>
              <a:t>论文解析</a:t>
            </a:r>
            <a:endParaRPr b="0" lang="en-US" sz="2400" spc="-1" strike="noStrike">
              <a:latin typeface="Arial"/>
            </a:endParaRPr>
          </a:p>
        </p:txBody>
      </p:sp>
      <p:sp>
        <p:nvSpPr>
          <p:cNvPr id="85" name="Text 24"/>
          <p:cNvSpPr/>
          <p:nvPr/>
        </p:nvSpPr>
        <p:spPr>
          <a:xfrm>
            <a:off x="5587920" y="575316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Unlocking Dense Features in Video SSL</a:t>
            </a:r>
            <a:endParaRPr b="0" lang="en-US" sz="1400" spc="-1" strike="noStrike">
              <a:latin typeface="Arial"/>
            </a:endParaRPr>
          </a:p>
        </p:txBody>
      </p:sp>
      <p:sp>
        <p:nvSpPr>
          <p:cNvPr id="86" name="Shape 25"/>
          <p:cNvSpPr/>
          <p:nvPr/>
        </p:nvSpPr>
        <p:spPr>
          <a:xfrm>
            <a:off x="5079960" y="6146640"/>
            <a:ext cx="10667520" cy="12240"/>
          </a:xfrm>
          <a:prstGeom prst="rect">
            <a:avLst/>
          </a:prstGeom>
          <a:solidFill>
            <a:srgbClr val="e0f4fa"/>
          </a:solidFill>
          <a:ln w="0">
            <a:noFill/>
          </a:ln>
        </p:spPr>
        <p:style>
          <a:lnRef idx="0"/>
          <a:fillRef idx="0"/>
          <a:effectRef idx="0"/>
          <a:fontRef idx="minor"/>
        </p:style>
      </p:sp>
      <p:sp>
        <p:nvSpPr>
          <p:cNvPr id="87" name="Shape 26"/>
          <p:cNvSpPr/>
          <p:nvPr/>
        </p:nvSpPr>
        <p:spPr>
          <a:xfrm>
            <a:off x="5257800" y="6477120"/>
            <a:ext cx="177480" cy="177480"/>
          </a:xfrm>
          <a:prstGeom prst="diamond">
            <a:avLst/>
          </a:prstGeom>
          <a:solidFill>
            <a:srgbClr val="005c82"/>
          </a:solidFill>
          <a:ln w="0">
            <a:noFill/>
          </a:ln>
        </p:spPr>
        <p:style>
          <a:lnRef idx="0"/>
          <a:fillRef idx="0"/>
          <a:effectRef idx="0"/>
          <a:fontRef idx="minor"/>
        </p:style>
      </p:sp>
      <p:sp>
        <p:nvSpPr>
          <p:cNvPr id="88" name="Text 27"/>
          <p:cNvSpPr/>
          <p:nvPr/>
        </p:nvSpPr>
        <p:spPr>
          <a:xfrm>
            <a:off x="5587920" y="6350040"/>
            <a:ext cx="8889480" cy="35532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zh-CN" sz="2400" spc="-1" strike="noStrike">
                <a:solidFill>
                  <a:srgbClr val="333333"/>
                </a:solidFill>
                <a:latin typeface="Quattrocento Sans"/>
                <a:ea typeface="Quattrocento Sans"/>
              </a:rPr>
              <a:t>总结与后续路线</a:t>
            </a:r>
            <a:endParaRPr b="0" lang="en-US" sz="2400" spc="-1" strike="noStrike">
              <a:latin typeface="Arial"/>
            </a:endParaRPr>
          </a:p>
        </p:txBody>
      </p:sp>
      <p:sp>
        <p:nvSpPr>
          <p:cNvPr id="89" name="Text 28"/>
          <p:cNvSpPr/>
          <p:nvPr/>
        </p:nvSpPr>
        <p:spPr>
          <a:xfrm>
            <a:off x="5587920" y="6743880"/>
            <a:ext cx="8889480" cy="25380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b0bec5"/>
                </a:solidFill>
                <a:latin typeface="Quattrocento Sans"/>
                <a:ea typeface="Quattrocento Sans"/>
              </a:rPr>
              <a:t>Summary and Future Roadmap</a:t>
            </a:r>
            <a:endParaRPr b="0" lang="en-US" sz="1400" spc="-1" strike="noStrike">
              <a:latin typeface="Arial"/>
            </a:endParaRPr>
          </a:p>
        </p:txBody>
      </p:sp>
      <p:sp>
        <p:nvSpPr>
          <p:cNvPr id="90" name="Text 29"/>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2</a:t>
            </a:r>
            <a:endParaRPr b="0" lang="en-US" sz="1400" spc="-1" strike="noStrike">
              <a:latin typeface="Arial"/>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91" name="Shape 0"/>
          <p:cNvSpPr/>
          <p:nvPr/>
        </p:nvSpPr>
        <p:spPr>
          <a:xfrm>
            <a:off x="2031840" y="1778040"/>
            <a:ext cx="4825800" cy="4825800"/>
          </a:xfrm>
          <a:prstGeom prst="rect">
            <a:avLst/>
          </a:prstGeom>
          <a:solidFill>
            <a:srgbClr val="005c82">
              <a:alpha val="4000"/>
            </a:srgbClr>
          </a:solidFill>
          <a:ln w="12600">
            <a:solidFill>
              <a:srgbClr val="005c82"/>
            </a:solidFill>
            <a:round/>
          </a:ln>
        </p:spPr>
        <p:style>
          <a:lnRef idx="0"/>
          <a:fillRef idx="0"/>
          <a:effectRef idx="0"/>
          <a:fontRef idx="minor"/>
        </p:style>
      </p:sp>
      <p:sp>
        <p:nvSpPr>
          <p:cNvPr id="92" name="Shape 1"/>
          <p:cNvSpPr/>
          <p:nvPr/>
        </p:nvSpPr>
        <p:spPr>
          <a:xfrm>
            <a:off x="2540160" y="2286000"/>
            <a:ext cx="3809520" cy="3809520"/>
          </a:xfrm>
          <a:prstGeom prst="rect">
            <a:avLst/>
          </a:prstGeom>
          <a:solidFill>
            <a:srgbClr val="005c82">
              <a:alpha val="4000"/>
            </a:srgbClr>
          </a:solidFill>
          <a:ln w="12600">
            <a:solidFill>
              <a:srgbClr val="005c82"/>
            </a:solidFill>
            <a:round/>
          </a:ln>
        </p:spPr>
        <p:style>
          <a:lnRef idx="0"/>
          <a:fillRef idx="0"/>
          <a:effectRef idx="0"/>
          <a:fontRef idx="minor"/>
        </p:style>
      </p:sp>
      <p:sp>
        <p:nvSpPr>
          <p:cNvPr id="93" name="Shape 2"/>
          <p:cNvSpPr/>
          <p:nvPr/>
        </p:nvSpPr>
        <p:spPr>
          <a:xfrm>
            <a:off x="3048120" y="2793960"/>
            <a:ext cx="2793600" cy="2793600"/>
          </a:xfrm>
          <a:prstGeom prst="rect">
            <a:avLst/>
          </a:prstGeom>
          <a:solidFill>
            <a:srgbClr val="ffffff"/>
          </a:solidFill>
          <a:ln w="12600">
            <a:solidFill>
              <a:srgbClr val="005c82"/>
            </a:solidFill>
            <a:round/>
          </a:ln>
        </p:spPr>
        <p:style>
          <a:lnRef idx="0"/>
          <a:fillRef idx="0"/>
          <a:effectRef idx="0"/>
          <a:fontRef idx="minor"/>
        </p:style>
      </p:sp>
      <p:sp>
        <p:nvSpPr>
          <p:cNvPr id="94" name="Text 3"/>
          <p:cNvSpPr/>
          <p:nvPr/>
        </p:nvSpPr>
        <p:spPr>
          <a:xfrm>
            <a:off x="3048120" y="2793960"/>
            <a:ext cx="2793600" cy="27936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8000" spc="-1" strike="noStrike">
                <a:solidFill>
                  <a:srgbClr val="005c82"/>
                </a:solidFill>
                <a:latin typeface="Quattrocento Sans"/>
                <a:ea typeface="Quattrocento Sans"/>
              </a:rPr>
              <a:t>01</a:t>
            </a:r>
            <a:endParaRPr b="0" lang="en-US" sz="8000" spc="-1" strike="noStrike">
              <a:latin typeface="Arial"/>
            </a:endParaRPr>
          </a:p>
        </p:txBody>
      </p:sp>
      <p:sp>
        <p:nvSpPr>
          <p:cNvPr id="95" name="Shape 4"/>
          <p:cNvSpPr/>
          <p:nvPr/>
        </p:nvSpPr>
        <p:spPr>
          <a:xfrm>
            <a:off x="7620120" y="2793960"/>
            <a:ext cx="12240" cy="2793600"/>
          </a:xfrm>
          <a:prstGeom prst="rect">
            <a:avLst/>
          </a:prstGeom>
          <a:solidFill>
            <a:srgbClr val="b0bec5"/>
          </a:solidFill>
          <a:ln w="0">
            <a:noFill/>
          </a:ln>
        </p:spPr>
        <p:style>
          <a:lnRef idx="0"/>
          <a:fillRef idx="0"/>
          <a:effectRef idx="0"/>
          <a:fontRef idx="minor"/>
        </p:style>
      </p:sp>
      <p:sp>
        <p:nvSpPr>
          <p:cNvPr id="96" name="Text 5"/>
          <p:cNvSpPr/>
          <p:nvPr/>
        </p:nvSpPr>
        <p:spPr>
          <a:xfrm>
            <a:off x="8128080" y="2921040"/>
            <a:ext cx="711180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398" strike="noStrike">
                <a:solidFill>
                  <a:srgbClr val="00acc1"/>
                </a:solidFill>
                <a:latin typeface="Quattrocento Sans"/>
                <a:ea typeface="Quattrocento Sans"/>
              </a:rPr>
              <a:t>CHAPTER ONE</a:t>
            </a:r>
            <a:endParaRPr b="0" lang="en-US" sz="1400" spc="-1" strike="noStrike">
              <a:latin typeface="Arial"/>
            </a:endParaRPr>
          </a:p>
        </p:txBody>
      </p:sp>
      <p:sp>
        <p:nvSpPr>
          <p:cNvPr id="97" name="Text 6"/>
          <p:cNvSpPr/>
          <p:nvPr/>
        </p:nvSpPr>
        <p:spPr>
          <a:xfrm>
            <a:off x="8128080" y="3403440"/>
            <a:ext cx="73656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3600" spc="-1" strike="noStrike">
                <a:solidFill>
                  <a:srgbClr val="005c82"/>
                </a:solidFill>
                <a:latin typeface="Quattrocento Sans"/>
                <a:ea typeface="Quattrocento Sans"/>
              </a:rPr>
              <a:t>WAM</a:t>
            </a:r>
            <a:r>
              <a:rPr b="1" lang="zh-CN" sz="3600" spc="-1" strike="noStrike">
                <a:solidFill>
                  <a:srgbClr val="005c82"/>
                </a:solidFill>
                <a:latin typeface="Quattrocento Sans"/>
                <a:ea typeface="Quattrocento Sans"/>
              </a:rPr>
              <a:t>概述与分类体系</a:t>
            </a:r>
            <a:endParaRPr b="0" lang="en-US" sz="3600" spc="-1" strike="noStrike">
              <a:latin typeface="Arial"/>
            </a:endParaRPr>
          </a:p>
        </p:txBody>
      </p:sp>
      <p:sp>
        <p:nvSpPr>
          <p:cNvPr id="98" name="Text 7"/>
          <p:cNvSpPr/>
          <p:nvPr/>
        </p:nvSpPr>
        <p:spPr>
          <a:xfrm>
            <a:off x="8128080" y="441972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600" spc="-1" strike="noStrike">
                <a:solidFill>
                  <a:srgbClr val="b0bec5"/>
                </a:solidFill>
                <a:latin typeface="Quattrocento Sans"/>
                <a:ea typeface="Quattrocento Sans"/>
              </a:rPr>
              <a:t>World Action Models Taxonomy</a:t>
            </a:r>
            <a:endParaRPr b="0" lang="en-US" sz="1600" spc="-1" strike="noStrike">
              <a:latin typeface="Arial"/>
            </a:endParaRPr>
          </a:p>
        </p:txBody>
      </p:sp>
      <p:sp>
        <p:nvSpPr>
          <p:cNvPr id="99" name="Shape 8"/>
          <p:cNvSpPr/>
          <p:nvPr/>
        </p:nvSpPr>
        <p:spPr>
          <a:xfrm>
            <a:off x="8128080" y="5029200"/>
            <a:ext cx="2539800" cy="25200"/>
          </a:xfrm>
          <a:prstGeom prst="rect">
            <a:avLst/>
          </a:prstGeom>
          <a:solidFill>
            <a:srgbClr val="00acc1"/>
          </a:solidFill>
          <a:ln w="0">
            <a:noFill/>
          </a:ln>
        </p:spPr>
        <p:style>
          <a:lnRef idx="0"/>
          <a:fillRef idx="0"/>
          <a:effectRef idx="0"/>
          <a:fontRef idx="minor"/>
        </p:style>
      </p:sp>
      <p:sp>
        <p:nvSpPr>
          <p:cNvPr id="100" name="Text 9"/>
          <p:cNvSpPr/>
          <p:nvPr/>
        </p:nvSpPr>
        <p:spPr>
          <a:xfrm>
            <a:off x="8128080" y="528336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1.1</a:t>
            </a:r>
            <a:r>
              <a:rPr b="0" lang="zh-CN" sz="1500" spc="-1" strike="noStrike">
                <a:solidFill>
                  <a:srgbClr val="333333"/>
                </a:solidFill>
                <a:latin typeface="Quattrocento Sans"/>
                <a:ea typeface="Quattrocento Sans"/>
              </a:rPr>
              <a:t>　</a:t>
            </a:r>
            <a:r>
              <a:rPr b="0" lang="en-US" sz="1500" spc="-1" strike="noStrike">
                <a:solidFill>
                  <a:srgbClr val="333333"/>
                </a:solidFill>
                <a:latin typeface="Quattrocento Sans"/>
                <a:ea typeface="Quattrocento Sans"/>
              </a:rPr>
              <a:t>WAM</a:t>
            </a:r>
            <a:r>
              <a:rPr b="0" lang="zh-CN" sz="1500" spc="-1" strike="noStrike">
                <a:solidFill>
                  <a:srgbClr val="333333"/>
                </a:solidFill>
                <a:latin typeface="Quattrocento Sans"/>
                <a:ea typeface="Quattrocento Sans"/>
              </a:rPr>
              <a:t>核心定义与价值</a:t>
            </a:r>
            <a:endParaRPr b="0" lang="en-US" sz="1500" spc="-1" strike="noStrike">
              <a:latin typeface="Arial"/>
            </a:endParaRPr>
          </a:p>
        </p:txBody>
      </p:sp>
      <p:sp>
        <p:nvSpPr>
          <p:cNvPr id="101" name="Text 10"/>
          <p:cNvSpPr/>
          <p:nvPr/>
        </p:nvSpPr>
        <p:spPr>
          <a:xfrm>
            <a:off x="8128080" y="574056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1.2</a:t>
            </a:r>
            <a:r>
              <a:rPr b="0" lang="zh-CN" sz="1500" spc="-1" strike="noStrike">
                <a:solidFill>
                  <a:srgbClr val="333333"/>
                </a:solidFill>
                <a:latin typeface="Quattrocento Sans"/>
                <a:ea typeface="Quattrocento Sans"/>
              </a:rPr>
              <a:t>　</a:t>
            </a:r>
            <a:r>
              <a:rPr b="0" lang="en-US" sz="1500" spc="-1" strike="noStrike">
                <a:solidFill>
                  <a:srgbClr val="333333"/>
                </a:solidFill>
                <a:latin typeface="Quattrocento Sans"/>
                <a:ea typeface="Quattrocento Sans"/>
              </a:rPr>
              <a:t>Cascaded vs Joint </a:t>
            </a:r>
            <a:r>
              <a:rPr b="0" lang="zh-CN" sz="1500" spc="-1" strike="noStrike">
                <a:solidFill>
                  <a:srgbClr val="333333"/>
                </a:solidFill>
                <a:latin typeface="Quattrocento Sans"/>
                <a:ea typeface="Quattrocento Sans"/>
              </a:rPr>
              <a:t>分类体系</a:t>
            </a:r>
            <a:endParaRPr b="0" lang="en-US" sz="1500" spc="-1" strike="noStrike">
              <a:latin typeface="Arial"/>
            </a:endParaRPr>
          </a:p>
        </p:txBody>
      </p:sp>
      <p:sp>
        <p:nvSpPr>
          <p:cNvPr id="102" name="Text 11"/>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3</a:t>
            </a:r>
            <a:endParaRPr b="0" lang="en-US" sz="1400" spc="-1" strike="noStrike">
              <a:latin typeface="Arial"/>
            </a:endParaRPr>
          </a:p>
        </p:txBody>
      </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103"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104"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105" name="Shape 2"/>
          <p:cNvSpPr/>
          <p:nvPr/>
        </p:nvSpPr>
        <p:spPr>
          <a:xfrm>
            <a:off x="0" y="1015920"/>
            <a:ext cx="2285640" cy="1168200"/>
          </a:xfrm>
          <a:prstGeom prst="rect">
            <a:avLst/>
          </a:prstGeom>
          <a:solidFill>
            <a:srgbClr val="005c82"/>
          </a:solidFill>
          <a:ln w="0">
            <a:noFill/>
          </a:ln>
        </p:spPr>
        <p:style>
          <a:lnRef idx="0"/>
          <a:fillRef idx="0"/>
          <a:effectRef idx="0"/>
          <a:fontRef idx="minor"/>
        </p:style>
      </p:sp>
      <p:sp>
        <p:nvSpPr>
          <p:cNvPr id="106"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01 WAM</a:t>
            </a:r>
            <a:r>
              <a:rPr b="1" lang="zh-CN" sz="1800" spc="-1" strike="noStrike">
                <a:solidFill>
                  <a:srgbClr val="ffffff"/>
                </a:solidFill>
                <a:latin typeface="Quattrocento Sans"/>
                <a:ea typeface="Quattrocento Sans"/>
              </a:rPr>
              <a:t>概述</a:t>
            </a:r>
            <a:endParaRPr b="0" lang="en-US" sz="1800" spc="-1" strike="noStrike">
              <a:latin typeface="Arial"/>
            </a:endParaRPr>
          </a:p>
        </p:txBody>
      </p:sp>
      <p:sp>
        <p:nvSpPr>
          <p:cNvPr id="107"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108"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109"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110"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111"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112"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113"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01 WAM</a:t>
            </a:r>
            <a:r>
              <a:rPr b="1" lang="zh-CN" sz="1400" spc="-1" strike="noStrike">
                <a:solidFill>
                  <a:srgbClr val="005c82"/>
                </a:solidFill>
                <a:latin typeface="Quattrocento Sans"/>
                <a:ea typeface="Quattrocento Sans"/>
              </a:rPr>
              <a:t>概述</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1.1 WAM</a:t>
            </a:r>
            <a:r>
              <a:rPr b="0" lang="zh-CN" sz="1400" spc="-1" strike="noStrike">
                <a:solidFill>
                  <a:srgbClr val="005c82"/>
                </a:solidFill>
                <a:latin typeface="Quattrocento Sans"/>
                <a:ea typeface="Quattrocento Sans"/>
              </a:rPr>
              <a:t>核心定义与价值</a:t>
            </a:r>
            <a:endParaRPr b="0" lang="en-US" sz="1400" spc="-1" strike="noStrike">
              <a:latin typeface="Arial"/>
            </a:endParaRPr>
          </a:p>
        </p:txBody>
      </p:sp>
      <p:sp>
        <p:nvSpPr>
          <p:cNvPr id="114"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04</a:t>
            </a:r>
            <a:endParaRPr b="0" lang="en-US" sz="1400" spc="-1" strike="noStrike">
              <a:latin typeface="Arial"/>
            </a:endParaRPr>
          </a:p>
        </p:txBody>
      </p:sp>
      <p:sp>
        <p:nvSpPr>
          <p:cNvPr id="115"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WAM</a:t>
            </a:r>
            <a:r>
              <a:rPr b="1" lang="zh-CN" sz="2400" spc="-1" strike="noStrike">
                <a:solidFill>
                  <a:srgbClr val="005c82"/>
                </a:solidFill>
                <a:latin typeface="Quattrocento Sans"/>
                <a:ea typeface="Quattrocento Sans"/>
              </a:rPr>
              <a:t>核心定义：从</a:t>
            </a:r>
            <a:r>
              <a:rPr b="1" lang="en-US" sz="2400" spc="-1" strike="noStrike">
                <a:solidFill>
                  <a:srgbClr val="005c82"/>
                </a:solidFill>
                <a:latin typeface="Quattrocento Sans"/>
                <a:ea typeface="Quattrocento Sans"/>
              </a:rPr>
              <a:t>VLA</a:t>
            </a:r>
            <a:r>
              <a:rPr b="1" lang="zh-CN" sz="2400" spc="-1" strike="noStrike">
                <a:solidFill>
                  <a:srgbClr val="005c82"/>
                </a:solidFill>
                <a:latin typeface="Quattrocento Sans"/>
                <a:ea typeface="Quattrocento Sans"/>
              </a:rPr>
              <a:t>到世界预测</a:t>
            </a:r>
            <a:endParaRPr b="0" lang="en-US" sz="2400" spc="-1" strike="noStrike">
              <a:latin typeface="Arial"/>
            </a:endParaRPr>
          </a:p>
        </p:txBody>
      </p:sp>
      <p:sp>
        <p:nvSpPr>
          <p:cNvPr id="116"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117" name="Shape 14"/>
          <p:cNvSpPr/>
          <p:nvPr/>
        </p:nvSpPr>
        <p:spPr>
          <a:xfrm>
            <a:off x="2540160" y="1574640"/>
            <a:ext cx="13207680" cy="1015560"/>
          </a:xfrm>
          <a:prstGeom prst="roundRect">
            <a:avLst>
              <a:gd name="adj" fmla="val 4000"/>
            </a:avLst>
          </a:prstGeom>
          <a:solidFill>
            <a:srgbClr val="005c82"/>
          </a:solidFill>
          <a:ln w="0">
            <a:noFill/>
          </a:ln>
        </p:spPr>
        <p:style>
          <a:lnRef idx="0"/>
          <a:fillRef idx="0"/>
          <a:effectRef idx="0"/>
          <a:fontRef idx="minor"/>
        </p:style>
      </p:sp>
      <p:sp>
        <p:nvSpPr>
          <p:cNvPr id="118" name="Text 15"/>
          <p:cNvSpPr/>
          <p:nvPr/>
        </p:nvSpPr>
        <p:spPr>
          <a:xfrm>
            <a:off x="2793960" y="1574640"/>
            <a:ext cx="12699720" cy="101556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2200" spc="-1" strike="noStrike">
                <a:solidFill>
                  <a:srgbClr val="ffffff"/>
                </a:solidFill>
                <a:latin typeface="Quattrocento Sans"/>
                <a:ea typeface="Quattrocento Sans"/>
              </a:rPr>
              <a:t>WAM = </a:t>
            </a:r>
            <a:r>
              <a:rPr b="1" lang="zh-CN" sz="2200" spc="-1" strike="noStrike">
                <a:solidFill>
                  <a:srgbClr val="ffffff"/>
                </a:solidFill>
                <a:latin typeface="Quattrocento Sans"/>
                <a:ea typeface="Quattrocento Sans"/>
              </a:rPr>
              <a:t>建模 </a:t>
            </a:r>
            <a:r>
              <a:rPr b="1" lang="en-US" sz="2200" spc="-1" strike="noStrike">
                <a:solidFill>
                  <a:srgbClr val="ffffff"/>
                </a:solidFill>
                <a:latin typeface="Quattrocento Sans"/>
                <a:ea typeface="Quattrocento Sans"/>
              </a:rPr>
              <a:t>p(o′, a | o, l)</a:t>
            </a:r>
            <a:r>
              <a:rPr b="1" lang="zh-CN" sz="2200" spc="-1" strike="noStrike">
                <a:solidFill>
                  <a:srgbClr val="ffffff"/>
                </a:solidFill>
                <a:latin typeface="Quattrocento Sans"/>
                <a:ea typeface="Quattrocento Sans"/>
              </a:rPr>
              <a:t>　　</a:t>
            </a:r>
            <a:r>
              <a:rPr b="1" lang="en-US" sz="2200" spc="-1" strike="noStrike">
                <a:solidFill>
                  <a:srgbClr val="ffffff"/>
                </a:solidFill>
                <a:latin typeface="Quattrocento Sans"/>
                <a:ea typeface="Quattrocento Sans"/>
              </a:rPr>
              <a:t>VLA = </a:t>
            </a:r>
            <a:r>
              <a:rPr b="1" lang="zh-CN" sz="2200" spc="-1" strike="noStrike">
                <a:solidFill>
                  <a:srgbClr val="ffffff"/>
                </a:solidFill>
                <a:latin typeface="Quattrocento Sans"/>
                <a:ea typeface="Quattrocento Sans"/>
              </a:rPr>
              <a:t>建模 </a:t>
            </a:r>
            <a:r>
              <a:rPr b="1" lang="en-US" sz="2200" spc="-1" strike="noStrike">
                <a:solidFill>
                  <a:srgbClr val="ffffff"/>
                </a:solidFill>
                <a:latin typeface="Quattrocento Sans"/>
                <a:ea typeface="Quattrocento Sans"/>
              </a:rPr>
              <a:t>p(a | o, l)</a:t>
            </a:r>
            <a:endParaRPr b="0" lang="en-US" sz="2200" spc="-1" strike="noStrike">
              <a:latin typeface="Arial"/>
            </a:endParaRPr>
          </a:p>
        </p:txBody>
      </p:sp>
      <p:sp>
        <p:nvSpPr>
          <p:cNvPr id="119" name="Shape 16"/>
          <p:cNvSpPr/>
          <p:nvPr/>
        </p:nvSpPr>
        <p:spPr>
          <a:xfrm>
            <a:off x="2540160" y="2844720"/>
            <a:ext cx="177480" cy="177480"/>
          </a:xfrm>
          <a:prstGeom prst="diamond">
            <a:avLst/>
          </a:prstGeom>
          <a:solidFill>
            <a:srgbClr val="005c82"/>
          </a:solidFill>
          <a:ln w="0">
            <a:noFill/>
          </a:ln>
        </p:spPr>
        <p:style>
          <a:lnRef idx="0"/>
          <a:fillRef idx="0"/>
          <a:effectRef idx="0"/>
          <a:fontRef idx="minor"/>
        </p:style>
      </p:sp>
      <p:sp>
        <p:nvSpPr>
          <p:cNvPr id="120" name="Text 17"/>
          <p:cNvSpPr/>
          <p:nvPr/>
        </p:nvSpPr>
        <p:spPr>
          <a:xfrm>
            <a:off x="2870280" y="276876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WAM</a:t>
            </a:r>
            <a:r>
              <a:rPr b="1" lang="zh-CN" sz="2000" spc="-1" strike="noStrike">
                <a:solidFill>
                  <a:srgbClr val="005c82"/>
                </a:solidFill>
                <a:latin typeface="Quattrocento Sans"/>
                <a:ea typeface="Quattrocento Sans"/>
              </a:rPr>
              <a:t>是什么</a:t>
            </a:r>
            <a:endParaRPr b="0" lang="en-US" sz="2000" spc="-1" strike="noStrike">
              <a:latin typeface="Arial"/>
            </a:endParaRPr>
          </a:p>
        </p:txBody>
      </p:sp>
      <p:sp>
        <p:nvSpPr>
          <p:cNvPr id="121" name="Text 18"/>
          <p:cNvSpPr/>
          <p:nvPr/>
        </p:nvSpPr>
        <p:spPr>
          <a:xfrm>
            <a:off x="2870280" y="3174840"/>
            <a:ext cx="12877560" cy="76176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en-US" sz="1700" spc="-1" strike="noStrike">
                <a:solidFill>
                  <a:srgbClr val="333333"/>
                </a:solidFill>
                <a:latin typeface="Quattrocento Sans"/>
                <a:ea typeface="Quattrocento Sans"/>
              </a:rPr>
              <a:t>World Action Model</a:t>
            </a:r>
            <a:r>
              <a:rPr b="0" lang="zh-CN" sz="1700" spc="-1" strike="noStrike">
                <a:solidFill>
                  <a:srgbClr val="333333"/>
                </a:solidFill>
                <a:latin typeface="Quattrocento Sans"/>
                <a:ea typeface="Quattrocento Sans"/>
              </a:rPr>
              <a:t>：同时预测物理世界如何演化，并生成与预测的未来状态对齐的动作。</a:t>
            </a:r>
            <a:r>
              <a:rPr b="0" lang="en-US" sz="1700" spc="-1" strike="noStrike">
                <a:solidFill>
                  <a:srgbClr val="333333"/>
                </a:solidFill>
                <a:latin typeface="Quattrocento Sans"/>
                <a:ea typeface="Quattrocento Sans"/>
              </a:rPr>
              <a:t>WAM = VLA + </a:t>
            </a:r>
            <a:r>
              <a:rPr b="0" lang="zh-CN" sz="1700" spc="-1" strike="noStrike">
                <a:solidFill>
                  <a:srgbClr val="333333"/>
                </a:solidFill>
                <a:latin typeface="Quattrocento Sans"/>
                <a:ea typeface="Quattrocento Sans"/>
              </a:rPr>
              <a:t>显式建模</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动作如何改变世界</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a:t>
            </a:r>
            <a:endParaRPr b="0" lang="en-US" sz="1700" spc="-1" strike="noStrike">
              <a:latin typeface="Arial"/>
            </a:endParaRPr>
          </a:p>
        </p:txBody>
      </p:sp>
      <p:sp>
        <p:nvSpPr>
          <p:cNvPr id="122" name="Shape 19"/>
          <p:cNvSpPr/>
          <p:nvPr/>
        </p:nvSpPr>
        <p:spPr>
          <a:xfrm>
            <a:off x="2540160" y="4013280"/>
            <a:ext cx="13207680" cy="12240"/>
          </a:xfrm>
          <a:prstGeom prst="rect">
            <a:avLst/>
          </a:prstGeom>
          <a:solidFill>
            <a:srgbClr val="e0f4fa"/>
          </a:solidFill>
          <a:ln w="0">
            <a:noFill/>
          </a:ln>
        </p:spPr>
        <p:style>
          <a:lnRef idx="0"/>
          <a:fillRef idx="0"/>
          <a:effectRef idx="0"/>
          <a:fontRef idx="minor"/>
        </p:style>
      </p:sp>
      <p:sp>
        <p:nvSpPr>
          <p:cNvPr id="123" name="Shape 20"/>
          <p:cNvSpPr/>
          <p:nvPr/>
        </p:nvSpPr>
        <p:spPr>
          <a:xfrm>
            <a:off x="2540160" y="4216320"/>
            <a:ext cx="177480" cy="177480"/>
          </a:xfrm>
          <a:prstGeom prst="diamond">
            <a:avLst/>
          </a:prstGeom>
          <a:solidFill>
            <a:srgbClr val="005c82"/>
          </a:solidFill>
          <a:ln w="0">
            <a:noFill/>
          </a:ln>
        </p:spPr>
        <p:style>
          <a:lnRef idx="0"/>
          <a:fillRef idx="0"/>
          <a:effectRef idx="0"/>
          <a:fontRef idx="minor"/>
        </p:style>
      </p:sp>
      <p:sp>
        <p:nvSpPr>
          <p:cNvPr id="124" name="Text 21"/>
          <p:cNvSpPr/>
          <p:nvPr/>
        </p:nvSpPr>
        <p:spPr>
          <a:xfrm>
            <a:off x="2870280" y="414036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VLA</a:t>
            </a:r>
            <a:r>
              <a:rPr b="1" lang="zh-CN" sz="2000" spc="-1" strike="noStrike">
                <a:solidFill>
                  <a:srgbClr val="005c82"/>
                </a:solidFill>
                <a:latin typeface="Quattrocento Sans"/>
                <a:ea typeface="Quattrocento Sans"/>
              </a:rPr>
              <a:t>的三大根本局限</a:t>
            </a:r>
            <a:endParaRPr b="0" lang="en-US" sz="2000" spc="-1" strike="noStrike">
              <a:latin typeface="Arial"/>
            </a:endParaRPr>
          </a:p>
        </p:txBody>
      </p:sp>
      <p:sp>
        <p:nvSpPr>
          <p:cNvPr id="125" name="Text 22"/>
          <p:cNvSpPr/>
          <p:nvPr/>
        </p:nvSpPr>
        <p:spPr>
          <a:xfrm>
            <a:off x="2870280" y="4546440"/>
            <a:ext cx="12877560" cy="114264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en-US" sz="1700" spc="-1" strike="noStrike">
                <a:solidFill>
                  <a:srgbClr val="333333"/>
                </a:solidFill>
                <a:latin typeface="Quattrocento Sans"/>
                <a:ea typeface="Quattrocento Sans"/>
              </a:rPr>
              <a:t>① </a:t>
            </a:r>
            <a:r>
              <a:rPr b="1" lang="zh-CN" sz="1700" spc="-1" strike="noStrike">
                <a:solidFill>
                  <a:srgbClr val="333333"/>
                </a:solidFill>
                <a:latin typeface="Quattrocento Sans"/>
                <a:ea typeface="Quattrocento Sans"/>
              </a:rPr>
              <a:t>缺乏前向推理</a:t>
            </a:r>
            <a:r>
              <a:rPr b="0" lang="zh-CN" sz="1700" spc="-1" strike="noStrike">
                <a:solidFill>
                  <a:srgbClr val="333333"/>
                </a:solidFill>
                <a:latin typeface="Quattrocento Sans"/>
                <a:ea typeface="Quattrocento Sans"/>
              </a:rPr>
              <a:t>：不知道</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执行这个动作后世界会变成什么样</a:t>
            </a:r>
            <a:r>
              <a:rPr b="0" lang="en-US" sz="1700" spc="-1" strike="noStrike">
                <a:solidFill>
                  <a:srgbClr val="333333"/>
                </a:solidFill>
                <a:latin typeface="Quattrocento Sans"/>
                <a:ea typeface="Quattrocento Sans"/>
              </a:rPr>
              <a:t>"</a:t>
            </a:r>
            <a:endParaRPr b="0" lang="en-US" sz="1700" spc="-1" strike="noStrike">
              <a:latin typeface="Arial"/>
            </a:endParaRPr>
          </a:p>
          <a:p>
            <a:pPr>
              <a:lnSpc>
                <a:spcPct val="150000"/>
              </a:lnSpc>
              <a:buNone/>
            </a:pPr>
            <a:r>
              <a:rPr b="0" lang="en-US" sz="1700" spc="-1" strike="noStrike">
                <a:solidFill>
                  <a:srgbClr val="333333"/>
                </a:solidFill>
                <a:latin typeface="Quattrocento Sans"/>
                <a:ea typeface="Quattrocento Sans"/>
              </a:rPr>
              <a:t>② </a:t>
            </a:r>
            <a:r>
              <a:rPr b="1" lang="zh-CN" sz="1700" spc="-1" strike="noStrike">
                <a:solidFill>
                  <a:srgbClr val="333333"/>
                </a:solidFill>
                <a:latin typeface="Quattrocento Sans"/>
                <a:ea typeface="Quattrocento Sans"/>
              </a:rPr>
              <a:t>无法利用被动数据</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YouTube</a:t>
            </a:r>
            <a:r>
              <a:rPr b="0" lang="zh-CN" sz="1700" spc="-1" strike="noStrike">
                <a:solidFill>
                  <a:srgbClr val="333333"/>
                </a:solidFill>
                <a:latin typeface="Quattrocento Sans"/>
                <a:ea typeface="Quattrocento Sans"/>
              </a:rPr>
              <a:t>上海量人类视频无动作标签，</a:t>
            </a:r>
            <a:r>
              <a:rPr b="0" lang="en-US" sz="1700" spc="-1" strike="noStrike">
                <a:solidFill>
                  <a:srgbClr val="333333"/>
                </a:solidFill>
                <a:latin typeface="Quattrocento Sans"/>
                <a:ea typeface="Quattrocento Sans"/>
              </a:rPr>
              <a:t>VLA</a:t>
            </a:r>
            <a:r>
              <a:rPr b="0" lang="zh-CN" sz="1700" spc="-1" strike="noStrike">
                <a:solidFill>
                  <a:srgbClr val="333333"/>
                </a:solidFill>
                <a:latin typeface="Quattrocento Sans"/>
                <a:ea typeface="Quattrocento Sans"/>
              </a:rPr>
              <a:t>无法学习</a:t>
            </a:r>
            <a:endParaRPr b="0" lang="en-US" sz="1700" spc="-1" strike="noStrike">
              <a:latin typeface="Arial"/>
            </a:endParaRPr>
          </a:p>
          <a:p>
            <a:pPr>
              <a:lnSpc>
                <a:spcPct val="150000"/>
              </a:lnSpc>
              <a:buNone/>
            </a:pPr>
            <a:r>
              <a:rPr b="0" lang="en-US" sz="1700" spc="-1" strike="noStrike">
                <a:solidFill>
                  <a:srgbClr val="333333"/>
                </a:solidFill>
                <a:latin typeface="Quattrocento Sans"/>
                <a:ea typeface="Quattrocento Sans"/>
              </a:rPr>
              <a:t>③ </a:t>
            </a:r>
            <a:r>
              <a:rPr b="1" lang="zh-CN" sz="1700" spc="-1" strike="noStrike">
                <a:solidFill>
                  <a:srgbClr val="333333"/>
                </a:solidFill>
                <a:latin typeface="Quattrocento Sans"/>
                <a:ea typeface="Quattrocento Sans"/>
              </a:rPr>
              <a:t>动作与感知割裂</a:t>
            </a:r>
            <a:r>
              <a:rPr b="0" lang="zh-CN" sz="1700" spc="-1" strike="noStrike">
                <a:solidFill>
                  <a:srgbClr val="333333"/>
                </a:solidFill>
                <a:latin typeface="Quattrocento Sans"/>
                <a:ea typeface="Quattrocento Sans"/>
              </a:rPr>
              <a:t>：动作被建模为条件概率，不与未来状态形成因果闭环</a:t>
            </a:r>
            <a:endParaRPr b="0" lang="en-US" sz="1700" spc="-1" strike="noStrike">
              <a:latin typeface="Arial"/>
            </a:endParaRPr>
          </a:p>
        </p:txBody>
      </p:sp>
      <p:sp>
        <p:nvSpPr>
          <p:cNvPr id="126" name="Shape 23"/>
          <p:cNvSpPr/>
          <p:nvPr/>
        </p:nvSpPr>
        <p:spPr>
          <a:xfrm>
            <a:off x="2540160" y="5765760"/>
            <a:ext cx="13207680" cy="12240"/>
          </a:xfrm>
          <a:prstGeom prst="rect">
            <a:avLst/>
          </a:prstGeom>
          <a:solidFill>
            <a:srgbClr val="e0f4fa"/>
          </a:solidFill>
          <a:ln w="0">
            <a:noFill/>
          </a:ln>
        </p:spPr>
        <p:style>
          <a:lnRef idx="0"/>
          <a:fillRef idx="0"/>
          <a:effectRef idx="0"/>
          <a:fontRef idx="minor"/>
        </p:style>
      </p:sp>
      <p:sp>
        <p:nvSpPr>
          <p:cNvPr id="127" name="Shape 24"/>
          <p:cNvSpPr/>
          <p:nvPr/>
        </p:nvSpPr>
        <p:spPr>
          <a:xfrm>
            <a:off x="2540160" y="5969160"/>
            <a:ext cx="177480" cy="177480"/>
          </a:xfrm>
          <a:prstGeom prst="diamond">
            <a:avLst/>
          </a:prstGeom>
          <a:solidFill>
            <a:srgbClr val="00acc1"/>
          </a:solidFill>
          <a:ln w="0">
            <a:noFill/>
          </a:ln>
        </p:spPr>
        <p:style>
          <a:lnRef idx="0"/>
          <a:fillRef idx="0"/>
          <a:effectRef idx="0"/>
          <a:fontRef idx="minor"/>
        </p:style>
      </p:sp>
      <p:sp>
        <p:nvSpPr>
          <p:cNvPr id="128" name="Text 25"/>
          <p:cNvSpPr/>
          <p:nvPr/>
        </p:nvSpPr>
        <p:spPr>
          <a:xfrm>
            <a:off x="2870280" y="589284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WAM</a:t>
            </a:r>
            <a:r>
              <a:rPr b="1" lang="zh-CN" sz="2000" spc="-1" strike="noStrike">
                <a:solidFill>
                  <a:srgbClr val="005c82"/>
                </a:solidFill>
                <a:latin typeface="Quattrocento Sans"/>
                <a:ea typeface="Quattrocento Sans"/>
              </a:rPr>
              <a:t>的核心回应</a:t>
            </a:r>
            <a:endParaRPr b="0" lang="en-US" sz="2000" spc="-1" strike="noStrike">
              <a:latin typeface="Arial"/>
            </a:endParaRPr>
          </a:p>
        </p:txBody>
      </p:sp>
      <p:sp>
        <p:nvSpPr>
          <p:cNvPr id="129" name="Text 26"/>
          <p:cNvSpPr/>
          <p:nvPr/>
        </p:nvSpPr>
        <p:spPr>
          <a:xfrm>
            <a:off x="2870280" y="6299280"/>
            <a:ext cx="12877560" cy="76176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700" spc="-1" strike="noStrike">
                <a:solidFill>
                  <a:srgbClr val="333333"/>
                </a:solidFill>
                <a:latin typeface="Quattrocento Sans"/>
                <a:ea typeface="Quattrocento Sans"/>
              </a:rPr>
              <a:t>把世界预测作为动作生成的</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中间件</a:t>
            </a:r>
            <a:r>
              <a:rPr b="0" lang="en-US" sz="1700" spc="-1" strike="noStrike">
                <a:solidFill>
                  <a:srgbClr val="333333"/>
                </a:solidFill>
                <a:latin typeface="Quattrocento Sans"/>
                <a:ea typeface="Quattrocento Sans"/>
              </a:rPr>
              <a:t>"——</a:t>
            </a:r>
            <a:r>
              <a:rPr b="1" lang="zh-CN" sz="1700" spc="-1" strike="noStrike">
                <a:solidFill>
                  <a:srgbClr val="333333"/>
                </a:solidFill>
                <a:latin typeface="Quattrocento Sans"/>
                <a:ea typeface="Quattrocento Sans"/>
              </a:rPr>
              <a:t>预测先于行动，行动验证预测</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WAM</a:t>
            </a:r>
            <a:r>
              <a:rPr b="0" lang="zh-CN" sz="1700" spc="-1" strike="noStrike">
                <a:solidFill>
                  <a:srgbClr val="333333"/>
                </a:solidFill>
                <a:latin typeface="Quattrocento Sans"/>
                <a:ea typeface="Quattrocento Sans"/>
              </a:rPr>
              <a:t>可以消费无动作标签的视频数据来训练</a:t>
            </a:r>
            <a:r>
              <a:rPr b="0" lang="en-US" sz="1700" spc="-1" strike="noStrike">
                <a:solidFill>
                  <a:srgbClr val="333333"/>
                </a:solidFill>
                <a:latin typeface="Quattrocento Sans"/>
                <a:ea typeface="Quattrocento Sans"/>
              </a:rPr>
              <a:t>World Model</a:t>
            </a:r>
            <a:r>
              <a:rPr b="0" lang="zh-CN" sz="1700" spc="-1" strike="noStrike">
                <a:solidFill>
                  <a:srgbClr val="333333"/>
                </a:solidFill>
                <a:latin typeface="Quattrocento Sans"/>
                <a:ea typeface="Quattrocento Sans"/>
              </a:rPr>
              <a:t>，大幅缓解数据瓶颈。</a:t>
            </a:r>
            <a:endParaRPr b="0" lang="en-US" sz="1700" spc="-1" strike="noStrike">
              <a:latin typeface="Arial"/>
            </a:endParaRPr>
          </a:p>
        </p:txBody>
      </p:sp>
      <p:sp>
        <p:nvSpPr>
          <p:cNvPr id="130" name="Shape 27"/>
          <p:cNvSpPr/>
          <p:nvPr/>
        </p:nvSpPr>
        <p:spPr>
          <a:xfrm>
            <a:off x="2540160" y="7365960"/>
            <a:ext cx="13207680" cy="761760"/>
          </a:xfrm>
          <a:prstGeom prst="rect">
            <a:avLst/>
          </a:prstGeom>
          <a:solidFill>
            <a:srgbClr val="005c82"/>
          </a:solidFill>
          <a:ln w="0">
            <a:noFill/>
          </a:ln>
        </p:spPr>
        <p:style>
          <a:lnRef idx="0"/>
          <a:fillRef idx="0"/>
          <a:effectRef idx="0"/>
          <a:fontRef idx="minor"/>
        </p:style>
      </p:sp>
      <p:sp>
        <p:nvSpPr>
          <p:cNvPr id="131" name="Shape 28"/>
          <p:cNvSpPr/>
          <p:nvPr/>
        </p:nvSpPr>
        <p:spPr>
          <a:xfrm>
            <a:off x="2717640" y="7632720"/>
            <a:ext cx="151920" cy="151920"/>
          </a:xfrm>
          <a:prstGeom prst="diamond">
            <a:avLst/>
          </a:prstGeom>
          <a:solidFill>
            <a:srgbClr val="00acc1"/>
          </a:solidFill>
          <a:ln w="0">
            <a:noFill/>
          </a:ln>
        </p:spPr>
        <p:style>
          <a:lnRef idx="0"/>
          <a:fillRef idx="0"/>
          <a:effectRef idx="0"/>
          <a:fontRef idx="minor"/>
        </p:style>
      </p:sp>
      <p:sp>
        <p:nvSpPr>
          <p:cNvPr id="132" name="Text 29"/>
          <p:cNvSpPr/>
          <p:nvPr/>
        </p:nvSpPr>
        <p:spPr>
          <a:xfrm>
            <a:off x="3022560" y="7467480"/>
            <a:ext cx="12521880" cy="304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zh-CN" sz="1600" spc="-1" strike="noStrike">
                <a:solidFill>
                  <a:srgbClr val="ffffff"/>
                </a:solidFill>
                <a:latin typeface="Quattrocento Sans"/>
                <a:ea typeface="Quattrocento Sans"/>
              </a:rPr>
              <a:t>核心观点：</a:t>
            </a:r>
            <a:r>
              <a:rPr b="0" lang="en-US" sz="1600" spc="-1" strike="noStrike">
                <a:solidFill>
                  <a:srgbClr val="ffffff"/>
                </a:solidFill>
                <a:latin typeface="Quattrocento Sans"/>
                <a:ea typeface="Quattrocento Sans"/>
              </a:rPr>
              <a:t>WAM</a:t>
            </a:r>
            <a:r>
              <a:rPr b="0" lang="zh-CN" sz="1600" spc="-1" strike="noStrike">
                <a:solidFill>
                  <a:srgbClr val="ffffff"/>
                </a:solidFill>
                <a:latin typeface="Quattrocento Sans"/>
                <a:ea typeface="Quattrocento Sans"/>
              </a:rPr>
              <a:t>是</a:t>
            </a:r>
            <a:r>
              <a:rPr b="0" lang="en-US" sz="1600" spc="-1" strike="noStrike">
                <a:solidFill>
                  <a:srgbClr val="ffffff"/>
                </a:solidFill>
                <a:latin typeface="Quattrocento Sans"/>
                <a:ea typeface="Quattrocento Sans"/>
              </a:rPr>
              <a:t>VLA</a:t>
            </a:r>
            <a:r>
              <a:rPr b="0" lang="zh-CN" sz="1600" spc="-1" strike="noStrike">
                <a:solidFill>
                  <a:srgbClr val="ffffff"/>
                </a:solidFill>
                <a:latin typeface="Quattrocento Sans"/>
                <a:ea typeface="Quattrocento Sans"/>
              </a:rPr>
              <a:t>的超集——显式建模</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动作→世界变化</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的因果耦合，是具身智能从</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反应</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到</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想象</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的关键跃迁。</a:t>
            </a:r>
            <a:endParaRPr b="0" lang="en-US" sz="1600" spc="-1" strike="noStrike">
              <a:latin typeface="Arial"/>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133"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134"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135" name="Shape 2"/>
          <p:cNvSpPr/>
          <p:nvPr/>
        </p:nvSpPr>
        <p:spPr>
          <a:xfrm>
            <a:off x="0" y="1015920"/>
            <a:ext cx="2285640" cy="1168200"/>
          </a:xfrm>
          <a:prstGeom prst="rect">
            <a:avLst/>
          </a:prstGeom>
          <a:solidFill>
            <a:srgbClr val="005c82"/>
          </a:solidFill>
          <a:ln w="0">
            <a:noFill/>
          </a:ln>
        </p:spPr>
        <p:style>
          <a:lnRef idx="0"/>
          <a:fillRef idx="0"/>
          <a:effectRef idx="0"/>
          <a:fontRef idx="minor"/>
        </p:style>
      </p:sp>
      <p:sp>
        <p:nvSpPr>
          <p:cNvPr id="136"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01 WAM</a:t>
            </a:r>
            <a:r>
              <a:rPr b="1" lang="zh-CN" sz="1800" spc="-1" strike="noStrike">
                <a:solidFill>
                  <a:srgbClr val="ffffff"/>
                </a:solidFill>
                <a:latin typeface="Quattrocento Sans"/>
                <a:ea typeface="Quattrocento Sans"/>
              </a:rPr>
              <a:t>概述</a:t>
            </a:r>
            <a:endParaRPr b="0" lang="en-US" sz="1800" spc="-1" strike="noStrike">
              <a:latin typeface="Arial"/>
            </a:endParaRPr>
          </a:p>
        </p:txBody>
      </p:sp>
      <p:sp>
        <p:nvSpPr>
          <p:cNvPr id="137"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138"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139"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140"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141"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142"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143"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01 WAM</a:t>
            </a:r>
            <a:r>
              <a:rPr b="1" lang="zh-CN" sz="1400" spc="-1" strike="noStrike">
                <a:solidFill>
                  <a:srgbClr val="005c82"/>
                </a:solidFill>
                <a:latin typeface="Quattrocento Sans"/>
                <a:ea typeface="Quattrocento Sans"/>
              </a:rPr>
              <a:t>概述</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1.2 Cascaded vs Joint </a:t>
            </a:r>
            <a:r>
              <a:rPr b="0" lang="zh-CN" sz="1400" spc="-1" strike="noStrike">
                <a:solidFill>
                  <a:srgbClr val="005c82"/>
                </a:solidFill>
                <a:latin typeface="Quattrocento Sans"/>
                <a:ea typeface="Quattrocento Sans"/>
              </a:rPr>
              <a:t>分类体系</a:t>
            </a:r>
            <a:endParaRPr b="0" lang="en-US" sz="1400" spc="-1" strike="noStrike">
              <a:latin typeface="Arial"/>
            </a:endParaRPr>
          </a:p>
        </p:txBody>
      </p:sp>
      <p:sp>
        <p:nvSpPr>
          <p:cNvPr id="144"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05</a:t>
            </a:r>
            <a:endParaRPr b="0" lang="en-US" sz="1400" spc="-1" strike="noStrike">
              <a:latin typeface="Arial"/>
            </a:endParaRPr>
          </a:p>
        </p:txBody>
      </p:sp>
      <p:sp>
        <p:nvSpPr>
          <p:cNvPr id="145"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WAM</a:t>
            </a:r>
            <a:r>
              <a:rPr b="1" lang="zh-CN" sz="2400" spc="-1" strike="noStrike">
                <a:solidFill>
                  <a:srgbClr val="005c82"/>
                </a:solidFill>
                <a:latin typeface="Quattrocento Sans"/>
                <a:ea typeface="Quattrocento Sans"/>
              </a:rPr>
              <a:t>分类体系：</a:t>
            </a:r>
            <a:r>
              <a:rPr b="1" lang="en-US" sz="2400" spc="-1" strike="noStrike">
                <a:solidFill>
                  <a:srgbClr val="005c82"/>
                </a:solidFill>
                <a:latin typeface="Quattrocento Sans"/>
                <a:ea typeface="Quattrocento Sans"/>
              </a:rPr>
              <a:t>Cascaded vs Joint</a:t>
            </a:r>
            <a:endParaRPr b="0" lang="en-US" sz="2400" spc="-1" strike="noStrike">
              <a:latin typeface="Arial"/>
            </a:endParaRPr>
          </a:p>
        </p:txBody>
      </p:sp>
      <p:sp>
        <p:nvSpPr>
          <p:cNvPr id="146"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147" name="Shape 14"/>
          <p:cNvSpPr/>
          <p:nvPr/>
        </p:nvSpPr>
        <p:spPr>
          <a:xfrm>
            <a:off x="2540160" y="1574640"/>
            <a:ext cx="6349680" cy="482400"/>
          </a:xfrm>
          <a:prstGeom prst="rect">
            <a:avLst/>
          </a:prstGeom>
          <a:solidFill>
            <a:srgbClr val="b0bec5"/>
          </a:solidFill>
          <a:ln w="0">
            <a:noFill/>
          </a:ln>
        </p:spPr>
        <p:style>
          <a:lnRef idx="0"/>
          <a:fillRef idx="0"/>
          <a:effectRef idx="0"/>
          <a:fontRef idx="minor"/>
        </p:style>
      </p:sp>
      <p:sp>
        <p:nvSpPr>
          <p:cNvPr id="148" name="Text 15"/>
          <p:cNvSpPr/>
          <p:nvPr/>
        </p:nvSpPr>
        <p:spPr>
          <a:xfrm>
            <a:off x="2540160" y="1574640"/>
            <a:ext cx="6349680" cy="4824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1500" spc="-1" strike="noStrike">
                <a:solidFill>
                  <a:srgbClr val="ffffff"/>
                </a:solidFill>
                <a:latin typeface="Quattrocento Sans"/>
                <a:ea typeface="Quattrocento Sans"/>
              </a:rPr>
              <a:t>Cascaded WAM</a:t>
            </a:r>
            <a:r>
              <a:rPr b="1" lang="zh-CN" sz="1500" spc="-1" strike="noStrike">
                <a:solidFill>
                  <a:srgbClr val="ffffff"/>
                </a:solidFill>
                <a:latin typeface="Quattrocento Sans"/>
                <a:ea typeface="Quattrocento Sans"/>
              </a:rPr>
              <a:t>（级联式）</a:t>
            </a:r>
            <a:endParaRPr b="0" lang="en-US" sz="1500" spc="-1" strike="noStrike">
              <a:latin typeface="Arial"/>
            </a:endParaRPr>
          </a:p>
        </p:txBody>
      </p:sp>
      <p:sp>
        <p:nvSpPr>
          <p:cNvPr id="149" name="Shape 16"/>
          <p:cNvSpPr/>
          <p:nvPr/>
        </p:nvSpPr>
        <p:spPr>
          <a:xfrm>
            <a:off x="2540160" y="2057400"/>
            <a:ext cx="6349680" cy="4825800"/>
          </a:xfrm>
          <a:prstGeom prst="rect">
            <a:avLst/>
          </a:prstGeom>
          <a:solidFill>
            <a:srgbClr val="e0f4fa"/>
          </a:solidFill>
          <a:ln w="0">
            <a:noFill/>
          </a:ln>
        </p:spPr>
        <p:style>
          <a:lnRef idx="0"/>
          <a:fillRef idx="0"/>
          <a:effectRef idx="0"/>
          <a:fontRef idx="minor"/>
        </p:style>
      </p:sp>
      <p:sp>
        <p:nvSpPr>
          <p:cNvPr id="150" name="Text 17"/>
          <p:cNvSpPr/>
          <p:nvPr/>
        </p:nvSpPr>
        <p:spPr>
          <a:xfrm>
            <a:off x="2768760" y="2209680"/>
            <a:ext cx="5892480" cy="452088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1" lang="zh-CN" sz="1600" spc="-1" strike="noStrike">
                <a:solidFill>
                  <a:srgbClr val="333333"/>
                </a:solidFill>
                <a:latin typeface="Quattrocento Sans"/>
                <a:ea typeface="Quattrocento Sans"/>
              </a:rPr>
              <a:t>范式：</a:t>
            </a:r>
            <a:r>
              <a:rPr b="0" lang="zh-CN" sz="1600" spc="-1" strike="noStrike">
                <a:solidFill>
                  <a:srgbClr val="333333"/>
                </a:solidFill>
                <a:latin typeface="Quattrocento Sans"/>
                <a:ea typeface="Quattrocento Sans"/>
              </a:rPr>
              <a:t>先预测未来状态 → 再解码动作</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类比：</a:t>
            </a:r>
            <a:r>
              <a:rPr b="0" lang="zh-CN" sz="1600" spc="-1" strike="noStrike">
                <a:solidFill>
                  <a:srgbClr val="333333"/>
                </a:solidFill>
                <a:latin typeface="Quattrocento Sans"/>
                <a:ea typeface="Quattrocento Sans"/>
              </a:rPr>
              <a:t>先知画蓝图 → 工匠按图施工</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子路线：</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显式像素规划：</a:t>
            </a:r>
            <a:r>
              <a:rPr b="0" lang="en-US" sz="1600" spc="-1" strike="noStrike">
                <a:solidFill>
                  <a:srgbClr val="333333"/>
                </a:solidFill>
                <a:latin typeface="Quattrocento Sans"/>
                <a:ea typeface="Quattrocento Sans"/>
              </a:rPr>
              <a:t>UniPi, π0.7</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隐式潜在规划：</a:t>
            </a:r>
            <a:r>
              <a:rPr b="0" lang="en-US" sz="1600" spc="-1" strike="noStrike">
                <a:solidFill>
                  <a:srgbClr val="333333"/>
                </a:solidFill>
                <a:latin typeface="Quattrocento Sans"/>
                <a:ea typeface="Quattrocento Sans"/>
              </a:rPr>
              <a:t>V-JEPA 2, VPP, S-VAM</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优势：</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世界模型与动作解码解耦</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世界模型可复用、易替换</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模块化设计，调试方便</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代价：</a:t>
            </a:r>
            <a:r>
              <a:rPr b="0" lang="zh-CN" sz="1600" spc="-1" strike="noStrike">
                <a:solidFill>
                  <a:srgbClr val="333333"/>
                </a:solidFill>
                <a:latin typeface="Quattrocento Sans"/>
                <a:ea typeface="Quattrocento Sans"/>
              </a:rPr>
              <a:t>两阶段可能累积误差</a:t>
            </a:r>
            <a:endParaRPr b="0" lang="en-US" sz="1600" spc="-1" strike="noStrike">
              <a:latin typeface="Arial"/>
            </a:endParaRPr>
          </a:p>
        </p:txBody>
      </p:sp>
      <p:sp>
        <p:nvSpPr>
          <p:cNvPr id="151" name="Shape 18"/>
          <p:cNvSpPr/>
          <p:nvPr/>
        </p:nvSpPr>
        <p:spPr>
          <a:xfrm>
            <a:off x="9144000" y="1574640"/>
            <a:ext cx="6349680" cy="482400"/>
          </a:xfrm>
          <a:prstGeom prst="rect">
            <a:avLst/>
          </a:prstGeom>
          <a:solidFill>
            <a:srgbClr val="005c82"/>
          </a:solidFill>
          <a:ln w="0">
            <a:noFill/>
          </a:ln>
        </p:spPr>
        <p:style>
          <a:lnRef idx="0"/>
          <a:fillRef idx="0"/>
          <a:effectRef idx="0"/>
          <a:fontRef idx="minor"/>
        </p:style>
      </p:sp>
      <p:sp>
        <p:nvSpPr>
          <p:cNvPr id="152" name="Text 19"/>
          <p:cNvSpPr/>
          <p:nvPr/>
        </p:nvSpPr>
        <p:spPr>
          <a:xfrm>
            <a:off x="9144000" y="1574640"/>
            <a:ext cx="6349680" cy="4824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1500" spc="-1" strike="noStrike">
                <a:solidFill>
                  <a:srgbClr val="ffffff"/>
                </a:solidFill>
                <a:latin typeface="Quattrocento Sans"/>
                <a:ea typeface="Quattrocento Sans"/>
              </a:rPr>
              <a:t>Joint WAM</a:t>
            </a:r>
            <a:r>
              <a:rPr b="1" lang="zh-CN" sz="1500" spc="-1" strike="noStrike">
                <a:solidFill>
                  <a:srgbClr val="ffffff"/>
                </a:solidFill>
                <a:latin typeface="Quattrocento Sans"/>
                <a:ea typeface="Quattrocento Sans"/>
              </a:rPr>
              <a:t>（联合式）</a:t>
            </a:r>
            <a:endParaRPr b="0" lang="en-US" sz="1500" spc="-1" strike="noStrike">
              <a:latin typeface="Arial"/>
            </a:endParaRPr>
          </a:p>
        </p:txBody>
      </p:sp>
      <p:sp>
        <p:nvSpPr>
          <p:cNvPr id="153" name="Shape 20"/>
          <p:cNvSpPr/>
          <p:nvPr/>
        </p:nvSpPr>
        <p:spPr>
          <a:xfrm>
            <a:off x="9144000" y="2057400"/>
            <a:ext cx="6349680" cy="4825800"/>
          </a:xfrm>
          <a:prstGeom prst="rect">
            <a:avLst/>
          </a:prstGeom>
          <a:solidFill>
            <a:srgbClr val="e8f4f8"/>
          </a:solidFill>
          <a:ln w="0">
            <a:noFill/>
          </a:ln>
        </p:spPr>
        <p:style>
          <a:lnRef idx="0"/>
          <a:fillRef idx="0"/>
          <a:effectRef idx="0"/>
          <a:fontRef idx="minor"/>
        </p:style>
      </p:sp>
      <p:sp>
        <p:nvSpPr>
          <p:cNvPr id="154" name="Text 21"/>
          <p:cNvSpPr/>
          <p:nvPr/>
        </p:nvSpPr>
        <p:spPr>
          <a:xfrm>
            <a:off x="9372600" y="2209680"/>
            <a:ext cx="5892480" cy="452088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1" lang="zh-CN" sz="1600" spc="-1" strike="noStrike">
                <a:solidFill>
                  <a:srgbClr val="333333"/>
                </a:solidFill>
                <a:latin typeface="Quattrocento Sans"/>
                <a:ea typeface="Quattrocento Sans"/>
              </a:rPr>
              <a:t>范式：</a:t>
            </a:r>
            <a:r>
              <a:rPr b="0" lang="zh-CN" sz="1600" spc="-1" strike="noStrike">
                <a:solidFill>
                  <a:srgbClr val="333333"/>
                </a:solidFill>
                <a:latin typeface="Quattrocento Sans"/>
                <a:ea typeface="Quattrocento Sans"/>
              </a:rPr>
              <a:t>统一模型同时输出 </a:t>
            </a:r>
            <a:r>
              <a:rPr b="0" lang="en-US" sz="1600" spc="-1" strike="noStrike">
                <a:solidFill>
                  <a:srgbClr val="333333"/>
                </a:solidFill>
                <a:latin typeface="Quattrocento Sans"/>
                <a:ea typeface="Quattrocento Sans"/>
              </a:rPr>
              <a:t>(</a:t>
            </a:r>
            <a:r>
              <a:rPr b="0" lang="zh-CN" sz="1600" spc="-1" strike="noStrike">
                <a:solidFill>
                  <a:srgbClr val="333333"/>
                </a:solidFill>
                <a:latin typeface="Quattrocento Sans"/>
                <a:ea typeface="Quattrocento Sans"/>
              </a:rPr>
              <a:t>未来状态</a:t>
            </a: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动作</a:t>
            </a:r>
            <a:r>
              <a:rPr b="0" lang="en-US" sz="1600" spc="-1" strike="noStrike">
                <a:solidFill>
                  <a:srgbClr val="333333"/>
                </a:solidFill>
                <a:latin typeface="Quattrocento Sans"/>
                <a:ea typeface="Quattrocento Sans"/>
              </a:rPr>
              <a:t>)</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类比：</a:t>
            </a:r>
            <a:r>
              <a:rPr b="0" lang="zh-CN" sz="1600" spc="-1" strike="noStrike">
                <a:solidFill>
                  <a:srgbClr val="333333"/>
                </a:solidFill>
                <a:latin typeface="Quattrocento Sans"/>
                <a:ea typeface="Quattrocento Sans"/>
              </a:rPr>
              <a:t>文艺复兴大师既设计又施工</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子路线：</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自回归生成：</a:t>
            </a:r>
            <a:r>
              <a:rPr b="0" lang="en-US" sz="1600" spc="-1" strike="noStrike">
                <a:solidFill>
                  <a:srgbClr val="333333"/>
                </a:solidFill>
                <a:latin typeface="Quattrocento Sans"/>
                <a:ea typeface="Quattrocento Sans"/>
              </a:rPr>
              <a:t>GR-1, WorldVLA</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扩散生成：</a:t>
            </a:r>
            <a:r>
              <a:rPr b="0" lang="en-US" sz="1600" spc="-1" strike="noStrike">
                <a:solidFill>
                  <a:srgbClr val="333333"/>
                </a:solidFill>
                <a:latin typeface="Quattrocento Sans"/>
                <a:ea typeface="Quattrocento Sans"/>
              </a:rPr>
              <a:t>DreamZero, Cosmos Policy</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优势：</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端到端训练，耦合更深</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状态预测与动作生成更一致</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可能达到更高性能上限</a:t>
            </a:r>
            <a:endParaRPr b="0" lang="en-US" sz="1600" spc="-1" strike="noStrike">
              <a:latin typeface="Arial"/>
            </a:endParaRPr>
          </a:p>
          <a:p>
            <a:pPr>
              <a:lnSpc>
                <a:spcPct val="160000"/>
              </a:lnSpc>
              <a:spcBef>
                <a:spcPts val="799"/>
              </a:spcBef>
              <a:buNone/>
            </a:pPr>
            <a:r>
              <a:rPr b="1" lang="zh-CN" sz="1600" spc="-1" strike="noStrike">
                <a:solidFill>
                  <a:srgbClr val="333333"/>
                </a:solidFill>
                <a:latin typeface="Quattrocento Sans"/>
                <a:ea typeface="Quattrocento Sans"/>
              </a:rPr>
              <a:t>代价：</a:t>
            </a:r>
            <a:r>
              <a:rPr b="0" lang="zh-CN" sz="1600" spc="-1" strike="noStrike">
                <a:solidFill>
                  <a:srgbClr val="333333"/>
                </a:solidFill>
                <a:latin typeface="Quattrocento Sans"/>
                <a:ea typeface="Quattrocento Sans"/>
              </a:rPr>
              <a:t>模型复杂度高，训练难度大</a:t>
            </a:r>
            <a:endParaRPr b="0" lang="en-US" sz="1600" spc="-1" strike="noStrike">
              <a:latin typeface="Arial"/>
            </a:endParaRPr>
          </a:p>
        </p:txBody>
      </p:sp>
      <p:sp>
        <p:nvSpPr>
          <p:cNvPr id="155" name="Shape 22"/>
          <p:cNvSpPr/>
          <p:nvPr/>
        </p:nvSpPr>
        <p:spPr>
          <a:xfrm>
            <a:off x="2540160" y="7112160"/>
            <a:ext cx="13207680" cy="1015560"/>
          </a:xfrm>
          <a:prstGeom prst="rect">
            <a:avLst/>
          </a:prstGeom>
          <a:solidFill>
            <a:srgbClr val="005c82"/>
          </a:solidFill>
          <a:ln w="0">
            <a:noFill/>
          </a:ln>
        </p:spPr>
        <p:style>
          <a:lnRef idx="0"/>
          <a:fillRef idx="0"/>
          <a:effectRef idx="0"/>
          <a:fontRef idx="minor"/>
        </p:style>
      </p:sp>
      <p:sp>
        <p:nvSpPr>
          <p:cNvPr id="156" name="Shape 23"/>
          <p:cNvSpPr/>
          <p:nvPr/>
        </p:nvSpPr>
        <p:spPr>
          <a:xfrm>
            <a:off x="2717640" y="7543800"/>
            <a:ext cx="151920" cy="151920"/>
          </a:xfrm>
          <a:prstGeom prst="diamond">
            <a:avLst/>
          </a:prstGeom>
          <a:solidFill>
            <a:srgbClr val="00acc1"/>
          </a:solidFill>
          <a:ln w="0">
            <a:noFill/>
          </a:ln>
        </p:spPr>
        <p:style>
          <a:lnRef idx="0"/>
          <a:fillRef idx="0"/>
          <a:effectRef idx="0"/>
          <a:fontRef idx="minor"/>
        </p:style>
      </p:sp>
      <p:sp>
        <p:nvSpPr>
          <p:cNvPr id="157" name="Text 24"/>
          <p:cNvSpPr/>
          <p:nvPr/>
        </p:nvSpPr>
        <p:spPr>
          <a:xfrm>
            <a:off x="3022560" y="7213680"/>
            <a:ext cx="12521880" cy="812520"/>
          </a:xfrm>
          <a:prstGeom prst="rect">
            <a:avLst/>
          </a:prstGeom>
          <a:noFill/>
          <a:ln w="0">
            <a:noFill/>
          </a:ln>
        </p:spPr>
        <p:style>
          <a:lnRef idx="0"/>
          <a:fillRef idx="0"/>
          <a:effectRef idx="0"/>
          <a:fontRef idx="minor"/>
        </p:style>
        <p:txBody>
          <a:bodyPr lIns="0" rIns="0" tIns="0" bIns="0" anchor="ctr">
            <a:noAutofit/>
          </a:bodyPr>
          <a:p>
            <a:pPr>
              <a:lnSpc>
                <a:spcPct val="150000"/>
              </a:lnSpc>
              <a:buNone/>
            </a:pPr>
            <a:r>
              <a:rPr b="1" lang="zh-CN" sz="1600" spc="-1" strike="noStrike">
                <a:solidFill>
                  <a:srgbClr val="ffffff"/>
                </a:solidFill>
                <a:latin typeface="Quattrocento Sans"/>
                <a:ea typeface="Quattrocento Sans"/>
              </a:rPr>
              <a:t>核心矛盾：</a:t>
            </a:r>
            <a:r>
              <a:rPr b="0" lang="zh-CN" sz="1600" spc="-1" strike="noStrike">
                <a:solidFill>
                  <a:srgbClr val="ffffff"/>
                </a:solidFill>
                <a:latin typeface="Quattrocento Sans"/>
                <a:ea typeface="Quattrocento Sans"/>
              </a:rPr>
              <a:t>推理延迟 </a:t>
            </a:r>
            <a:r>
              <a:rPr b="0" lang="en-US" sz="1600" spc="-1" strike="noStrike">
                <a:solidFill>
                  <a:srgbClr val="ffffff"/>
                </a:solidFill>
                <a:latin typeface="Quattrocento Sans"/>
                <a:ea typeface="Quattrocento Sans"/>
              </a:rPr>
              <a:t>vs </a:t>
            </a:r>
            <a:r>
              <a:rPr b="0" lang="zh-CN" sz="1600" spc="-1" strike="noStrike">
                <a:solidFill>
                  <a:srgbClr val="ffffff"/>
                </a:solidFill>
                <a:latin typeface="Quattrocento Sans"/>
                <a:ea typeface="Quattrocento Sans"/>
              </a:rPr>
              <a:t>预测价值。</a:t>
            </a:r>
            <a:r>
              <a:rPr b="0" lang="en-US" sz="1600" spc="-1" strike="noStrike">
                <a:solidFill>
                  <a:srgbClr val="ffffff"/>
                </a:solidFill>
                <a:latin typeface="Quattrocento Sans"/>
                <a:ea typeface="Quattrocento Sans"/>
              </a:rPr>
              <a:t>Cascaded</a:t>
            </a:r>
            <a:r>
              <a:rPr b="0" lang="zh-CN" sz="1600" spc="-1" strike="noStrike">
                <a:solidFill>
                  <a:srgbClr val="ffffff"/>
                </a:solidFill>
                <a:latin typeface="Quattrocento Sans"/>
                <a:ea typeface="Quattrocento Sans"/>
              </a:rPr>
              <a:t>模块化但延迟高；</a:t>
            </a:r>
            <a:r>
              <a:rPr b="0" lang="en-US" sz="1600" spc="-1" strike="noStrike">
                <a:solidFill>
                  <a:srgbClr val="ffffff"/>
                </a:solidFill>
                <a:latin typeface="Quattrocento Sans"/>
                <a:ea typeface="Quattrocento Sans"/>
              </a:rPr>
              <a:t>Joint</a:t>
            </a:r>
            <a:r>
              <a:rPr b="0" lang="zh-CN" sz="1600" spc="-1" strike="noStrike">
                <a:solidFill>
                  <a:srgbClr val="ffffff"/>
                </a:solidFill>
                <a:latin typeface="Quattrocento Sans"/>
                <a:ea typeface="Quattrocento Sans"/>
              </a:rPr>
              <a:t>端到端但复杂度高。</a:t>
            </a:r>
            <a:r>
              <a:rPr b="0" lang="en-US" sz="1600" spc="-1" strike="noStrike">
                <a:solidFill>
                  <a:srgbClr val="ffffff"/>
                </a:solidFill>
                <a:latin typeface="Quattrocento Sans"/>
                <a:ea typeface="Quattrocento Sans"/>
              </a:rPr>
              <a:t>JEPA</a:t>
            </a:r>
            <a:r>
              <a:rPr b="0" lang="zh-CN" sz="1600" spc="-1" strike="noStrike">
                <a:solidFill>
                  <a:srgbClr val="ffffff"/>
                </a:solidFill>
                <a:latin typeface="Quattrocento Sans"/>
                <a:ea typeface="Quattrocento Sans"/>
              </a:rPr>
              <a:t>路线（隐式潜在规划）在延迟和效率上天然占优。</a:t>
            </a:r>
            <a:endParaRPr b="0" lang="en-US" sz="1600" spc="-1" strike="noStrike">
              <a:latin typeface="Arial"/>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158" name="Shape 0"/>
          <p:cNvSpPr/>
          <p:nvPr/>
        </p:nvSpPr>
        <p:spPr>
          <a:xfrm>
            <a:off x="2031840" y="1778040"/>
            <a:ext cx="4825800" cy="4825800"/>
          </a:xfrm>
          <a:prstGeom prst="rect">
            <a:avLst/>
          </a:prstGeom>
          <a:solidFill>
            <a:srgbClr val="005c82">
              <a:alpha val="4000"/>
            </a:srgbClr>
          </a:solidFill>
          <a:ln w="12600">
            <a:solidFill>
              <a:srgbClr val="005c82"/>
            </a:solidFill>
            <a:round/>
          </a:ln>
        </p:spPr>
        <p:style>
          <a:lnRef idx="0"/>
          <a:fillRef idx="0"/>
          <a:effectRef idx="0"/>
          <a:fontRef idx="minor"/>
        </p:style>
      </p:sp>
      <p:sp>
        <p:nvSpPr>
          <p:cNvPr id="159" name="Shape 1"/>
          <p:cNvSpPr/>
          <p:nvPr/>
        </p:nvSpPr>
        <p:spPr>
          <a:xfrm>
            <a:off x="2540160" y="2286000"/>
            <a:ext cx="3809520" cy="3809520"/>
          </a:xfrm>
          <a:prstGeom prst="rect">
            <a:avLst/>
          </a:prstGeom>
          <a:solidFill>
            <a:srgbClr val="005c82">
              <a:alpha val="4000"/>
            </a:srgbClr>
          </a:solidFill>
          <a:ln w="12600">
            <a:solidFill>
              <a:srgbClr val="005c82"/>
            </a:solidFill>
            <a:round/>
          </a:ln>
        </p:spPr>
        <p:style>
          <a:lnRef idx="0"/>
          <a:fillRef idx="0"/>
          <a:effectRef idx="0"/>
          <a:fontRef idx="minor"/>
        </p:style>
      </p:sp>
      <p:sp>
        <p:nvSpPr>
          <p:cNvPr id="160" name="Shape 2"/>
          <p:cNvSpPr/>
          <p:nvPr/>
        </p:nvSpPr>
        <p:spPr>
          <a:xfrm>
            <a:off x="3048120" y="2793960"/>
            <a:ext cx="2793600" cy="2793600"/>
          </a:xfrm>
          <a:prstGeom prst="rect">
            <a:avLst/>
          </a:prstGeom>
          <a:solidFill>
            <a:srgbClr val="ffffff"/>
          </a:solidFill>
          <a:ln w="12600">
            <a:solidFill>
              <a:srgbClr val="005c82"/>
            </a:solidFill>
            <a:round/>
          </a:ln>
        </p:spPr>
        <p:style>
          <a:lnRef idx="0"/>
          <a:fillRef idx="0"/>
          <a:effectRef idx="0"/>
          <a:fontRef idx="minor"/>
        </p:style>
      </p:sp>
      <p:sp>
        <p:nvSpPr>
          <p:cNvPr id="161" name="Text 3"/>
          <p:cNvSpPr/>
          <p:nvPr/>
        </p:nvSpPr>
        <p:spPr>
          <a:xfrm>
            <a:off x="3048120" y="2793960"/>
            <a:ext cx="2793600" cy="27936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8000" spc="-1" strike="noStrike">
                <a:solidFill>
                  <a:srgbClr val="005c82"/>
                </a:solidFill>
                <a:latin typeface="Quattrocento Sans"/>
                <a:ea typeface="Quattrocento Sans"/>
              </a:rPr>
              <a:t>02</a:t>
            </a:r>
            <a:endParaRPr b="0" lang="en-US" sz="8000" spc="-1" strike="noStrike">
              <a:latin typeface="Arial"/>
            </a:endParaRPr>
          </a:p>
        </p:txBody>
      </p:sp>
      <p:sp>
        <p:nvSpPr>
          <p:cNvPr id="162" name="Shape 4"/>
          <p:cNvSpPr/>
          <p:nvPr/>
        </p:nvSpPr>
        <p:spPr>
          <a:xfrm>
            <a:off x="7620120" y="2793960"/>
            <a:ext cx="12240" cy="2793600"/>
          </a:xfrm>
          <a:prstGeom prst="rect">
            <a:avLst/>
          </a:prstGeom>
          <a:solidFill>
            <a:srgbClr val="b0bec5"/>
          </a:solidFill>
          <a:ln w="0">
            <a:noFill/>
          </a:ln>
        </p:spPr>
        <p:style>
          <a:lnRef idx="0"/>
          <a:fillRef idx="0"/>
          <a:effectRef idx="0"/>
          <a:fontRef idx="minor"/>
        </p:style>
      </p:sp>
      <p:sp>
        <p:nvSpPr>
          <p:cNvPr id="163" name="Text 5"/>
          <p:cNvSpPr/>
          <p:nvPr/>
        </p:nvSpPr>
        <p:spPr>
          <a:xfrm>
            <a:off x="8128080" y="2921040"/>
            <a:ext cx="711180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398" strike="noStrike">
                <a:solidFill>
                  <a:srgbClr val="00acc1"/>
                </a:solidFill>
                <a:latin typeface="Quattrocento Sans"/>
                <a:ea typeface="Quattrocento Sans"/>
              </a:rPr>
              <a:t>CHAPTER TWO</a:t>
            </a:r>
            <a:endParaRPr b="0" lang="en-US" sz="1400" spc="-1" strike="noStrike">
              <a:latin typeface="Arial"/>
            </a:endParaRPr>
          </a:p>
        </p:txBody>
      </p:sp>
      <p:sp>
        <p:nvSpPr>
          <p:cNvPr id="164" name="Text 6"/>
          <p:cNvSpPr/>
          <p:nvPr/>
        </p:nvSpPr>
        <p:spPr>
          <a:xfrm>
            <a:off x="8128080" y="3403440"/>
            <a:ext cx="73656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3600" spc="-1" strike="noStrike">
                <a:solidFill>
                  <a:srgbClr val="005c82"/>
                </a:solidFill>
                <a:latin typeface="Quattrocento Sans"/>
                <a:ea typeface="Quattrocento Sans"/>
              </a:rPr>
              <a:t>JEPA</a:t>
            </a:r>
            <a:r>
              <a:rPr b="1" lang="zh-CN" sz="3600" spc="-1" strike="noStrike">
                <a:solidFill>
                  <a:srgbClr val="005c82"/>
                </a:solidFill>
                <a:latin typeface="Quattrocento Sans"/>
                <a:ea typeface="Quattrocento Sans"/>
              </a:rPr>
              <a:t>架构蓝图</a:t>
            </a:r>
            <a:endParaRPr b="0" lang="en-US" sz="3600" spc="-1" strike="noStrike">
              <a:latin typeface="Arial"/>
            </a:endParaRPr>
          </a:p>
        </p:txBody>
      </p:sp>
      <p:sp>
        <p:nvSpPr>
          <p:cNvPr id="165" name="Text 7"/>
          <p:cNvSpPr/>
          <p:nvPr/>
        </p:nvSpPr>
        <p:spPr>
          <a:xfrm>
            <a:off x="8128080" y="4419720"/>
            <a:ext cx="7365600" cy="634680"/>
          </a:xfrm>
          <a:prstGeom prst="rect">
            <a:avLst/>
          </a:prstGeom>
          <a:noFill/>
          <a:ln w="0">
            <a:noFill/>
          </a:ln>
        </p:spPr>
        <p:style>
          <a:lnRef idx="0"/>
          <a:fillRef idx="0"/>
          <a:effectRef idx="0"/>
          <a:fontRef idx="minor"/>
        </p:style>
        <p:txBody>
          <a:bodyPr lIns="0" rIns="0" tIns="0" bIns="0" anchor="t">
            <a:noAutofit/>
          </a:bodyPr>
          <a:p>
            <a:pPr>
              <a:lnSpc>
                <a:spcPct val="140000"/>
              </a:lnSpc>
              <a:buNone/>
            </a:pPr>
            <a:r>
              <a:rPr b="0" lang="en-US" sz="1400" spc="-1" strike="noStrike">
                <a:solidFill>
                  <a:srgbClr val="b0bec5"/>
                </a:solidFill>
                <a:latin typeface="Quattrocento Sans"/>
                <a:ea typeface="Quattrocento Sans"/>
              </a:rPr>
              <a:t>A Path Towards Autonomous Machine Intelligence</a:t>
            </a:r>
            <a:endParaRPr b="0" lang="en-US" sz="1400" spc="-1" strike="noStrike">
              <a:latin typeface="Arial"/>
            </a:endParaRPr>
          </a:p>
          <a:p>
            <a:pPr>
              <a:lnSpc>
                <a:spcPct val="140000"/>
              </a:lnSpc>
              <a:buNone/>
            </a:pPr>
            <a:r>
              <a:rPr b="0" lang="en-US" sz="1400" spc="-1" strike="noStrike">
                <a:solidFill>
                  <a:srgbClr val="b0bec5"/>
                </a:solidFill>
                <a:latin typeface="Quattrocento Sans"/>
                <a:ea typeface="Quattrocento Sans"/>
              </a:rPr>
              <a:t>LeCun, 2022</a:t>
            </a:r>
            <a:endParaRPr b="0" lang="en-US" sz="1400" spc="-1" strike="noStrike">
              <a:latin typeface="Arial"/>
            </a:endParaRPr>
          </a:p>
        </p:txBody>
      </p:sp>
      <p:sp>
        <p:nvSpPr>
          <p:cNvPr id="166" name="Shape 8"/>
          <p:cNvSpPr/>
          <p:nvPr/>
        </p:nvSpPr>
        <p:spPr>
          <a:xfrm>
            <a:off x="8128080" y="5207040"/>
            <a:ext cx="2539800" cy="25200"/>
          </a:xfrm>
          <a:prstGeom prst="rect">
            <a:avLst/>
          </a:prstGeom>
          <a:solidFill>
            <a:srgbClr val="00acc1"/>
          </a:solidFill>
          <a:ln w="0">
            <a:noFill/>
          </a:ln>
        </p:spPr>
        <p:style>
          <a:lnRef idx="0"/>
          <a:fillRef idx="0"/>
          <a:effectRef idx="0"/>
          <a:fontRef idx="minor"/>
        </p:style>
      </p:sp>
      <p:sp>
        <p:nvSpPr>
          <p:cNvPr id="167" name="Text 9"/>
          <p:cNvSpPr/>
          <p:nvPr/>
        </p:nvSpPr>
        <p:spPr>
          <a:xfrm>
            <a:off x="8128080" y="54608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2.1</a:t>
            </a:r>
            <a:r>
              <a:rPr b="0" lang="zh-CN" sz="1500" spc="-1" strike="noStrike">
                <a:solidFill>
                  <a:srgbClr val="333333"/>
                </a:solidFill>
                <a:latin typeface="Quattrocento Sans"/>
                <a:ea typeface="Quattrocento Sans"/>
              </a:rPr>
              <a:t>　六模块认知架构</a:t>
            </a:r>
            <a:endParaRPr b="0" lang="en-US" sz="1500" spc="-1" strike="noStrike">
              <a:latin typeface="Arial"/>
            </a:endParaRPr>
          </a:p>
        </p:txBody>
      </p:sp>
      <p:sp>
        <p:nvSpPr>
          <p:cNvPr id="168" name="Text 10"/>
          <p:cNvSpPr/>
          <p:nvPr/>
        </p:nvSpPr>
        <p:spPr>
          <a:xfrm>
            <a:off x="8128080" y="59180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2.2</a:t>
            </a:r>
            <a:r>
              <a:rPr b="0" lang="zh-CN" sz="1500" spc="-1" strike="noStrike">
                <a:solidFill>
                  <a:srgbClr val="333333"/>
                </a:solidFill>
                <a:latin typeface="Quattrocento Sans"/>
                <a:ea typeface="Quattrocento Sans"/>
              </a:rPr>
              <a:t>　</a:t>
            </a:r>
            <a:r>
              <a:rPr b="0" lang="en-US" sz="1500" spc="-1" strike="noStrike">
                <a:solidFill>
                  <a:srgbClr val="333333"/>
                </a:solidFill>
                <a:latin typeface="Quattrocento Sans"/>
                <a:ea typeface="Quattrocento Sans"/>
              </a:rPr>
              <a:t>JEPA</a:t>
            </a:r>
            <a:r>
              <a:rPr b="0" lang="zh-CN" sz="1500" spc="-1" strike="noStrike">
                <a:solidFill>
                  <a:srgbClr val="333333"/>
                </a:solidFill>
                <a:latin typeface="Quattrocento Sans"/>
                <a:ea typeface="Quattrocento Sans"/>
              </a:rPr>
              <a:t>核心：表征空间预测</a:t>
            </a:r>
            <a:endParaRPr b="0" lang="en-US" sz="1500" spc="-1" strike="noStrike">
              <a:latin typeface="Arial"/>
            </a:endParaRPr>
          </a:p>
        </p:txBody>
      </p:sp>
      <p:sp>
        <p:nvSpPr>
          <p:cNvPr id="169" name="Text 11"/>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6</a:t>
            </a:r>
            <a:endParaRPr b="0" lang="en-US" sz="1400" spc="-1" strike="noStrike">
              <a:latin typeface="Arial"/>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170"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171"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172" name="Shape 2"/>
          <p:cNvSpPr/>
          <p:nvPr/>
        </p:nvSpPr>
        <p:spPr>
          <a:xfrm>
            <a:off x="0" y="2184480"/>
            <a:ext cx="2285640" cy="1168200"/>
          </a:xfrm>
          <a:prstGeom prst="rect">
            <a:avLst/>
          </a:prstGeom>
          <a:solidFill>
            <a:srgbClr val="005c82"/>
          </a:solidFill>
          <a:ln w="0">
            <a:noFill/>
          </a:ln>
        </p:spPr>
        <p:style>
          <a:lnRef idx="0"/>
          <a:fillRef idx="0"/>
          <a:effectRef idx="0"/>
          <a:fontRef idx="minor"/>
        </p:style>
      </p:sp>
      <p:sp>
        <p:nvSpPr>
          <p:cNvPr id="173"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174"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02 JEPA</a:t>
            </a:r>
            <a:r>
              <a:rPr b="1" lang="zh-CN" sz="1800" spc="-1" strike="noStrike">
                <a:solidFill>
                  <a:srgbClr val="ffffff"/>
                </a:solidFill>
                <a:latin typeface="Quattrocento Sans"/>
                <a:ea typeface="Quattrocento Sans"/>
              </a:rPr>
              <a:t>蓝图</a:t>
            </a:r>
            <a:endParaRPr b="0" lang="en-US" sz="1800" spc="-1" strike="noStrike">
              <a:latin typeface="Arial"/>
            </a:endParaRPr>
          </a:p>
        </p:txBody>
      </p:sp>
      <p:sp>
        <p:nvSpPr>
          <p:cNvPr id="175"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176"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177"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178"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179"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180"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2.1 </a:t>
            </a:r>
            <a:r>
              <a:rPr b="0" lang="zh-CN" sz="1400" spc="-1" strike="noStrike">
                <a:solidFill>
                  <a:srgbClr val="005c82"/>
                </a:solidFill>
                <a:latin typeface="Quattrocento Sans"/>
                <a:ea typeface="Quattrocento Sans"/>
              </a:rPr>
              <a:t>六模块认知架构</a:t>
            </a:r>
            <a:endParaRPr b="0" lang="en-US" sz="1400" spc="-1" strike="noStrike">
              <a:latin typeface="Arial"/>
            </a:endParaRPr>
          </a:p>
        </p:txBody>
      </p:sp>
      <p:sp>
        <p:nvSpPr>
          <p:cNvPr id="181"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07</a:t>
            </a:r>
            <a:endParaRPr b="0" lang="en-US" sz="1400" spc="-1" strike="noStrike">
              <a:latin typeface="Arial"/>
            </a:endParaRPr>
          </a:p>
        </p:txBody>
      </p:sp>
      <p:sp>
        <p:nvSpPr>
          <p:cNvPr id="182"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六模块认知架构与核心原则</a:t>
            </a:r>
            <a:endParaRPr b="0" lang="en-US" sz="2400" spc="-1" strike="noStrike">
              <a:latin typeface="Arial"/>
            </a:endParaRPr>
          </a:p>
        </p:txBody>
      </p:sp>
      <p:sp>
        <p:nvSpPr>
          <p:cNvPr id="183"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184" name="Shape 14"/>
          <p:cNvSpPr/>
          <p:nvPr/>
        </p:nvSpPr>
        <p:spPr>
          <a:xfrm>
            <a:off x="2540160" y="1600200"/>
            <a:ext cx="2031480" cy="761760"/>
          </a:xfrm>
          <a:prstGeom prst="roundRect">
            <a:avLst>
              <a:gd name="adj" fmla="val 8000"/>
            </a:avLst>
          </a:prstGeom>
          <a:solidFill>
            <a:srgbClr val="005c82"/>
          </a:solidFill>
          <a:ln w="0">
            <a:noFill/>
          </a:ln>
        </p:spPr>
        <p:style>
          <a:lnRef idx="0"/>
          <a:fillRef idx="0"/>
          <a:effectRef idx="0"/>
          <a:fontRef idx="minor"/>
        </p:style>
      </p:sp>
      <p:sp>
        <p:nvSpPr>
          <p:cNvPr id="185" name="Text 15"/>
          <p:cNvSpPr/>
          <p:nvPr/>
        </p:nvSpPr>
        <p:spPr>
          <a:xfrm>
            <a:off x="2540160" y="1600200"/>
            <a:ext cx="203148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400" spc="-1" strike="noStrike">
                <a:solidFill>
                  <a:srgbClr val="ffffff"/>
                </a:solidFill>
                <a:latin typeface="Quattrocento Sans"/>
                <a:ea typeface="Quattrocento Sans"/>
              </a:rPr>
              <a:t>Perception</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感知编码器</a:t>
            </a:r>
            <a:endParaRPr b="0" lang="en-US" sz="1400" spc="-1" strike="noStrike">
              <a:latin typeface="Arial"/>
            </a:endParaRPr>
          </a:p>
        </p:txBody>
      </p:sp>
      <p:sp>
        <p:nvSpPr>
          <p:cNvPr id="186" name="Shape 16"/>
          <p:cNvSpPr/>
          <p:nvPr/>
        </p:nvSpPr>
        <p:spPr>
          <a:xfrm>
            <a:off x="4673520" y="1879560"/>
            <a:ext cx="304560" cy="202680"/>
          </a:xfrm>
          <a:prstGeom prst="rightArrow">
            <a:avLst>
              <a:gd name="adj1" fmla="val 50000"/>
              <a:gd name="adj2" fmla="val 50000"/>
            </a:avLst>
          </a:prstGeom>
          <a:solidFill>
            <a:srgbClr val="005c82"/>
          </a:solidFill>
          <a:ln w="0">
            <a:noFill/>
          </a:ln>
        </p:spPr>
        <p:style>
          <a:lnRef idx="0"/>
          <a:fillRef idx="0"/>
          <a:effectRef idx="0"/>
          <a:fontRef idx="minor"/>
        </p:style>
      </p:sp>
      <p:sp>
        <p:nvSpPr>
          <p:cNvPr id="187" name="Shape 17"/>
          <p:cNvSpPr/>
          <p:nvPr/>
        </p:nvSpPr>
        <p:spPr>
          <a:xfrm>
            <a:off x="5079960" y="1600200"/>
            <a:ext cx="2031480" cy="761760"/>
          </a:xfrm>
          <a:prstGeom prst="roundRect">
            <a:avLst>
              <a:gd name="adj" fmla="val 8000"/>
            </a:avLst>
          </a:prstGeom>
          <a:solidFill>
            <a:srgbClr val="007aa8"/>
          </a:solidFill>
          <a:ln w="12600">
            <a:solidFill>
              <a:srgbClr val="00acc1"/>
            </a:solidFill>
            <a:round/>
          </a:ln>
        </p:spPr>
        <p:style>
          <a:lnRef idx="0"/>
          <a:fillRef idx="0"/>
          <a:effectRef idx="0"/>
          <a:fontRef idx="minor"/>
        </p:style>
      </p:sp>
      <p:sp>
        <p:nvSpPr>
          <p:cNvPr id="188" name="Text 18"/>
          <p:cNvSpPr/>
          <p:nvPr/>
        </p:nvSpPr>
        <p:spPr>
          <a:xfrm>
            <a:off x="5079960" y="1600200"/>
            <a:ext cx="203148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400" spc="-1" strike="noStrike">
                <a:solidFill>
                  <a:srgbClr val="ffffff"/>
                </a:solidFill>
                <a:latin typeface="Quattrocento Sans"/>
                <a:ea typeface="Quattrocento Sans"/>
              </a:rPr>
              <a:t>World Model</a:t>
            </a:r>
            <a:endParaRPr b="0" lang="en-US" sz="1400" spc="-1" strike="noStrike">
              <a:latin typeface="Arial"/>
            </a:endParaRPr>
          </a:p>
          <a:p>
            <a:pPr algn="ctr">
              <a:lnSpc>
                <a:spcPct val="120000"/>
              </a:lnSpc>
              <a:buNone/>
            </a:pPr>
            <a:r>
              <a:rPr b="0" lang="en-US" sz="1400" spc="-1" strike="noStrike">
                <a:solidFill>
                  <a:srgbClr val="ffffff"/>
                </a:solidFill>
                <a:latin typeface="Quattrocento Sans"/>
                <a:ea typeface="Quattrocento Sans"/>
              </a:rPr>
              <a:t>H-JEPA (</a:t>
            </a:r>
            <a:r>
              <a:rPr b="0" lang="zh-CN" sz="1400" spc="-1" strike="noStrike">
                <a:solidFill>
                  <a:srgbClr val="ffffff"/>
                </a:solidFill>
                <a:latin typeface="Quattrocento Sans"/>
                <a:ea typeface="Quattrocento Sans"/>
              </a:rPr>
              <a:t>核心</a:t>
            </a:r>
            <a:r>
              <a:rPr b="0" lang="en-US" sz="1400" spc="-1" strike="noStrike">
                <a:solidFill>
                  <a:srgbClr val="ffffff"/>
                </a:solidFill>
                <a:latin typeface="Quattrocento Sans"/>
                <a:ea typeface="Quattrocento Sans"/>
              </a:rPr>
              <a:t>)</a:t>
            </a:r>
            <a:endParaRPr b="0" lang="en-US" sz="1400" spc="-1" strike="noStrike">
              <a:latin typeface="Arial"/>
            </a:endParaRPr>
          </a:p>
        </p:txBody>
      </p:sp>
      <p:sp>
        <p:nvSpPr>
          <p:cNvPr id="189" name="Shape 19"/>
          <p:cNvSpPr/>
          <p:nvPr/>
        </p:nvSpPr>
        <p:spPr>
          <a:xfrm>
            <a:off x="7213680" y="1879560"/>
            <a:ext cx="304560" cy="202680"/>
          </a:xfrm>
          <a:prstGeom prst="rightArrow">
            <a:avLst>
              <a:gd name="adj1" fmla="val 50000"/>
              <a:gd name="adj2" fmla="val 50000"/>
            </a:avLst>
          </a:prstGeom>
          <a:solidFill>
            <a:srgbClr val="007aa8"/>
          </a:solidFill>
          <a:ln w="0">
            <a:noFill/>
          </a:ln>
        </p:spPr>
        <p:style>
          <a:lnRef idx="0"/>
          <a:fillRef idx="0"/>
          <a:effectRef idx="0"/>
          <a:fontRef idx="minor"/>
        </p:style>
      </p:sp>
      <p:sp>
        <p:nvSpPr>
          <p:cNvPr id="190" name="Shape 20"/>
          <p:cNvSpPr/>
          <p:nvPr/>
        </p:nvSpPr>
        <p:spPr>
          <a:xfrm>
            <a:off x="7620120" y="1600200"/>
            <a:ext cx="2031480" cy="761760"/>
          </a:xfrm>
          <a:prstGeom prst="roundRect">
            <a:avLst>
              <a:gd name="adj" fmla="val 8000"/>
            </a:avLst>
          </a:prstGeom>
          <a:solidFill>
            <a:srgbClr val="005c82"/>
          </a:solidFill>
          <a:ln w="0">
            <a:noFill/>
          </a:ln>
        </p:spPr>
        <p:style>
          <a:lnRef idx="0"/>
          <a:fillRef idx="0"/>
          <a:effectRef idx="0"/>
          <a:fontRef idx="minor"/>
        </p:style>
      </p:sp>
      <p:sp>
        <p:nvSpPr>
          <p:cNvPr id="191" name="Text 21"/>
          <p:cNvSpPr/>
          <p:nvPr/>
        </p:nvSpPr>
        <p:spPr>
          <a:xfrm>
            <a:off x="7620120" y="1600200"/>
            <a:ext cx="203148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400" spc="-1" strike="noStrike">
                <a:solidFill>
                  <a:srgbClr val="ffffff"/>
                </a:solidFill>
                <a:latin typeface="Quattrocento Sans"/>
                <a:ea typeface="Quattrocento Sans"/>
              </a:rPr>
              <a:t>Actor</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行动器</a:t>
            </a:r>
            <a:endParaRPr b="0" lang="en-US" sz="1400" spc="-1" strike="noStrike">
              <a:latin typeface="Arial"/>
            </a:endParaRPr>
          </a:p>
        </p:txBody>
      </p:sp>
      <p:sp>
        <p:nvSpPr>
          <p:cNvPr id="192" name="Shape 22"/>
          <p:cNvSpPr/>
          <p:nvPr/>
        </p:nvSpPr>
        <p:spPr>
          <a:xfrm>
            <a:off x="9753480" y="1879560"/>
            <a:ext cx="304560" cy="202680"/>
          </a:xfrm>
          <a:prstGeom prst="rightArrow">
            <a:avLst>
              <a:gd name="adj1" fmla="val 50000"/>
              <a:gd name="adj2" fmla="val 50000"/>
            </a:avLst>
          </a:prstGeom>
          <a:solidFill>
            <a:srgbClr val="005c82"/>
          </a:solidFill>
          <a:ln w="0">
            <a:noFill/>
          </a:ln>
        </p:spPr>
        <p:style>
          <a:lnRef idx="0"/>
          <a:fillRef idx="0"/>
          <a:effectRef idx="0"/>
          <a:fontRef idx="minor"/>
        </p:style>
      </p:sp>
      <p:sp>
        <p:nvSpPr>
          <p:cNvPr id="193" name="Shape 23"/>
          <p:cNvSpPr/>
          <p:nvPr/>
        </p:nvSpPr>
        <p:spPr>
          <a:xfrm>
            <a:off x="10159920" y="1600200"/>
            <a:ext cx="2031480" cy="761760"/>
          </a:xfrm>
          <a:prstGeom prst="roundRect">
            <a:avLst>
              <a:gd name="adj" fmla="val 8000"/>
            </a:avLst>
          </a:prstGeom>
          <a:solidFill>
            <a:srgbClr val="00acc1"/>
          </a:solidFill>
          <a:ln w="0">
            <a:noFill/>
          </a:ln>
        </p:spPr>
        <p:style>
          <a:lnRef idx="0"/>
          <a:fillRef idx="0"/>
          <a:effectRef idx="0"/>
          <a:fontRef idx="minor"/>
        </p:style>
      </p:sp>
      <p:sp>
        <p:nvSpPr>
          <p:cNvPr id="194" name="Text 24"/>
          <p:cNvSpPr/>
          <p:nvPr/>
        </p:nvSpPr>
        <p:spPr>
          <a:xfrm>
            <a:off x="10159920" y="1600200"/>
            <a:ext cx="203148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400" spc="-1" strike="noStrike">
                <a:solidFill>
                  <a:srgbClr val="ffffff"/>
                </a:solidFill>
                <a:latin typeface="Quattrocento Sans"/>
                <a:ea typeface="Quattrocento Sans"/>
              </a:rPr>
              <a:t>Cost Module</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代价模块</a:t>
            </a:r>
            <a:endParaRPr b="0" lang="en-US" sz="1400" spc="-1" strike="noStrike">
              <a:latin typeface="Arial"/>
            </a:endParaRPr>
          </a:p>
        </p:txBody>
      </p:sp>
      <p:sp>
        <p:nvSpPr>
          <p:cNvPr id="195" name="Shape 25"/>
          <p:cNvSpPr/>
          <p:nvPr/>
        </p:nvSpPr>
        <p:spPr>
          <a:xfrm>
            <a:off x="12420720" y="1600200"/>
            <a:ext cx="1650600" cy="761760"/>
          </a:xfrm>
          <a:prstGeom prst="roundRect">
            <a:avLst>
              <a:gd name="adj" fmla="val 8000"/>
            </a:avLst>
          </a:prstGeom>
          <a:solidFill>
            <a:srgbClr val="b0bec5"/>
          </a:solidFill>
          <a:ln w="0">
            <a:noFill/>
          </a:ln>
        </p:spPr>
        <p:style>
          <a:lnRef idx="0"/>
          <a:fillRef idx="0"/>
          <a:effectRef idx="0"/>
          <a:fontRef idx="minor"/>
        </p:style>
      </p:sp>
      <p:sp>
        <p:nvSpPr>
          <p:cNvPr id="196" name="Text 26"/>
          <p:cNvSpPr/>
          <p:nvPr/>
        </p:nvSpPr>
        <p:spPr>
          <a:xfrm>
            <a:off x="12420720" y="1600200"/>
            <a:ext cx="165060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Short-Term</a:t>
            </a:r>
            <a:endParaRPr b="0" lang="en-US" sz="1300" spc="-1" strike="noStrike">
              <a:latin typeface="Arial"/>
            </a:endParaRPr>
          </a:p>
          <a:p>
            <a:pPr algn="ctr">
              <a:lnSpc>
                <a:spcPct val="120000"/>
              </a:lnSpc>
              <a:buNone/>
            </a:pPr>
            <a:r>
              <a:rPr b="0" lang="en-US" sz="1300" spc="-1" strike="noStrike">
                <a:solidFill>
                  <a:srgbClr val="ffffff"/>
                </a:solidFill>
                <a:latin typeface="Quattrocento Sans"/>
                <a:ea typeface="Quattrocento Sans"/>
              </a:rPr>
              <a:t>Memory</a:t>
            </a:r>
            <a:endParaRPr b="0" lang="en-US" sz="1300" spc="-1" strike="noStrike">
              <a:latin typeface="Arial"/>
            </a:endParaRPr>
          </a:p>
        </p:txBody>
      </p:sp>
      <p:sp>
        <p:nvSpPr>
          <p:cNvPr id="197" name="Shape 27"/>
          <p:cNvSpPr/>
          <p:nvPr/>
        </p:nvSpPr>
        <p:spPr>
          <a:xfrm>
            <a:off x="2540160" y="2590920"/>
            <a:ext cx="13207680" cy="126972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198" name="Text 28"/>
          <p:cNvSpPr/>
          <p:nvPr/>
        </p:nvSpPr>
        <p:spPr>
          <a:xfrm>
            <a:off x="2793960" y="2666880"/>
            <a:ext cx="3809520" cy="3297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005c82"/>
                </a:solidFill>
                <a:latin typeface="Quattrocento Sans"/>
                <a:ea typeface="Quattrocento Sans"/>
              </a:rPr>
              <a:t>核心原则：全部可微</a:t>
            </a:r>
            <a:endParaRPr b="0" lang="en-US" sz="1800" spc="-1" strike="noStrike">
              <a:latin typeface="Arial"/>
            </a:endParaRPr>
          </a:p>
        </p:txBody>
      </p:sp>
      <p:sp>
        <p:nvSpPr>
          <p:cNvPr id="199" name="Text 29"/>
          <p:cNvSpPr/>
          <p:nvPr/>
        </p:nvSpPr>
        <p:spPr>
          <a:xfrm>
            <a:off x="2793960" y="3048120"/>
            <a:ext cx="12699720" cy="71100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600" spc="-1" strike="noStrike">
                <a:solidFill>
                  <a:srgbClr val="333333"/>
                </a:solidFill>
                <a:latin typeface="Quattrocento Sans"/>
                <a:ea typeface="Quattrocento Sans"/>
              </a:rPr>
              <a:t>整个架构（感知、预测、决策、规划）都可用</a:t>
            </a:r>
            <a:r>
              <a:rPr b="1" lang="zh-CN" sz="1600" spc="-1" strike="noStrike">
                <a:solidFill>
                  <a:srgbClr val="333333"/>
                </a:solidFill>
                <a:latin typeface="Quattrocento Sans"/>
                <a:ea typeface="Quattrocento Sans"/>
              </a:rPr>
              <a:t>梯度下降</a:t>
            </a:r>
            <a:r>
              <a:rPr b="0" lang="zh-CN" sz="1600" spc="-1" strike="noStrike">
                <a:solidFill>
                  <a:srgbClr val="333333"/>
                </a:solidFill>
                <a:latin typeface="Quattrocento Sans"/>
                <a:ea typeface="Quattrocento Sans"/>
              </a:rPr>
              <a:t>同时优化，</a:t>
            </a:r>
            <a:r>
              <a:rPr b="0" lang="zh-CN" sz="1600" spc="-1" strike="noStrike">
                <a:solidFill>
                  <a:srgbClr val="333333"/>
                </a:solidFill>
                <a:latin typeface="Quattrocento Sans"/>
                <a:ea typeface="Quattrocento Sans"/>
              </a:rPr>
              <a:t>不需要分离的训练阶段。</a:t>
            </a:r>
            <a:r>
              <a:rPr b="0" lang="en-US" sz="1600" spc="-1" strike="noStrike">
                <a:solidFill>
                  <a:srgbClr val="333333"/>
                </a:solidFill>
                <a:latin typeface="Quattrocento Sans"/>
                <a:ea typeface="Quattrocento Sans"/>
              </a:rPr>
              <a:t>SSL</a:t>
            </a:r>
            <a:r>
              <a:rPr b="0" lang="zh-CN" sz="1600" spc="-1" strike="noStrike">
                <a:solidFill>
                  <a:srgbClr val="333333"/>
                </a:solidFill>
                <a:latin typeface="Quattrocento Sans"/>
                <a:ea typeface="Quattrocento Sans"/>
              </a:rPr>
              <a:t>训练</a:t>
            </a:r>
            <a:r>
              <a:rPr b="0" lang="en-US" sz="1600" spc="-1" strike="noStrike">
                <a:solidFill>
                  <a:srgbClr val="333333"/>
                </a:solidFill>
                <a:latin typeface="Quattrocento Sans"/>
                <a:ea typeface="Quattrocento Sans"/>
              </a:rPr>
              <a:t>World Model</a:t>
            </a:r>
            <a:r>
              <a:rPr b="0" lang="zh-CN" sz="1600" spc="-1" strike="noStrike">
                <a:solidFill>
                  <a:srgbClr val="333333"/>
                </a:solidFill>
                <a:latin typeface="Quattrocento Sans"/>
                <a:ea typeface="Quattrocento Sans"/>
              </a:rPr>
              <a:t>和</a:t>
            </a:r>
            <a:r>
              <a:rPr b="0" lang="en-US" sz="1600" spc="-1" strike="noStrike">
                <a:solidFill>
                  <a:srgbClr val="333333"/>
                </a:solidFill>
                <a:latin typeface="Quattrocento Sans"/>
                <a:ea typeface="Quattrocento Sans"/>
              </a:rPr>
              <a:t>Perception</a:t>
            </a:r>
            <a:r>
              <a:rPr b="0" lang="zh-CN" sz="1600" spc="-1" strike="noStrike">
                <a:solidFill>
                  <a:srgbClr val="333333"/>
                </a:solidFill>
                <a:latin typeface="Quattrocento Sans"/>
                <a:ea typeface="Quattrocento Sans"/>
              </a:rPr>
              <a:t>，</a:t>
            </a:r>
            <a:r>
              <a:rPr b="0" lang="en-US" sz="1600" spc="-1" strike="noStrike">
                <a:solidFill>
                  <a:srgbClr val="333333"/>
                </a:solidFill>
                <a:latin typeface="Quattrocento Sans"/>
                <a:ea typeface="Quattrocento Sans"/>
              </a:rPr>
              <a:t>SL</a:t>
            </a:r>
            <a:r>
              <a:rPr b="0" lang="zh-CN" sz="1600" spc="-1" strike="noStrike">
                <a:solidFill>
                  <a:srgbClr val="333333"/>
                </a:solidFill>
                <a:latin typeface="Quattrocento Sans"/>
                <a:ea typeface="Quattrocento Sans"/>
              </a:rPr>
              <a:t>训练</a:t>
            </a:r>
            <a:r>
              <a:rPr b="0" lang="en-US" sz="1600" spc="-1" strike="noStrike">
                <a:solidFill>
                  <a:srgbClr val="333333"/>
                </a:solidFill>
                <a:latin typeface="Quattrocento Sans"/>
                <a:ea typeface="Quattrocento Sans"/>
              </a:rPr>
              <a:t>Actor</a:t>
            </a:r>
            <a:r>
              <a:rPr b="0" lang="zh-CN" sz="1600" spc="-1" strike="noStrike">
                <a:solidFill>
                  <a:srgbClr val="333333"/>
                </a:solidFill>
                <a:latin typeface="Quattrocento Sans"/>
                <a:ea typeface="Quattrocento Sans"/>
              </a:rPr>
              <a:t>，</a:t>
            </a:r>
            <a:r>
              <a:rPr b="0" lang="en-US" sz="1600" spc="-1" strike="noStrike">
                <a:solidFill>
                  <a:srgbClr val="333333"/>
                </a:solidFill>
                <a:latin typeface="Quattrocento Sans"/>
                <a:ea typeface="Quattrocento Sans"/>
              </a:rPr>
              <a:t>RL</a:t>
            </a:r>
            <a:r>
              <a:rPr b="0" lang="zh-CN" sz="1600" spc="-1" strike="noStrike">
                <a:solidFill>
                  <a:srgbClr val="333333"/>
                </a:solidFill>
                <a:latin typeface="Quattrocento Sans"/>
                <a:ea typeface="Quattrocento Sans"/>
              </a:rPr>
              <a:t>仅用于调节</a:t>
            </a:r>
            <a:r>
              <a:rPr b="0" lang="en-US" sz="1600" spc="-1" strike="noStrike">
                <a:solidFill>
                  <a:srgbClr val="333333"/>
                </a:solidFill>
                <a:latin typeface="Quattrocento Sans"/>
                <a:ea typeface="Quattrocento Sans"/>
              </a:rPr>
              <a:t>Intrinsic Cost</a:t>
            </a:r>
            <a:r>
              <a:rPr b="0" lang="zh-CN" sz="1600" spc="-1" strike="noStrike">
                <a:solidFill>
                  <a:srgbClr val="333333"/>
                </a:solidFill>
                <a:latin typeface="Quattrocento Sans"/>
                <a:ea typeface="Quattrocento Sans"/>
              </a:rPr>
              <a:t>。</a:t>
            </a:r>
            <a:endParaRPr b="0" lang="en-US" sz="1600" spc="-1" strike="noStrike">
              <a:latin typeface="Arial"/>
            </a:endParaRPr>
          </a:p>
        </p:txBody>
      </p:sp>
      <p:sp>
        <p:nvSpPr>
          <p:cNvPr id="200" name="Shape 30"/>
          <p:cNvSpPr/>
          <p:nvPr/>
        </p:nvSpPr>
        <p:spPr>
          <a:xfrm>
            <a:off x="2540160" y="4064040"/>
            <a:ext cx="4063680" cy="1777680"/>
          </a:xfrm>
          <a:prstGeom prst="roundRect">
            <a:avLst>
              <a:gd name="adj" fmla="val 4000"/>
            </a:avLst>
          </a:prstGeom>
          <a:solidFill>
            <a:srgbClr val="005c82"/>
          </a:solidFill>
          <a:ln w="0">
            <a:noFill/>
          </a:ln>
        </p:spPr>
        <p:style>
          <a:lnRef idx="0"/>
          <a:fillRef idx="0"/>
          <a:effectRef idx="0"/>
          <a:fontRef idx="minor"/>
        </p:style>
      </p:sp>
      <p:sp>
        <p:nvSpPr>
          <p:cNvPr id="201" name="Text 31"/>
          <p:cNvSpPr/>
          <p:nvPr/>
        </p:nvSpPr>
        <p:spPr>
          <a:xfrm>
            <a:off x="2743200" y="4165560"/>
            <a:ext cx="3657240" cy="15742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ffffff"/>
                </a:solidFill>
                <a:latin typeface="Quattrocento Sans"/>
                <a:ea typeface="Quattrocento Sans"/>
              </a:rPr>
              <a:t>自监督学习 </a:t>
            </a:r>
            <a:r>
              <a:rPr b="1" lang="en-US" sz="1500" spc="-1" strike="noStrike">
                <a:solidFill>
                  <a:srgbClr val="ffffff"/>
                </a:solidFill>
                <a:latin typeface="Quattrocento Sans"/>
                <a:ea typeface="Quattrocento Sans"/>
              </a:rPr>
              <a:t>SSL</a:t>
            </a:r>
            <a:endParaRPr b="0" lang="en-US" sz="1500" spc="-1" strike="noStrike">
              <a:latin typeface="Arial"/>
            </a:endParaRPr>
          </a:p>
          <a:p>
            <a:pPr>
              <a:lnSpc>
                <a:spcPct val="150000"/>
              </a:lnSpc>
              <a:spcBef>
                <a:spcPts val="400"/>
              </a:spcBef>
              <a:buNone/>
            </a:pPr>
            <a:r>
              <a:rPr b="0" lang="zh-CN" sz="1500" spc="-1" strike="noStrike">
                <a:solidFill>
                  <a:srgbClr val="ffffff">
                    <a:alpha val="80000"/>
                  </a:srgbClr>
                </a:solidFill>
                <a:latin typeface="Quattrocento Sans"/>
                <a:ea typeface="Quattrocento Sans"/>
              </a:rPr>
              <a:t>训练</a:t>
            </a:r>
            <a:r>
              <a:rPr b="0" lang="en-US" sz="1500" spc="-1" strike="noStrike">
                <a:solidFill>
                  <a:srgbClr val="ffffff">
                    <a:alpha val="80000"/>
                  </a:srgbClr>
                </a:solidFill>
                <a:latin typeface="Quattrocento Sans"/>
                <a:ea typeface="Quattrocento Sans"/>
              </a:rPr>
              <a:t>World Model</a:t>
            </a:r>
            <a:r>
              <a:rPr b="0" lang="zh-CN" sz="1500" spc="-1" strike="noStrike">
                <a:solidFill>
                  <a:srgbClr val="ffffff">
                    <a:alpha val="80000"/>
                  </a:srgbClr>
                </a:solidFill>
                <a:latin typeface="Quattrocento Sans"/>
                <a:ea typeface="Quattrocento Sans"/>
              </a:rPr>
              <a:t>和</a:t>
            </a:r>
            <a:r>
              <a:rPr b="0" lang="en-US" sz="1500" spc="-1" strike="noStrike">
                <a:solidFill>
                  <a:srgbClr val="ffffff">
                    <a:alpha val="80000"/>
                  </a:srgbClr>
                </a:solidFill>
                <a:latin typeface="Quattrocento Sans"/>
                <a:ea typeface="Quattrocento Sans"/>
              </a:rPr>
              <a:t>Perception</a:t>
            </a:r>
            <a:endParaRPr b="0" lang="en-US" sz="1500" spc="-1" strike="noStrike">
              <a:latin typeface="Arial"/>
            </a:endParaRPr>
          </a:p>
          <a:p>
            <a:pPr>
              <a:lnSpc>
                <a:spcPct val="150000"/>
              </a:lnSpc>
              <a:buNone/>
            </a:pPr>
            <a:r>
              <a:rPr b="0" lang="zh-CN" sz="1500" spc="-1" strike="noStrike">
                <a:solidFill>
                  <a:srgbClr val="ffffff">
                    <a:alpha val="80000"/>
                  </a:srgbClr>
                </a:solidFill>
                <a:latin typeface="Quattrocento Sans"/>
                <a:ea typeface="Quattrocento Sans"/>
              </a:rPr>
              <a:t>婴儿观察世界建立直觉物理</a:t>
            </a:r>
            <a:endParaRPr b="0" lang="en-US" sz="1500" spc="-1" strike="noStrike">
              <a:latin typeface="Arial"/>
            </a:endParaRPr>
          </a:p>
          <a:p>
            <a:pPr>
              <a:lnSpc>
                <a:spcPct val="150000"/>
              </a:lnSpc>
              <a:spcBef>
                <a:spcPts val="400"/>
              </a:spcBef>
              <a:buNone/>
            </a:pPr>
            <a:r>
              <a:rPr b="1" lang="en-US" sz="1500" spc="-1" strike="noStrike">
                <a:solidFill>
                  <a:srgbClr val="00acc1"/>
                </a:solidFill>
                <a:latin typeface="Quattrocento Sans"/>
                <a:ea typeface="Quattrocento Sans"/>
              </a:rPr>
              <a:t>→ </a:t>
            </a:r>
            <a:r>
              <a:rPr b="1" lang="zh-CN" sz="1500" spc="-1" strike="noStrike">
                <a:solidFill>
                  <a:srgbClr val="00acc1"/>
                </a:solidFill>
                <a:latin typeface="Quattrocento Sans"/>
                <a:ea typeface="Quattrocento Sans"/>
              </a:rPr>
              <a:t>蛋糕本体</a:t>
            </a:r>
            <a:endParaRPr b="0" lang="en-US" sz="1500" spc="-1" strike="noStrike">
              <a:latin typeface="Arial"/>
            </a:endParaRPr>
          </a:p>
        </p:txBody>
      </p:sp>
      <p:sp>
        <p:nvSpPr>
          <p:cNvPr id="202" name="Shape 32"/>
          <p:cNvSpPr/>
          <p:nvPr/>
        </p:nvSpPr>
        <p:spPr>
          <a:xfrm>
            <a:off x="6858000" y="4064040"/>
            <a:ext cx="4063680" cy="1777680"/>
          </a:xfrm>
          <a:prstGeom prst="roundRect">
            <a:avLst>
              <a:gd name="adj" fmla="val 4000"/>
            </a:avLst>
          </a:prstGeom>
          <a:solidFill>
            <a:srgbClr val="007aa8"/>
          </a:solidFill>
          <a:ln w="0">
            <a:noFill/>
          </a:ln>
        </p:spPr>
        <p:style>
          <a:lnRef idx="0"/>
          <a:fillRef idx="0"/>
          <a:effectRef idx="0"/>
          <a:fontRef idx="minor"/>
        </p:style>
      </p:sp>
      <p:sp>
        <p:nvSpPr>
          <p:cNvPr id="203" name="Text 33"/>
          <p:cNvSpPr/>
          <p:nvPr/>
        </p:nvSpPr>
        <p:spPr>
          <a:xfrm>
            <a:off x="7061040" y="4165560"/>
            <a:ext cx="3657240" cy="15742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ffffff"/>
                </a:solidFill>
                <a:latin typeface="Quattrocento Sans"/>
                <a:ea typeface="Quattrocento Sans"/>
              </a:rPr>
              <a:t>监督学习 </a:t>
            </a:r>
            <a:r>
              <a:rPr b="1" lang="en-US" sz="1500" spc="-1" strike="noStrike">
                <a:solidFill>
                  <a:srgbClr val="ffffff"/>
                </a:solidFill>
                <a:latin typeface="Quattrocento Sans"/>
                <a:ea typeface="Quattrocento Sans"/>
              </a:rPr>
              <a:t>SL</a:t>
            </a:r>
            <a:endParaRPr b="0" lang="en-US" sz="1500" spc="-1" strike="noStrike">
              <a:latin typeface="Arial"/>
            </a:endParaRPr>
          </a:p>
          <a:p>
            <a:pPr>
              <a:lnSpc>
                <a:spcPct val="150000"/>
              </a:lnSpc>
              <a:spcBef>
                <a:spcPts val="400"/>
              </a:spcBef>
              <a:buNone/>
            </a:pPr>
            <a:r>
              <a:rPr b="0" lang="zh-CN" sz="1500" spc="-1" strike="noStrike">
                <a:solidFill>
                  <a:srgbClr val="ffffff">
                    <a:alpha val="80000"/>
                  </a:srgbClr>
                </a:solidFill>
                <a:latin typeface="Quattrocento Sans"/>
                <a:ea typeface="Quattrocento Sans"/>
              </a:rPr>
              <a:t>训练</a:t>
            </a:r>
            <a:r>
              <a:rPr b="0" lang="en-US" sz="1500" spc="-1" strike="noStrike">
                <a:solidFill>
                  <a:srgbClr val="ffffff">
                    <a:alpha val="80000"/>
                  </a:srgbClr>
                </a:solidFill>
                <a:latin typeface="Quattrocento Sans"/>
                <a:ea typeface="Quattrocento Sans"/>
              </a:rPr>
              <a:t>Actor Policy</a:t>
            </a:r>
            <a:endParaRPr b="0" lang="en-US" sz="1500" spc="-1" strike="noStrike">
              <a:latin typeface="Arial"/>
            </a:endParaRPr>
          </a:p>
          <a:p>
            <a:pPr>
              <a:lnSpc>
                <a:spcPct val="150000"/>
              </a:lnSpc>
              <a:buNone/>
            </a:pPr>
            <a:r>
              <a:rPr b="0" lang="zh-CN" sz="1500" spc="-1" strike="noStrike">
                <a:solidFill>
                  <a:srgbClr val="ffffff">
                    <a:alpha val="80000"/>
                  </a:srgbClr>
                </a:solidFill>
                <a:latin typeface="Quattrocento Sans"/>
                <a:ea typeface="Quattrocento Sans"/>
              </a:rPr>
              <a:t>把优化好的行为压缩为快速反应</a:t>
            </a:r>
            <a:endParaRPr b="0" lang="en-US" sz="1500" spc="-1" strike="noStrike">
              <a:latin typeface="Arial"/>
            </a:endParaRPr>
          </a:p>
          <a:p>
            <a:pPr>
              <a:lnSpc>
                <a:spcPct val="150000"/>
              </a:lnSpc>
              <a:spcBef>
                <a:spcPts val="400"/>
              </a:spcBef>
              <a:buNone/>
            </a:pPr>
            <a:r>
              <a:rPr b="1" lang="en-US" sz="1500" spc="-1" strike="noStrike">
                <a:solidFill>
                  <a:srgbClr val="00acc1"/>
                </a:solidFill>
                <a:latin typeface="Quattrocento Sans"/>
                <a:ea typeface="Quattrocento Sans"/>
              </a:rPr>
              <a:t>→ </a:t>
            </a:r>
            <a:r>
              <a:rPr b="1" lang="zh-CN" sz="1500" spc="-1" strike="noStrike">
                <a:solidFill>
                  <a:srgbClr val="00acc1"/>
                </a:solidFill>
                <a:latin typeface="Quattrocento Sans"/>
                <a:ea typeface="Quattrocento Sans"/>
              </a:rPr>
              <a:t>糖霜</a:t>
            </a:r>
            <a:endParaRPr b="0" lang="en-US" sz="1500" spc="-1" strike="noStrike">
              <a:latin typeface="Arial"/>
            </a:endParaRPr>
          </a:p>
        </p:txBody>
      </p:sp>
      <p:sp>
        <p:nvSpPr>
          <p:cNvPr id="204" name="Shape 34"/>
          <p:cNvSpPr/>
          <p:nvPr/>
        </p:nvSpPr>
        <p:spPr>
          <a:xfrm>
            <a:off x="11175840" y="4064040"/>
            <a:ext cx="4571640" cy="1777680"/>
          </a:xfrm>
          <a:prstGeom prst="roundRect">
            <a:avLst>
              <a:gd name="adj" fmla="val 4000"/>
            </a:avLst>
          </a:prstGeom>
          <a:solidFill>
            <a:srgbClr val="00acc1"/>
          </a:solidFill>
          <a:ln w="0">
            <a:noFill/>
          </a:ln>
        </p:spPr>
        <p:style>
          <a:lnRef idx="0"/>
          <a:fillRef idx="0"/>
          <a:effectRef idx="0"/>
          <a:fontRef idx="minor"/>
        </p:style>
      </p:sp>
      <p:sp>
        <p:nvSpPr>
          <p:cNvPr id="205" name="Text 35"/>
          <p:cNvSpPr/>
          <p:nvPr/>
        </p:nvSpPr>
        <p:spPr>
          <a:xfrm>
            <a:off x="11379240" y="4165560"/>
            <a:ext cx="4165200" cy="15742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ffffff"/>
                </a:solidFill>
                <a:latin typeface="Quattrocento Sans"/>
                <a:ea typeface="Quattrocento Sans"/>
              </a:rPr>
              <a:t>强化学习 </a:t>
            </a:r>
            <a:r>
              <a:rPr b="1" lang="en-US" sz="1500" spc="-1" strike="noStrike">
                <a:solidFill>
                  <a:srgbClr val="ffffff"/>
                </a:solidFill>
                <a:latin typeface="Quattrocento Sans"/>
                <a:ea typeface="Quattrocento Sans"/>
              </a:rPr>
              <a:t>RL</a:t>
            </a:r>
            <a:endParaRPr b="0" lang="en-US" sz="1500" spc="-1" strike="noStrike">
              <a:latin typeface="Arial"/>
            </a:endParaRPr>
          </a:p>
          <a:p>
            <a:pPr>
              <a:lnSpc>
                <a:spcPct val="150000"/>
              </a:lnSpc>
              <a:spcBef>
                <a:spcPts val="400"/>
              </a:spcBef>
              <a:buNone/>
            </a:pPr>
            <a:r>
              <a:rPr b="0" lang="zh-CN" sz="1500" spc="-1" strike="noStrike">
                <a:solidFill>
                  <a:srgbClr val="ffffff">
                    <a:alpha val="80000"/>
                  </a:srgbClr>
                </a:solidFill>
                <a:latin typeface="Quattrocento Sans"/>
                <a:ea typeface="Quattrocento Sans"/>
              </a:rPr>
              <a:t>通过</a:t>
            </a:r>
            <a:r>
              <a:rPr b="0" lang="en-US" sz="1500" spc="-1" strike="noStrike">
                <a:solidFill>
                  <a:srgbClr val="ffffff">
                    <a:alpha val="80000"/>
                  </a:srgbClr>
                </a:solidFill>
                <a:latin typeface="Quattrocento Sans"/>
                <a:ea typeface="Quattrocento Sans"/>
              </a:rPr>
              <a:t>Intrinsic Cost</a:t>
            </a:r>
            <a:r>
              <a:rPr b="0" lang="zh-CN" sz="1500" spc="-1" strike="noStrike">
                <a:solidFill>
                  <a:srgbClr val="ffffff">
                    <a:alpha val="80000"/>
                  </a:srgbClr>
                </a:solidFill>
                <a:latin typeface="Quattrocento Sans"/>
                <a:ea typeface="Quattrocento Sans"/>
              </a:rPr>
              <a:t>调节行为</a:t>
            </a:r>
            <a:endParaRPr b="0" lang="en-US" sz="1500" spc="-1" strike="noStrike">
              <a:latin typeface="Arial"/>
            </a:endParaRPr>
          </a:p>
          <a:p>
            <a:pPr>
              <a:lnSpc>
                <a:spcPct val="150000"/>
              </a:lnSpc>
              <a:buNone/>
            </a:pPr>
            <a:r>
              <a:rPr b="0" lang="zh-CN" sz="1500" spc="-1" strike="noStrike">
                <a:solidFill>
                  <a:srgbClr val="ffffff">
                    <a:alpha val="80000"/>
                  </a:srgbClr>
                </a:solidFill>
                <a:latin typeface="Quattrocento Sans"/>
                <a:ea typeface="Quattrocento Sans"/>
              </a:rPr>
              <a:t>极少量的试错反馈</a:t>
            </a:r>
            <a:endParaRPr b="0" lang="en-US" sz="1500" spc="-1" strike="noStrike">
              <a:latin typeface="Arial"/>
            </a:endParaRPr>
          </a:p>
          <a:p>
            <a:pPr>
              <a:lnSpc>
                <a:spcPct val="150000"/>
              </a:lnSpc>
              <a:spcBef>
                <a:spcPts val="400"/>
              </a:spcBef>
              <a:buNone/>
            </a:pPr>
            <a:r>
              <a:rPr b="1" lang="en-US" sz="1500" spc="-1" strike="noStrike">
                <a:solidFill>
                  <a:srgbClr val="ffffff">
                    <a:alpha val="67000"/>
                  </a:srgbClr>
                </a:solidFill>
                <a:latin typeface="Quattrocento Sans"/>
                <a:ea typeface="Quattrocento Sans"/>
              </a:rPr>
              <a:t>→ </a:t>
            </a:r>
            <a:r>
              <a:rPr b="1" lang="zh-CN" sz="1500" spc="-1" strike="noStrike">
                <a:solidFill>
                  <a:srgbClr val="ffffff">
                    <a:alpha val="67000"/>
                  </a:srgbClr>
                </a:solidFill>
                <a:latin typeface="Quattrocento Sans"/>
                <a:ea typeface="Quattrocento Sans"/>
              </a:rPr>
              <a:t>樱桃</a:t>
            </a:r>
            <a:endParaRPr b="0" lang="en-US" sz="1500" spc="-1" strike="noStrike">
              <a:latin typeface="Arial"/>
            </a:endParaRPr>
          </a:p>
        </p:txBody>
      </p:sp>
      <p:sp>
        <p:nvSpPr>
          <p:cNvPr id="206" name="Shape 36"/>
          <p:cNvSpPr/>
          <p:nvPr/>
        </p:nvSpPr>
        <p:spPr>
          <a:xfrm>
            <a:off x="2540160" y="6146640"/>
            <a:ext cx="13207680" cy="1396800"/>
          </a:xfrm>
          <a:prstGeom prst="rect">
            <a:avLst/>
          </a:prstGeom>
          <a:solidFill>
            <a:srgbClr val="005c82"/>
          </a:solidFill>
          <a:ln w="0">
            <a:noFill/>
          </a:ln>
        </p:spPr>
        <p:style>
          <a:lnRef idx="0"/>
          <a:fillRef idx="0"/>
          <a:effectRef idx="0"/>
          <a:fontRef idx="minor"/>
        </p:style>
      </p:sp>
      <p:sp>
        <p:nvSpPr>
          <p:cNvPr id="207" name="Shape 37"/>
          <p:cNvSpPr/>
          <p:nvPr/>
        </p:nvSpPr>
        <p:spPr>
          <a:xfrm>
            <a:off x="2717640" y="6324480"/>
            <a:ext cx="177480" cy="177480"/>
          </a:xfrm>
          <a:prstGeom prst="diamond">
            <a:avLst/>
          </a:prstGeom>
          <a:solidFill>
            <a:srgbClr val="00acc1"/>
          </a:solidFill>
          <a:ln w="0">
            <a:noFill/>
          </a:ln>
        </p:spPr>
        <p:style>
          <a:lnRef idx="0"/>
          <a:fillRef idx="0"/>
          <a:effectRef idx="0"/>
          <a:fontRef idx="minor"/>
        </p:style>
      </p:sp>
      <p:sp>
        <p:nvSpPr>
          <p:cNvPr id="208" name="Text 38"/>
          <p:cNvSpPr/>
          <p:nvPr/>
        </p:nvSpPr>
        <p:spPr>
          <a:xfrm>
            <a:off x="3022560" y="6248520"/>
            <a:ext cx="380952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00acc1"/>
                </a:solidFill>
                <a:latin typeface="Quattrocento Sans"/>
                <a:ea typeface="Quattrocento Sans"/>
              </a:rPr>
              <a:t>核心洞察</a:t>
            </a:r>
            <a:endParaRPr b="0" lang="en-US" sz="1800" spc="-1" strike="noStrike">
              <a:latin typeface="Arial"/>
            </a:endParaRPr>
          </a:p>
        </p:txBody>
      </p:sp>
      <p:sp>
        <p:nvSpPr>
          <p:cNvPr id="209" name="Text 39"/>
          <p:cNvSpPr/>
          <p:nvPr/>
        </p:nvSpPr>
        <p:spPr>
          <a:xfrm>
            <a:off x="3022560" y="6603840"/>
            <a:ext cx="12521880" cy="8377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600" spc="-1" strike="noStrike">
                <a:solidFill>
                  <a:srgbClr val="ffffff"/>
                </a:solidFill>
                <a:latin typeface="Quattrocento Sans"/>
                <a:ea typeface="Quattrocento Sans"/>
              </a:rPr>
              <a:t>这篇论文是整个</a:t>
            </a:r>
            <a:r>
              <a:rPr b="0" lang="en-US" sz="1600" spc="-1" strike="noStrike">
                <a:solidFill>
                  <a:srgbClr val="ffffff"/>
                </a:solidFill>
                <a:latin typeface="Quattrocento Sans"/>
                <a:ea typeface="Quattrocento Sans"/>
              </a:rPr>
              <a:t>JEPA</a:t>
            </a:r>
            <a:r>
              <a:rPr b="0" lang="zh-CN" sz="1600" spc="-1" strike="noStrike">
                <a:solidFill>
                  <a:srgbClr val="ffffff"/>
                </a:solidFill>
                <a:latin typeface="Quattrocento Sans"/>
                <a:ea typeface="Quattrocento Sans"/>
              </a:rPr>
              <a:t>家族的</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宪法</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理解</a:t>
            </a:r>
            <a:r>
              <a:rPr b="0" lang="en-US" sz="1600" spc="-1" strike="noStrike">
                <a:solidFill>
                  <a:srgbClr val="ffffff"/>
                </a:solidFill>
                <a:latin typeface="Quattrocento Sans"/>
                <a:ea typeface="Quattrocento Sans"/>
              </a:rPr>
              <a:t>I-JEPA/V-JEPA/VLA-JEPA/LeJEPA</a:t>
            </a:r>
            <a:r>
              <a:rPr b="0" lang="zh-CN" sz="1600" spc="-1" strike="noStrike">
                <a:solidFill>
                  <a:srgbClr val="ffffff"/>
                </a:solidFill>
                <a:latin typeface="Quattrocento Sans"/>
                <a:ea typeface="Quattrocento Sans"/>
              </a:rPr>
              <a:t>任何一篇，都必须回到这篇蓝图。</a:t>
            </a:r>
            <a:r>
              <a:rPr b="0" lang="en-US" sz="1600" spc="-1" strike="noStrike">
                <a:solidFill>
                  <a:srgbClr val="ffffff"/>
                </a:solidFill>
                <a:latin typeface="Quattrocento Sans"/>
                <a:ea typeface="Quattrocento Sans"/>
              </a:rPr>
              <a:t>Mode-2</a:t>
            </a:r>
            <a:r>
              <a:rPr b="0" lang="zh-CN" sz="1600" spc="-1" strike="noStrike">
                <a:solidFill>
                  <a:srgbClr val="ffffff"/>
                </a:solidFill>
                <a:latin typeface="Quattrocento Sans"/>
                <a:ea typeface="Quattrocento Sans"/>
              </a:rPr>
              <a:t>梯度推理（在激活空间中优化动作序列）是被低估的核心</a:t>
            </a:r>
            <a:r>
              <a:rPr b="0" lang="en-US" sz="1600" spc="-1" strike="noStrike">
                <a:solidFill>
                  <a:srgbClr val="ffffff"/>
                </a:solidFill>
                <a:latin typeface="Quattrocento Sans"/>
                <a:ea typeface="Quattrocento Sans"/>
              </a:rPr>
              <a:t>idea</a:t>
            </a:r>
            <a:r>
              <a:rPr b="0" lang="zh-CN" sz="1600" spc="-1" strike="noStrike">
                <a:solidFill>
                  <a:srgbClr val="ffffff"/>
                </a:solidFill>
                <a:latin typeface="Quattrocento Sans"/>
                <a:ea typeface="Quattrocento Sans"/>
              </a:rPr>
              <a:t>。</a:t>
            </a:r>
            <a:endParaRPr b="0" lang="en-US" sz="1600" spc="-1" strike="noStrike">
              <a:latin typeface="Arial"/>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210" name="Shape 4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211" name="Shape 4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212" name="Shape 42"/>
          <p:cNvSpPr/>
          <p:nvPr/>
        </p:nvSpPr>
        <p:spPr>
          <a:xfrm>
            <a:off x="0" y="2184480"/>
            <a:ext cx="2285640" cy="1168200"/>
          </a:xfrm>
          <a:prstGeom prst="rect">
            <a:avLst/>
          </a:prstGeom>
          <a:solidFill>
            <a:srgbClr val="005c82"/>
          </a:solidFill>
          <a:ln w="0">
            <a:noFill/>
          </a:ln>
        </p:spPr>
        <p:style>
          <a:lnRef idx="0"/>
          <a:fillRef idx="0"/>
          <a:effectRef idx="0"/>
          <a:fontRef idx="minor"/>
        </p:style>
      </p:sp>
      <p:sp>
        <p:nvSpPr>
          <p:cNvPr id="213" name="Text 41"/>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214" name="Text 42"/>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02 JEPA</a:t>
            </a:r>
            <a:r>
              <a:rPr b="1" lang="zh-CN" sz="1800" spc="-1" strike="noStrike">
                <a:solidFill>
                  <a:srgbClr val="ffffff"/>
                </a:solidFill>
                <a:latin typeface="Quattrocento Sans"/>
                <a:ea typeface="Quattrocento Sans"/>
              </a:rPr>
              <a:t>蓝图</a:t>
            </a:r>
            <a:endParaRPr b="0" lang="en-US" sz="1800" spc="-1" strike="noStrike">
              <a:latin typeface="Arial"/>
            </a:endParaRPr>
          </a:p>
        </p:txBody>
      </p:sp>
      <p:sp>
        <p:nvSpPr>
          <p:cNvPr id="215" name="Text 43"/>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216" name="Text 44"/>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217" name="Text 45"/>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218" name="Shape 43"/>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219" name="Shape 44"/>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220" name="Text 46"/>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2.1 </a:t>
            </a:r>
            <a:r>
              <a:rPr b="0" lang="zh-CN" sz="1400" spc="-1" strike="noStrike">
                <a:solidFill>
                  <a:srgbClr val="005c82"/>
                </a:solidFill>
                <a:latin typeface="Quattrocento Sans"/>
                <a:ea typeface="Quattrocento Sans"/>
              </a:rPr>
              <a:t>六模块认知架构</a:t>
            </a:r>
            <a:endParaRPr b="0" lang="en-US" sz="1400" spc="-1" strike="noStrike">
              <a:latin typeface="Arial"/>
            </a:endParaRPr>
          </a:p>
        </p:txBody>
      </p:sp>
      <p:sp>
        <p:nvSpPr>
          <p:cNvPr id="221" name="Text 47"/>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07</a:t>
            </a:r>
            <a:endParaRPr b="0" lang="en-US" sz="1400" spc="-1" strike="noStrike">
              <a:latin typeface="Arial"/>
            </a:endParaRPr>
          </a:p>
        </p:txBody>
      </p:sp>
      <p:sp>
        <p:nvSpPr>
          <p:cNvPr id="222" name="Text 48"/>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六模块认知架构与核心原则</a:t>
            </a:r>
            <a:endParaRPr b="0" lang="en-US" sz="2400" spc="-1" strike="noStrike">
              <a:latin typeface="Arial"/>
            </a:endParaRPr>
          </a:p>
        </p:txBody>
      </p:sp>
      <p:sp>
        <p:nvSpPr>
          <p:cNvPr id="223" name="Shape 45"/>
          <p:cNvSpPr/>
          <p:nvPr/>
        </p:nvSpPr>
        <p:spPr>
          <a:xfrm>
            <a:off x="2540160" y="1397160"/>
            <a:ext cx="13207680" cy="12240"/>
          </a:xfrm>
          <a:prstGeom prst="rect">
            <a:avLst/>
          </a:prstGeom>
          <a:solidFill>
            <a:srgbClr val="b0bec5"/>
          </a:solidFill>
          <a:ln w="0">
            <a:noFill/>
          </a:ln>
        </p:spPr>
        <p:style>
          <a:lnRef idx="0"/>
          <a:fillRef idx="0"/>
          <a:effectRef idx="0"/>
          <a:fontRef idx="minor"/>
        </p:style>
      </p:sp>
      <p:pic>
        <p:nvPicPr>
          <p:cNvPr id="224" name="" descr=""/>
          <p:cNvPicPr/>
          <p:nvPr/>
        </p:nvPicPr>
        <p:blipFill>
          <a:blip r:embed="rId1"/>
          <a:stretch/>
        </p:blipFill>
        <p:spPr>
          <a:xfrm>
            <a:off x="9673200" y="0"/>
            <a:ext cx="4796640" cy="3342960"/>
          </a:xfrm>
          <a:prstGeom prst="rect">
            <a:avLst/>
          </a:prstGeom>
          <a:ln w="0">
            <a:noFill/>
          </a:ln>
        </p:spPr>
      </p:pic>
      <p:pic>
        <p:nvPicPr>
          <p:cNvPr id="225" name="" descr=""/>
          <p:cNvPicPr/>
          <p:nvPr/>
        </p:nvPicPr>
        <p:blipFill>
          <a:blip r:embed="rId2"/>
          <a:stretch/>
        </p:blipFill>
        <p:spPr>
          <a:xfrm>
            <a:off x="2923200" y="3537000"/>
            <a:ext cx="11639160" cy="5411520"/>
          </a:xfrm>
          <a:prstGeom prst="rect">
            <a:avLst/>
          </a:prstGeom>
          <a:ln w="0">
            <a:noFill/>
          </a:ln>
        </p:spPr>
      </p:pic>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226"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227"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228" name="Shape 2"/>
          <p:cNvSpPr/>
          <p:nvPr/>
        </p:nvSpPr>
        <p:spPr>
          <a:xfrm>
            <a:off x="0" y="2184480"/>
            <a:ext cx="2285640" cy="1168200"/>
          </a:xfrm>
          <a:prstGeom prst="rect">
            <a:avLst/>
          </a:prstGeom>
          <a:solidFill>
            <a:srgbClr val="005c82"/>
          </a:solidFill>
          <a:ln w="0">
            <a:noFill/>
          </a:ln>
        </p:spPr>
        <p:style>
          <a:lnRef idx="0"/>
          <a:fillRef idx="0"/>
          <a:effectRef idx="0"/>
          <a:fontRef idx="minor"/>
        </p:style>
      </p:sp>
      <p:sp>
        <p:nvSpPr>
          <p:cNvPr id="229"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230"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02 JEPA</a:t>
            </a:r>
            <a:r>
              <a:rPr b="1" lang="zh-CN" sz="1800" spc="-1" strike="noStrike">
                <a:solidFill>
                  <a:srgbClr val="ffffff"/>
                </a:solidFill>
                <a:latin typeface="Quattrocento Sans"/>
                <a:ea typeface="Quattrocento Sans"/>
              </a:rPr>
              <a:t>蓝图</a:t>
            </a:r>
            <a:endParaRPr b="0" lang="en-US" sz="1800" spc="-1" strike="noStrike">
              <a:latin typeface="Arial"/>
            </a:endParaRPr>
          </a:p>
        </p:txBody>
      </p:sp>
      <p:sp>
        <p:nvSpPr>
          <p:cNvPr id="231"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232"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233"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234"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235"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236"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2.2 JEPA</a:t>
            </a:r>
            <a:r>
              <a:rPr b="0" lang="zh-CN" sz="1400" spc="-1" strike="noStrike">
                <a:solidFill>
                  <a:srgbClr val="005c82"/>
                </a:solidFill>
                <a:latin typeface="Quattrocento Sans"/>
                <a:ea typeface="Quattrocento Sans"/>
              </a:rPr>
              <a:t>核心：表征空间预测</a:t>
            </a:r>
            <a:endParaRPr b="0" lang="en-US" sz="1400" spc="-1" strike="noStrike">
              <a:latin typeface="Arial"/>
            </a:endParaRPr>
          </a:p>
        </p:txBody>
      </p:sp>
      <p:sp>
        <p:nvSpPr>
          <p:cNvPr id="237"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08</a:t>
            </a:r>
            <a:endParaRPr b="0" lang="en-US" sz="1400" spc="-1" strike="noStrike">
              <a:latin typeface="Arial"/>
            </a:endParaRPr>
          </a:p>
        </p:txBody>
      </p:sp>
      <p:sp>
        <p:nvSpPr>
          <p:cNvPr id="238"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JEPA</a:t>
            </a:r>
            <a:r>
              <a:rPr b="1" lang="zh-CN" sz="2400" spc="-1" strike="noStrike">
                <a:solidFill>
                  <a:srgbClr val="005c82"/>
                </a:solidFill>
                <a:latin typeface="Quattrocento Sans"/>
                <a:ea typeface="Quattrocento Sans"/>
              </a:rPr>
              <a:t>核心：在表征空间做预测</a:t>
            </a:r>
            <a:endParaRPr b="0" lang="en-US" sz="2400" spc="-1" strike="noStrike">
              <a:latin typeface="Arial"/>
            </a:endParaRPr>
          </a:p>
        </p:txBody>
      </p:sp>
      <p:sp>
        <p:nvSpPr>
          <p:cNvPr id="239"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240" name="Shape 14"/>
          <p:cNvSpPr/>
          <p:nvPr/>
        </p:nvSpPr>
        <p:spPr>
          <a:xfrm>
            <a:off x="2540160" y="1574640"/>
            <a:ext cx="6349680" cy="482400"/>
          </a:xfrm>
          <a:prstGeom prst="rect">
            <a:avLst/>
          </a:prstGeom>
          <a:solidFill>
            <a:srgbClr val="b0bec5"/>
          </a:solidFill>
          <a:ln w="0">
            <a:noFill/>
          </a:ln>
        </p:spPr>
        <p:style>
          <a:lnRef idx="0"/>
          <a:fillRef idx="0"/>
          <a:effectRef idx="0"/>
          <a:fontRef idx="minor"/>
        </p:style>
      </p:sp>
      <p:sp>
        <p:nvSpPr>
          <p:cNvPr id="241" name="Text 15"/>
          <p:cNvSpPr/>
          <p:nvPr/>
        </p:nvSpPr>
        <p:spPr>
          <a:xfrm>
            <a:off x="2540160" y="1574640"/>
            <a:ext cx="6349680" cy="4824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zh-CN" sz="1500" spc="-1" strike="noStrike">
                <a:solidFill>
                  <a:srgbClr val="ffffff"/>
                </a:solidFill>
                <a:latin typeface="Quattrocento Sans"/>
                <a:ea typeface="Quattrocento Sans"/>
              </a:rPr>
              <a:t>传统生成模型（像素空间）</a:t>
            </a:r>
            <a:endParaRPr b="0" lang="en-US" sz="1500" spc="-1" strike="noStrike">
              <a:latin typeface="Arial"/>
            </a:endParaRPr>
          </a:p>
        </p:txBody>
      </p:sp>
      <p:sp>
        <p:nvSpPr>
          <p:cNvPr id="242" name="Shape 16"/>
          <p:cNvSpPr/>
          <p:nvPr/>
        </p:nvSpPr>
        <p:spPr>
          <a:xfrm>
            <a:off x="2540160" y="2057400"/>
            <a:ext cx="6349680" cy="2539800"/>
          </a:xfrm>
          <a:prstGeom prst="rect">
            <a:avLst/>
          </a:prstGeom>
          <a:solidFill>
            <a:srgbClr val="e0f4fa"/>
          </a:solidFill>
          <a:ln w="0">
            <a:noFill/>
          </a:ln>
        </p:spPr>
        <p:style>
          <a:lnRef idx="0"/>
          <a:fillRef idx="0"/>
          <a:effectRef idx="0"/>
          <a:fontRef idx="minor"/>
        </p:style>
      </p:sp>
      <p:sp>
        <p:nvSpPr>
          <p:cNvPr id="243" name="Text 17"/>
          <p:cNvSpPr/>
          <p:nvPr/>
        </p:nvSpPr>
        <p:spPr>
          <a:xfrm>
            <a:off x="2768760" y="2209680"/>
            <a:ext cx="5892480" cy="223488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1" lang="zh-CN" sz="1600" spc="-1" strike="noStrike">
                <a:solidFill>
                  <a:srgbClr val="333333"/>
                </a:solidFill>
                <a:latin typeface="Quattrocento Sans"/>
                <a:ea typeface="Quattrocento Sans"/>
              </a:rPr>
              <a:t>流程：</a:t>
            </a:r>
            <a:r>
              <a:rPr b="0" lang="en-US" sz="1600" spc="-1" strike="noStrike">
                <a:solidFill>
                  <a:srgbClr val="333333"/>
                </a:solidFill>
                <a:latin typeface="Quattrocento Sans"/>
                <a:ea typeface="Quattrocento Sans"/>
              </a:rPr>
              <a:t>x → Encoder → Decoder → x'</a:t>
            </a:r>
            <a:endParaRPr b="0" lang="en-US" sz="1600" spc="-1" strike="noStrike">
              <a:latin typeface="Arial"/>
            </a:endParaRPr>
          </a:p>
          <a:p>
            <a:pPr>
              <a:lnSpc>
                <a:spcPct val="160000"/>
              </a:lnSpc>
              <a:spcBef>
                <a:spcPts val="601"/>
              </a:spcBef>
              <a:buNone/>
            </a:pPr>
            <a:r>
              <a:rPr b="1" lang="zh-CN" sz="1600" spc="-1" strike="noStrike">
                <a:solidFill>
                  <a:srgbClr val="333333"/>
                </a:solidFill>
                <a:latin typeface="Quattrocento Sans"/>
                <a:ea typeface="Quattrocento Sans"/>
              </a:rPr>
              <a:t>问题：</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必须重建每个像素，浪费算力</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世界大部分细节不可预测且不重要</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生成结果容易模糊</a:t>
            </a:r>
            <a:r>
              <a:rPr b="0" lang="en-US" sz="1600" spc="-1" strike="noStrike">
                <a:solidFill>
                  <a:srgbClr val="333333"/>
                </a:solidFill>
                <a:latin typeface="Quattrocento Sans"/>
                <a:ea typeface="Quattrocento Sans"/>
              </a:rPr>
              <a:t>/</a:t>
            </a:r>
            <a:r>
              <a:rPr b="0" lang="zh-CN" sz="1600" spc="-1" strike="noStrike">
                <a:solidFill>
                  <a:srgbClr val="333333"/>
                </a:solidFill>
                <a:latin typeface="Quattrocento Sans"/>
                <a:ea typeface="Quattrocento Sans"/>
              </a:rPr>
              <a:t>平均化</a:t>
            </a:r>
            <a:endParaRPr b="0" lang="en-US" sz="1600" spc="-1" strike="noStrike">
              <a:latin typeface="Arial"/>
            </a:endParaRPr>
          </a:p>
        </p:txBody>
      </p:sp>
      <p:sp>
        <p:nvSpPr>
          <p:cNvPr id="244" name="Shape 18"/>
          <p:cNvSpPr/>
          <p:nvPr/>
        </p:nvSpPr>
        <p:spPr>
          <a:xfrm>
            <a:off x="9144000" y="1574640"/>
            <a:ext cx="6349680" cy="482400"/>
          </a:xfrm>
          <a:prstGeom prst="rect">
            <a:avLst/>
          </a:prstGeom>
          <a:solidFill>
            <a:srgbClr val="005c82"/>
          </a:solidFill>
          <a:ln w="0">
            <a:noFill/>
          </a:ln>
        </p:spPr>
        <p:style>
          <a:lnRef idx="0"/>
          <a:fillRef idx="0"/>
          <a:effectRef idx="0"/>
          <a:fontRef idx="minor"/>
        </p:style>
      </p:sp>
      <p:sp>
        <p:nvSpPr>
          <p:cNvPr id="245" name="Text 19"/>
          <p:cNvSpPr/>
          <p:nvPr/>
        </p:nvSpPr>
        <p:spPr>
          <a:xfrm>
            <a:off x="9144000" y="1574640"/>
            <a:ext cx="6349680" cy="4824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1500" spc="-1" strike="noStrike">
                <a:solidFill>
                  <a:srgbClr val="ffffff"/>
                </a:solidFill>
                <a:latin typeface="Quattrocento Sans"/>
                <a:ea typeface="Quattrocento Sans"/>
              </a:rPr>
              <a:t>JEPA</a:t>
            </a:r>
            <a:r>
              <a:rPr b="1" lang="zh-CN" sz="1500" spc="-1" strike="noStrike">
                <a:solidFill>
                  <a:srgbClr val="ffffff"/>
                </a:solidFill>
                <a:latin typeface="Quattrocento Sans"/>
                <a:ea typeface="Quattrocento Sans"/>
              </a:rPr>
              <a:t>（表征空间）</a:t>
            </a:r>
            <a:endParaRPr b="0" lang="en-US" sz="1500" spc="-1" strike="noStrike">
              <a:latin typeface="Arial"/>
            </a:endParaRPr>
          </a:p>
        </p:txBody>
      </p:sp>
      <p:sp>
        <p:nvSpPr>
          <p:cNvPr id="246" name="Shape 20"/>
          <p:cNvSpPr/>
          <p:nvPr/>
        </p:nvSpPr>
        <p:spPr>
          <a:xfrm>
            <a:off x="9144000" y="2057400"/>
            <a:ext cx="6349680" cy="2539800"/>
          </a:xfrm>
          <a:prstGeom prst="rect">
            <a:avLst/>
          </a:prstGeom>
          <a:solidFill>
            <a:srgbClr val="e8f4f8"/>
          </a:solidFill>
          <a:ln w="0">
            <a:noFill/>
          </a:ln>
        </p:spPr>
        <p:style>
          <a:lnRef idx="0"/>
          <a:fillRef idx="0"/>
          <a:effectRef idx="0"/>
          <a:fontRef idx="minor"/>
        </p:style>
      </p:sp>
      <p:sp>
        <p:nvSpPr>
          <p:cNvPr id="247" name="Text 21"/>
          <p:cNvSpPr/>
          <p:nvPr/>
        </p:nvSpPr>
        <p:spPr>
          <a:xfrm>
            <a:off x="9372600" y="2209680"/>
            <a:ext cx="5892480" cy="223488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1" lang="zh-CN" sz="1600" spc="-1" strike="noStrike">
                <a:solidFill>
                  <a:srgbClr val="333333"/>
                </a:solidFill>
                <a:latin typeface="Quattrocento Sans"/>
                <a:ea typeface="Quattrocento Sans"/>
              </a:rPr>
              <a:t>流程：</a:t>
            </a:r>
            <a:r>
              <a:rPr b="0" lang="en-US" sz="1600" spc="-1" strike="noStrike">
                <a:solidFill>
                  <a:srgbClr val="333333"/>
                </a:solidFill>
                <a:latin typeface="Quattrocento Sans"/>
                <a:ea typeface="Quattrocento Sans"/>
              </a:rPr>
              <a:t>x→Enc→s→Predictor→s̃_y</a:t>
            </a:r>
            <a:endParaRPr b="0" lang="en-US" sz="1600" spc="-1" strike="noStrike">
              <a:latin typeface="Arial"/>
            </a:endParaRPr>
          </a:p>
          <a:p>
            <a:pPr>
              <a:lnSpc>
                <a:spcPct val="160000"/>
              </a:lnSpc>
              <a:spcBef>
                <a:spcPts val="601"/>
              </a:spcBef>
              <a:buNone/>
            </a:pPr>
            <a:r>
              <a:rPr b="1" lang="zh-CN" sz="1600" spc="-1" strike="noStrike">
                <a:solidFill>
                  <a:srgbClr val="333333"/>
                </a:solidFill>
                <a:latin typeface="Quattrocento Sans"/>
                <a:ea typeface="Quattrocento Sans"/>
              </a:rPr>
              <a:t>优势：</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只预测抽象表征，忽略低层细节</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大幅降低计算量</a:t>
            </a:r>
            <a:endParaRPr b="0" lang="en-US" sz="1600" spc="-1" strike="noStrike">
              <a:latin typeface="Arial"/>
            </a:endParaRPr>
          </a:p>
          <a:p>
            <a:pPr>
              <a:lnSpc>
                <a:spcPct val="160000"/>
              </a:lnSpc>
              <a:buNone/>
            </a:pPr>
            <a:r>
              <a:rPr b="0" lang="en-US" sz="1600" spc="-1" strike="noStrike">
                <a:solidFill>
                  <a:srgbClr val="333333"/>
                </a:solidFill>
                <a:latin typeface="Quattrocento Sans"/>
                <a:ea typeface="Quattrocento Sans"/>
              </a:rPr>
              <a:t>• </a:t>
            </a:r>
            <a:r>
              <a:rPr b="0" lang="zh-CN" sz="1600" spc="-1" strike="noStrike">
                <a:solidFill>
                  <a:srgbClr val="333333"/>
                </a:solidFill>
                <a:latin typeface="Quattrocento Sans"/>
                <a:ea typeface="Quattrocento Sans"/>
              </a:rPr>
              <a:t>避免生成模型的模糊问题</a:t>
            </a:r>
            <a:endParaRPr b="0" lang="en-US" sz="1600" spc="-1" strike="noStrike">
              <a:latin typeface="Arial"/>
            </a:endParaRPr>
          </a:p>
        </p:txBody>
      </p:sp>
      <p:sp>
        <p:nvSpPr>
          <p:cNvPr id="248" name="Text 22"/>
          <p:cNvSpPr/>
          <p:nvPr/>
        </p:nvSpPr>
        <p:spPr>
          <a:xfrm>
            <a:off x="2540160" y="485136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四条防坍缩原则</a:t>
            </a:r>
            <a:endParaRPr b="0" lang="en-US" sz="2000" spc="-1" strike="noStrike">
              <a:latin typeface="Arial"/>
            </a:endParaRPr>
          </a:p>
        </p:txBody>
      </p:sp>
      <p:sp>
        <p:nvSpPr>
          <p:cNvPr id="249" name="Shape 23"/>
          <p:cNvSpPr/>
          <p:nvPr/>
        </p:nvSpPr>
        <p:spPr>
          <a:xfrm>
            <a:off x="2540160" y="5308560"/>
            <a:ext cx="3149280" cy="888480"/>
          </a:xfrm>
          <a:prstGeom prst="roundRect">
            <a:avLst>
              <a:gd name="adj" fmla="val 4000"/>
            </a:avLst>
          </a:prstGeom>
          <a:solidFill>
            <a:srgbClr val="005c82"/>
          </a:solidFill>
          <a:ln w="0">
            <a:noFill/>
          </a:ln>
        </p:spPr>
        <p:style>
          <a:lnRef idx="0"/>
          <a:fillRef idx="0"/>
          <a:effectRef idx="0"/>
          <a:fontRef idx="minor"/>
        </p:style>
      </p:sp>
      <p:sp>
        <p:nvSpPr>
          <p:cNvPr id="250" name="Text 24"/>
          <p:cNvSpPr/>
          <p:nvPr/>
        </p:nvSpPr>
        <p:spPr>
          <a:xfrm>
            <a:off x="2641680" y="5384880"/>
            <a:ext cx="2945880" cy="736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zh-CN" sz="1400" spc="-1" strike="noStrike">
                <a:solidFill>
                  <a:srgbClr val="ffffff"/>
                </a:solidFill>
                <a:latin typeface="Quattrocento Sans"/>
                <a:ea typeface="Quattrocento Sans"/>
              </a:rPr>
              <a:t>最大化 </a:t>
            </a:r>
            <a:r>
              <a:rPr b="1" lang="en-US" sz="1400" spc="-1" strike="noStrike">
                <a:solidFill>
                  <a:srgbClr val="ffffff"/>
                </a:solidFill>
                <a:latin typeface="Quattrocento Sans"/>
                <a:ea typeface="Quattrocento Sans"/>
              </a:rPr>
              <a:t>s_x </a:t>
            </a:r>
            <a:r>
              <a:rPr b="1" lang="zh-CN" sz="1400" spc="-1" strike="noStrike">
                <a:solidFill>
                  <a:srgbClr val="ffffff"/>
                </a:solidFill>
                <a:latin typeface="Quattrocento Sans"/>
                <a:ea typeface="Quattrocento Sans"/>
              </a:rPr>
              <a:t>信息量</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上下文表征不坍缩</a:t>
            </a:r>
            <a:endParaRPr b="0" lang="en-US" sz="1400" spc="-1" strike="noStrike">
              <a:latin typeface="Arial"/>
            </a:endParaRPr>
          </a:p>
        </p:txBody>
      </p:sp>
      <p:sp>
        <p:nvSpPr>
          <p:cNvPr id="251" name="Shape 25"/>
          <p:cNvSpPr/>
          <p:nvPr/>
        </p:nvSpPr>
        <p:spPr>
          <a:xfrm>
            <a:off x="5892840" y="5308560"/>
            <a:ext cx="3149280" cy="888480"/>
          </a:xfrm>
          <a:prstGeom prst="roundRect">
            <a:avLst>
              <a:gd name="adj" fmla="val 4000"/>
            </a:avLst>
          </a:prstGeom>
          <a:solidFill>
            <a:srgbClr val="007aa8"/>
          </a:solidFill>
          <a:ln w="0">
            <a:noFill/>
          </a:ln>
        </p:spPr>
        <p:style>
          <a:lnRef idx="0"/>
          <a:fillRef idx="0"/>
          <a:effectRef idx="0"/>
          <a:fontRef idx="minor"/>
        </p:style>
      </p:sp>
      <p:sp>
        <p:nvSpPr>
          <p:cNvPr id="252" name="Text 26"/>
          <p:cNvSpPr/>
          <p:nvPr/>
        </p:nvSpPr>
        <p:spPr>
          <a:xfrm>
            <a:off x="5994360" y="5384880"/>
            <a:ext cx="2945880" cy="736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zh-CN" sz="1400" spc="-1" strike="noStrike">
                <a:solidFill>
                  <a:srgbClr val="ffffff"/>
                </a:solidFill>
                <a:latin typeface="Quattrocento Sans"/>
                <a:ea typeface="Quattrocento Sans"/>
              </a:rPr>
              <a:t>最大化 </a:t>
            </a:r>
            <a:r>
              <a:rPr b="1" lang="en-US" sz="1400" spc="-1" strike="noStrike">
                <a:solidFill>
                  <a:srgbClr val="ffffff"/>
                </a:solidFill>
                <a:latin typeface="Quattrocento Sans"/>
                <a:ea typeface="Quattrocento Sans"/>
              </a:rPr>
              <a:t>s_y </a:t>
            </a:r>
            <a:r>
              <a:rPr b="1" lang="zh-CN" sz="1400" spc="-1" strike="noStrike">
                <a:solidFill>
                  <a:srgbClr val="ffffff"/>
                </a:solidFill>
                <a:latin typeface="Quattrocento Sans"/>
                <a:ea typeface="Quattrocento Sans"/>
              </a:rPr>
              <a:t>信息量</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目标表征不坍缩</a:t>
            </a:r>
            <a:endParaRPr b="0" lang="en-US" sz="1400" spc="-1" strike="noStrike">
              <a:latin typeface="Arial"/>
            </a:endParaRPr>
          </a:p>
        </p:txBody>
      </p:sp>
      <p:sp>
        <p:nvSpPr>
          <p:cNvPr id="253" name="Shape 27"/>
          <p:cNvSpPr/>
          <p:nvPr/>
        </p:nvSpPr>
        <p:spPr>
          <a:xfrm>
            <a:off x="9245520" y="5308560"/>
            <a:ext cx="3149280" cy="888480"/>
          </a:xfrm>
          <a:prstGeom prst="roundRect">
            <a:avLst>
              <a:gd name="adj" fmla="val 4000"/>
            </a:avLst>
          </a:prstGeom>
          <a:solidFill>
            <a:srgbClr val="00acc1"/>
          </a:solidFill>
          <a:ln w="0">
            <a:noFill/>
          </a:ln>
        </p:spPr>
        <p:style>
          <a:lnRef idx="0"/>
          <a:fillRef idx="0"/>
          <a:effectRef idx="0"/>
          <a:fontRef idx="minor"/>
        </p:style>
      </p:sp>
      <p:sp>
        <p:nvSpPr>
          <p:cNvPr id="254" name="Text 28"/>
          <p:cNvSpPr/>
          <p:nvPr/>
        </p:nvSpPr>
        <p:spPr>
          <a:xfrm>
            <a:off x="9347040" y="5384880"/>
            <a:ext cx="2945880" cy="736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zh-CN" sz="1400" spc="-1" strike="noStrike">
                <a:solidFill>
                  <a:srgbClr val="ffffff"/>
                </a:solidFill>
                <a:latin typeface="Quattrocento Sans"/>
                <a:ea typeface="Quattrocento Sans"/>
              </a:rPr>
              <a:t>最小化预测误差</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预测尽可能准确</a:t>
            </a:r>
            <a:endParaRPr b="0" lang="en-US" sz="1400" spc="-1" strike="noStrike">
              <a:latin typeface="Arial"/>
            </a:endParaRPr>
          </a:p>
        </p:txBody>
      </p:sp>
      <p:sp>
        <p:nvSpPr>
          <p:cNvPr id="255" name="Shape 29"/>
          <p:cNvSpPr/>
          <p:nvPr/>
        </p:nvSpPr>
        <p:spPr>
          <a:xfrm>
            <a:off x="12598560" y="5308560"/>
            <a:ext cx="3149280" cy="888480"/>
          </a:xfrm>
          <a:prstGeom prst="roundRect">
            <a:avLst>
              <a:gd name="adj" fmla="val 4000"/>
            </a:avLst>
          </a:prstGeom>
          <a:solidFill>
            <a:srgbClr val="004060"/>
          </a:solidFill>
          <a:ln w="0">
            <a:noFill/>
          </a:ln>
        </p:spPr>
        <p:style>
          <a:lnRef idx="0"/>
          <a:fillRef idx="0"/>
          <a:effectRef idx="0"/>
          <a:fontRef idx="minor"/>
        </p:style>
      </p:sp>
      <p:sp>
        <p:nvSpPr>
          <p:cNvPr id="256" name="Text 30"/>
          <p:cNvSpPr/>
          <p:nvPr/>
        </p:nvSpPr>
        <p:spPr>
          <a:xfrm>
            <a:off x="12700080" y="5384880"/>
            <a:ext cx="2945880" cy="736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zh-CN" sz="1400" spc="-1" strike="noStrike">
                <a:solidFill>
                  <a:srgbClr val="ffffff"/>
                </a:solidFill>
                <a:latin typeface="Quattrocento Sans"/>
                <a:ea typeface="Quattrocento Sans"/>
              </a:rPr>
              <a:t>最小化 </a:t>
            </a:r>
            <a:r>
              <a:rPr b="1" lang="en-US" sz="1400" spc="-1" strike="noStrike">
                <a:solidFill>
                  <a:srgbClr val="ffffff"/>
                </a:solidFill>
                <a:latin typeface="Quattrocento Sans"/>
                <a:ea typeface="Quattrocento Sans"/>
              </a:rPr>
              <a:t>z </a:t>
            </a:r>
            <a:r>
              <a:rPr b="1" lang="zh-CN" sz="1400" spc="-1" strike="noStrike">
                <a:solidFill>
                  <a:srgbClr val="ffffff"/>
                </a:solidFill>
                <a:latin typeface="Quattrocento Sans"/>
                <a:ea typeface="Quattrocento Sans"/>
              </a:rPr>
              <a:t>信息量</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隐变量不夹带信息</a:t>
            </a:r>
            <a:endParaRPr b="0" lang="en-US" sz="1400" spc="-1" strike="noStrike">
              <a:latin typeface="Arial"/>
            </a:endParaRPr>
          </a:p>
        </p:txBody>
      </p:sp>
      <p:sp>
        <p:nvSpPr>
          <p:cNvPr id="257" name="Text 31"/>
          <p:cNvSpPr/>
          <p:nvPr/>
        </p:nvSpPr>
        <p:spPr>
          <a:xfrm>
            <a:off x="2540160" y="642636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Mode-1 vs Mode-2 </a:t>
            </a:r>
            <a:r>
              <a:rPr b="1" lang="zh-CN" sz="2000" spc="-1" strike="noStrike">
                <a:solidFill>
                  <a:srgbClr val="005c82"/>
                </a:solidFill>
                <a:latin typeface="Quattrocento Sans"/>
                <a:ea typeface="Quattrocento Sans"/>
              </a:rPr>
              <a:t>双系统</a:t>
            </a:r>
            <a:endParaRPr b="0" lang="en-US" sz="2000" spc="-1" strike="noStrike">
              <a:latin typeface="Arial"/>
            </a:endParaRPr>
          </a:p>
        </p:txBody>
      </p:sp>
      <p:graphicFrame>
        <p:nvGraphicFramePr>
          <p:cNvPr id="258" name="Table 0"/>
          <p:cNvGraphicFramePr/>
          <p:nvPr/>
        </p:nvGraphicFramePr>
        <p:xfrm>
          <a:off x="2540160" y="6858000"/>
          <a:ext cx="13207320" cy="1523520"/>
        </p:xfrm>
        <a:graphic>
          <a:graphicData uri="http://schemas.openxmlformats.org/drawingml/2006/table">
            <a:tbl>
              <a:tblPr/>
              <a:tblGrid>
                <a:gridCol w="2641320"/>
                <a:gridCol w="5283000"/>
                <a:gridCol w="5283360"/>
              </a:tblGrid>
              <a:tr h="502920">
                <a:tc>
                  <a:txBody>
                    <a:bodyPr lIns="54720" rIns="54720" tIns="0" bIns="0" anchor="ctr">
                      <a:noAutofit/>
                    </a:bodyPr>
                    <a:p>
                      <a:pPr algn="ctr">
                        <a:lnSpc>
                          <a:spcPct val="100000"/>
                        </a:lnSpc>
                        <a:buNone/>
                      </a:pPr>
                      <a:r>
                        <a:rPr b="1" lang="en-US" sz="1600" spc="-1" strike="noStrike">
                          <a:solidFill>
                            <a:srgbClr val="ffffff"/>
                          </a:solidFill>
                          <a:latin typeface="Calibri"/>
                        </a:rPr>
                        <a:t> </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600" spc="-1" strike="noStrike">
                          <a:solidFill>
                            <a:srgbClr val="ffffff"/>
                          </a:solidFill>
                          <a:latin typeface="Calibri"/>
                        </a:rPr>
                        <a:t>Mode-1</a:t>
                      </a:r>
                      <a:r>
                        <a:rPr b="1" lang="zh-CN" sz="1600" spc="-1" strike="noStrike">
                          <a:solidFill>
                            <a:srgbClr val="ffffff"/>
                          </a:solidFill>
                          <a:latin typeface="Calibri"/>
                        </a:rPr>
                        <a:t>（快速反应）</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600" spc="-1" strike="noStrike">
                          <a:solidFill>
                            <a:srgbClr val="ffffff"/>
                          </a:solidFill>
                          <a:latin typeface="Calibri"/>
                        </a:rPr>
                        <a:t>Mode-2</a:t>
                      </a:r>
                      <a:r>
                        <a:rPr b="1" lang="zh-CN" sz="1600" spc="-1" strike="noStrike">
                          <a:solidFill>
                            <a:srgbClr val="ffffff"/>
                          </a:solidFill>
                          <a:latin typeface="Calibri"/>
                        </a:rPr>
                        <a:t>（深思熟虑）</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r>
              <a:tr h="502920">
                <a:tc>
                  <a:txBody>
                    <a:bodyPr lIns="54720" rIns="54720" tIns="0" bIns="0" anchor="ctr">
                      <a:noAutofit/>
                    </a:bodyPr>
                    <a:p>
                      <a:pPr algn="ctr">
                        <a:lnSpc>
                          <a:spcPct val="100000"/>
                        </a:lnSpc>
                        <a:buNone/>
                      </a:pPr>
                      <a:r>
                        <a:rPr b="1" lang="zh-CN" sz="1600" spc="-1" strike="noStrike">
                          <a:solidFill>
                            <a:srgbClr val="333333"/>
                          </a:solidFill>
                          <a:latin typeface="Calibri"/>
                        </a:rPr>
                        <a:t>机制</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Percept → Enc → Actor → Action</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World Model rollout → Cost → </a:t>
                      </a:r>
                      <a:r>
                        <a:rPr b="0" lang="zh-CN" sz="1600" spc="-1" strike="noStrike">
                          <a:solidFill>
                            <a:srgbClr val="333333"/>
                          </a:solidFill>
                          <a:latin typeface="Calibri"/>
                        </a:rPr>
                        <a:t>梯度优化</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r h="518040">
                <a:tc>
                  <a:txBody>
                    <a:bodyPr lIns="54720" rIns="54720" tIns="0" bIns="0" anchor="ctr">
                      <a:noAutofit/>
                    </a:bodyPr>
                    <a:p>
                      <a:pPr algn="ctr">
                        <a:lnSpc>
                          <a:spcPct val="100000"/>
                        </a:lnSpc>
                        <a:buNone/>
                      </a:pPr>
                      <a:r>
                        <a:rPr b="1" lang="zh-CN" sz="1600" spc="-1" strike="noStrike">
                          <a:solidFill>
                            <a:srgbClr val="333333"/>
                          </a:solidFill>
                          <a:latin typeface="Calibri"/>
                        </a:rPr>
                        <a:t>类比</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骑自行车时自动平衡</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第一次走迷宫时思考路线</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r>
            </a:tbl>
          </a:graphicData>
        </a:graphic>
      </p:graphicFrame>
      <p:sp>
        <p:nvSpPr>
          <p:cNvPr id="259" name="Text 57"/>
          <p:cNvSpPr/>
          <p:nvPr/>
        </p:nvSpPr>
        <p:spPr>
          <a:xfrm>
            <a:off x="2641680" y="5384880"/>
            <a:ext cx="2945880" cy="736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zh-CN" sz="1400" spc="-1" strike="noStrike">
                <a:solidFill>
                  <a:srgbClr val="ffffff"/>
                </a:solidFill>
                <a:latin typeface="Quattrocento Sans"/>
                <a:ea typeface="Quattrocento Sans"/>
              </a:rPr>
              <a:t>最大化 </a:t>
            </a:r>
            <a:r>
              <a:rPr b="1" lang="en-US" sz="1400" spc="-1" strike="noStrike">
                <a:solidFill>
                  <a:srgbClr val="ffffff"/>
                </a:solidFill>
                <a:latin typeface="Quattrocento Sans"/>
                <a:ea typeface="Quattrocento Sans"/>
              </a:rPr>
              <a:t>s_x </a:t>
            </a:r>
            <a:r>
              <a:rPr b="1" lang="zh-CN" sz="1400" spc="-1" strike="noStrike">
                <a:solidFill>
                  <a:srgbClr val="ffffff"/>
                </a:solidFill>
                <a:latin typeface="Quattrocento Sans"/>
                <a:ea typeface="Quattrocento Sans"/>
              </a:rPr>
              <a:t>信息量</a:t>
            </a:r>
            <a:endParaRPr b="0" lang="en-US" sz="1400" spc="-1" strike="noStrike">
              <a:latin typeface="Arial"/>
            </a:endParaRPr>
          </a:p>
          <a:p>
            <a:pPr algn="ctr">
              <a:lnSpc>
                <a:spcPct val="120000"/>
              </a:lnSpc>
              <a:buNone/>
            </a:pPr>
            <a:r>
              <a:rPr b="0" lang="zh-CN" sz="1400" spc="-1" strike="noStrike">
                <a:solidFill>
                  <a:srgbClr val="ffffff"/>
                </a:solidFill>
                <a:latin typeface="Quattrocento Sans"/>
                <a:ea typeface="Quattrocento Sans"/>
              </a:rPr>
              <a:t>上下文表征不坍缩</a:t>
            </a:r>
            <a:endParaRPr b="0" lang="en-US" sz="1400" spc="-1" strike="noStrike">
              <a:latin typeface="Arial"/>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260" name="Shape 38"/>
          <p:cNvSpPr/>
          <p:nvPr/>
        </p:nvSpPr>
        <p:spPr>
          <a:xfrm>
            <a:off x="0" y="0"/>
            <a:ext cx="2285640" cy="9143640"/>
          </a:xfrm>
          <a:prstGeom prst="rect">
            <a:avLst/>
          </a:prstGeom>
          <a:solidFill>
            <a:srgbClr val="004060"/>
          </a:solidFill>
          <a:ln w="0">
            <a:noFill/>
          </a:ln>
        </p:spPr>
        <p:style>
          <a:lnRef idx="0"/>
          <a:fillRef idx="0"/>
          <a:effectRef idx="0"/>
          <a:fontRef idx="minor"/>
        </p:style>
      </p:sp>
      <p:sp>
        <p:nvSpPr>
          <p:cNvPr id="261" name="Shape 46"/>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262" name="Shape 47"/>
          <p:cNvSpPr/>
          <p:nvPr/>
        </p:nvSpPr>
        <p:spPr>
          <a:xfrm>
            <a:off x="0" y="2184480"/>
            <a:ext cx="2285640" cy="1168200"/>
          </a:xfrm>
          <a:prstGeom prst="rect">
            <a:avLst/>
          </a:prstGeom>
          <a:solidFill>
            <a:srgbClr val="005c82"/>
          </a:solidFill>
          <a:ln w="0">
            <a:noFill/>
          </a:ln>
        </p:spPr>
        <p:style>
          <a:lnRef idx="0"/>
          <a:fillRef idx="0"/>
          <a:effectRef idx="0"/>
          <a:fontRef idx="minor"/>
        </p:style>
      </p:sp>
      <p:sp>
        <p:nvSpPr>
          <p:cNvPr id="263" name="Text 49"/>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264" name="Text 50"/>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02 JEPA</a:t>
            </a:r>
            <a:r>
              <a:rPr b="1" lang="zh-CN" sz="1800" spc="-1" strike="noStrike">
                <a:solidFill>
                  <a:srgbClr val="ffffff"/>
                </a:solidFill>
                <a:latin typeface="Quattrocento Sans"/>
                <a:ea typeface="Quattrocento Sans"/>
              </a:rPr>
              <a:t>蓝图</a:t>
            </a:r>
            <a:endParaRPr b="0" lang="en-US" sz="1800" spc="-1" strike="noStrike">
              <a:latin typeface="Arial"/>
            </a:endParaRPr>
          </a:p>
        </p:txBody>
      </p:sp>
      <p:sp>
        <p:nvSpPr>
          <p:cNvPr id="265" name="Text 51"/>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266" name="Text 52"/>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267" name="Text 53"/>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268" name="Shape 4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269" name="Shape 4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270" name="Text 54"/>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2.2 JEPA</a:t>
            </a:r>
            <a:r>
              <a:rPr b="0" lang="zh-CN" sz="1400" spc="-1" strike="noStrike">
                <a:solidFill>
                  <a:srgbClr val="005c82"/>
                </a:solidFill>
                <a:latin typeface="Quattrocento Sans"/>
                <a:ea typeface="Quattrocento Sans"/>
              </a:rPr>
              <a:t>核心：表征空间预测</a:t>
            </a:r>
            <a:endParaRPr b="0" lang="en-US" sz="1400" spc="-1" strike="noStrike">
              <a:latin typeface="Arial"/>
            </a:endParaRPr>
          </a:p>
        </p:txBody>
      </p:sp>
      <p:sp>
        <p:nvSpPr>
          <p:cNvPr id="271" name="Text 55"/>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08</a:t>
            </a:r>
            <a:endParaRPr b="0" lang="en-US" sz="1400" spc="-1" strike="noStrike">
              <a:latin typeface="Arial"/>
            </a:endParaRPr>
          </a:p>
        </p:txBody>
      </p:sp>
      <p:sp>
        <p:nvSpPr>
          <p:cNvPr id="272" name="Text 56"/>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JEPA</a:t>
            </a:r>
            <a:r>
              <a:rPr b="1" lang="zh-CN" sz="2400" spc="-1" strike="noStrike">
                <a:solidFill>
                  <a:srgbClr val="005c82"/>
                </a:solidFill>
                <a:latin typeface="Quattrocento Sans"/>
                <a:ea typeface="Quattrocento Sans"/>
              </a:rPr>
              <a:t>核心：在表征空间做预测</a:t>
            </a:r>
            <a:endParaRPr b="0" lang="en-US" sz="2400" spc="-1" strike="noStrike">
              <a:latin typeface="Arial"/>
            </a:endParaRPr>
          </a:p>
        </p:txBody>
      </p:sp>
      <p:sp>
        <p:nvSpPr>
          <p:cNvPr id="273" name="Shape 50"/>
          <p:cNvSpPr/>
          <p:nvPr/>
        </p:nvSpPr>
        <p:spPr>
          <a:xfrm>
            <a:off x="2540160" y="1397160"/>
            <a:ext cx="13207680" cy="12240"/>
          </a:xfrm>
          <a:prstGeom prst="rect">
            <a:avLst/>
          </a:prstGeom>
          <a:solidFill>
            <a:srgbClr val="b0bec5"/>
          </a:solidFill>
          <a:ln w="0">
            <a:noFill/>
          </a:ln>
        </p:spPr>
        <p:style>
          <a:lnRef idx="0"/>
          <a:fillRef idx="0"/>
          <a:effectRef idx="0"/>
          <a:fontRef idx="minor"/>
        </p:style>
      </p:sp>
      <p:pic>
        <p:nvPicPr>
          <p:cNvPr id="274" name="" descr=""/>
          <p:cNvPicPr/>
          <p:nvPr/>
        </p:nvPicPr>
        <p:blipFill>
          <a:blip r:embed="rId1"/>
          <a:stretch/>
        </p:blipFill>
        <p:spPr>
          <a:xfrm>
            <a:off x="2514600" y="1409400"/>
            <a:ext cx="12344400" cy="7561440"/>
          </a:xfrm>
          <a:prstGeom prst="rect">
            <a:avLst/>
          </a:prstGeom>
          <a:ln w="0">
            <a:noFill/>
          </a:ln>
        </p:spPr>
      </p:pic>
      <p:pic>
        <p:nvPicPr>
          <p:cNvPr id="275" name="" descr=""/>
          <p:cNvPicPr/>
          <p:nvPr/>
        </p:nvPicPr>
        <p:blipFill>
          <a:blip r:embed="rId2"/>
          <a:stretch/>
        </p:blipFill>
        <p:spPr>
          <a:xfrm>
            <a:off x="7772400" y="3924720"/>
            <a:ext cx="6653880" cy="1790280"/>
          </a:xfrm>
          <a:prstGeom prst="rect">
            <a:avLst/>
          </a:prstGeom>
          <a:ln w="0">
            <a:noFill/>
          </a:ln>
        </p:spPr>
      </p:pic>
      <p:sp>
        <p:nvSpPr>
          <p:cNvPr id="276" name="Text 36"/>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2.2 JEPA</a:t>
            </a:r>
            <a:r>
              <a:rPr b="0" lang="zh-CN" sz="1400" spc="-1" strike="noStrike">
                <a:solidFill>
                  <a:srgbClr val="005c82"/>
                </a:solidFill>
                <a:latin typeface="Quattrocento Sans"/>
                <a:ea typeface="Quattrocento Sans"/>
              </a:rPr>
              <a:t>核心：表征空间预测</a:t>
            </a:r>
            <a:endParaRPr b="0" lang="en-US" sz="1400" spc="-1" strike="noStrike">
              <a:latin typeface="Arial"/>
            </a:endParaRPr>
          </a:p>
        </p:txBody>
      </p:sp>
      <p:sp>
        <p:nvSpPr>
          <p:cNvPr id="277" name=""/>
          <p:cNvSpPr txBox="1"/>
          <p:nvPr/>
        </p:nvSpPr>
        <p:spPr>
          <a:xfrm>
            <a:off x="11430000" y="6172200"/>
            <a:ext cx="1814040" cy="1146600"/>
          </a:xfrm>
          <a:prstGeom prst="rect">
            <a:avLst/>
          </a:prstGeom>
          <a:noFill/>
          <a:ln w="0">
            <a:noFill/>
          </a:ln>
        </p:spPr>
        <p:txBody>
          <a:bodyPr lIns="90000" rIns="90000" tIns="45000" bIns="45000" anchor="t">
            <a:noAutofit/>
          </a:bodyPr>
          <a:p>
            <a:pPr>
              <a:lnSpc>
                <a:spcPct val="150000"/>
              </a:lnSpc>
              <a:buNone/>
            </a:pPr>
            <a:r>
              <a:rPr b="0" lang="en-US" sz="1600" spc="-1" strike="noStrike">
                <a:solidFill>
                  <a:srgbClr val="333333"/>
                </a:solidFill>
                <a:latin typeface="Quattrocento Sans"/>
                <a:ea typeface="Quattrocento Sans"/>
              </a:rPr>
              <a:t>Z</a:t>
            </a:r>
            <a:r>
              <a:rPr b="0" lang="zh-CN" sz="1600" spc="-1" strike="noStrike">
                <a:solidFill>
                  <a:srgbClr val="333333"/>
                </a:solidFill>
                <a:latin typeface="Quattrocento Sans"/>
                <a:ea typeface="Quattrocento Sans"/>
              </a:rPr>
              <a:t>只是辅助预测的假</a:t>
            </a:r>
            <a:r>
              <a:rPr b="0" lang="zh-CN" sz="1600" spc="-1" strike="noStrike">
                <a:solidFill>
                  <a:srgbClr val="333333"/>
                </a:solidFill>
                <a:latin typeface="Quattrocento Sans"/>
                <a:ea typeface="Quattrocento Sans"/>
              </a:rPr>
              <a:t>设，用来更新梯度网络</a:t>
            </a:r>
            <a:endParaRPr b="0" lang="en-US" sz="1600" spc="-1" strike="noStrike">
              <a:latin typeface="Arial"/>
            </a:endParaRPr>
          </a:p>
        </p:txBody>
      </p:sp>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278" name="Shape 11"/>
          <p:cNvSpPr/>
          <p:nvPr/>
        </p:nvSpPr>
        <p:spPr>
          <a:xfrm>
            <a:off x="0" y="0"/>
            <a:ext cx="2285640" cy="9143640"/>
          </a:xfrm>
          <a:prstGeom prst="rect">
            <a:avLst/>
          </a:prstGeom>
          <a:solidFill>
            <a:srgbClr val="004060"/>
          </a:solidFill>
          <a:ln w="0">
            <a:noFill/>
          </a:ln>
        </p:spPr>
        <p:style>
          <a:lnRef idx="0"/>
          <a:fillRef idx="0"/>
          <a:effectRef idx="0"/>
          <a:fontRef idx="minor"/>
        </p:style>
      </p:sp>
      <p:sp>
        <p:nvSpPr>
          <p:cNvPr id="279" name="Shape 5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280" name="Shape 52"/>
          <p:cNvSpPr/>
          <p:nvPr/>
        </p:nvSpPr>
        <p:spPr>
          <a:xfrm>
            <a:off x="0" y="2184480"/>
            <a:ext cx="2285640" cy="1168200"/>
          </a:xfrm>
          <a:prstGeom prst="rect">
            <a:avLst/>
          </a:prstGeom>
          <a:solidFill>
            <a:srgbClr val="005c82"/>
          </a:solidFill>
          <a:ln w="0">
            <a:noFill/>
          </a:ln>
        </p:spPr>
        <p:style>
          <a:lnRef idx="0"/>
          <a:fillRef idx="0"/>
          <a:effectRef idx="0"/>
          <a:fontRef idx="minor"/>
        </p:style>
      </p:sp>
      <p:sp>
        <p:nvSpPr>
          <p:cNvPr id="281" name="Text 58"/>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282" name="Text 59"/>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02 JEPA</a:t>
            </a:r>
            <a:r>
              <a:rPr b="1" lang="zh-CN" sz="1800" spc="-1" strike="noStrike">
                <a:solidFill>
                  <a:srgbClr val="ffffff"/>
                </a:solidFill>
                <a:latin typeface="Quattrocento Sans"/>
                <a:ea typeface="Quattrocento Sans"/>
              </a:rPr>
              <a:t>蓝图</a:t>
            </a:r>
            <a:endParaRPr b="0" lang="en-US" sz="1800" spc="-1" strike="noStrike">
              <a:latin typeface="Arial"/>
            </a:endParaRPr>
          </a:p>
        </p:txBody>
      </p:sp>
      <p:sp>
        <p:nvSpPr>
          <p:cNvPr id="283" name="Text 60"/>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284" name="Text 61"/>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285" name="Text 62"/>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286" name="Shape 53"/>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287" name="Shape 54"/>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288" name="Text 63"/>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2.2 JEPA</a:t>
            </a:r>
            <a:r>
              <a:rPr b="0" lang="zh-CN" sz="1400" spc="-1" strike="noStrike">
                <a:solidFill>
                  <a:srgbClr val="005c82"/>
                </a:solidFill>
                <a:latin typeface="Quattrocento Sans"/>
                <a:ea typeface="Quattrocento Sans"/>
              </a:rPr>
              <a:t>核心：表征空间预测</a:t>
            </a:r>
            <a:endParaRPr b="0" lang="en-US" sz="1400" spc="-1" strike="noStrike">
              <a:latin typeface="Arial"/>
            </a:endParaRPr>
          </a:p>
        </p:txBody>
      </p:sp>
      <p:sp>
        <p:nvSpPr>
          <p:cNvPr id="289" name="Text 64"/>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08</a:t>
            </a:r>
            <a:endParaRPr b="0" lang="en-US" sz="1400" spc="-1" strike="noStrike">
              <a:latin typeface="Arial"/>
            </a:endParaRPr>
          </a:p>
        </p:txBody>
      </p:sp>
      <p:sp>
        <p:nvSpPr>
          <p:cNvPr id="290" name="Text 65"/>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JEPA</a:t>
            </a:r>
            <a:r>
              <a:rPr b="1" lang="zh-CN" sz="2400" spc="-1" strike="noStrike">
                <a:solidFill>
                  <a:srgbClr val="005c82"/>
                </a:solidFill>
                <a:latin typeface="Quattrocento Sans"/>
                <a:ea typeface="Quattrocento Sans"/>
              </a:rPr>
              <a:t>核心：在表征空间做预测</a:t>
            </a:r>
            <a:endParaRPr b="0" lang="en-US" sz="2400" spc="-1" strike="noStrike">
              <a:latin typeface="Arial"/>
            </a:endParaRPr>
          </a:p>
        </p:txBody>
      </p:sp>
      <p:sp>
        <p:nvSpPr>
          <p:cNvPr id="291" name="Shape 55"/>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292" name="Text 66"/>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02 JEPA</a:t>
            </a:r>
            <a:r>
              <a:rPr b="1" lang="zh-CN" sz="1400" spc="-1" strike="noStrike">
                <a:solidFill>
                  <a:srgbClr val="005c82"/>
                </a:solidFill>
                <a:latin typeface="Quattrocento Sans"/>
                <a:ea typeface="Quattrocento Sans"/>
              </a:rPr>
              <a:t>蓝图</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2.2 JEPA</a:t>
            </a:r>
            <a:r>
              <a:rPr b="0" lang="zh-CN" sz="1400" spc="-1" strike="noStrike">
                <a:solidFill>
                  <a:srgbClr val="005c82"/>
                </a:solidFill>
                <a:latin typeface="Quattrocento Sans"/>
                <a:ea typeface="Quattrocento Sans"/>
              </a:rPr>
              <a:t>核心：表征空间预测</a:t>
            </a:r>
            <a:endParaRPr b="0" lang="en-US" sz="1400" spc="-1" strike="noStrike">
              <a:latin typeface="Arial"/>
            </a:endParaRPr>
          </a:p>
        </p:txBody>
      </p:sp>
      <p:pic>
        <p:nvPicPr>
          <p:cNvPr id="293" name="" descr=""/>
          <p:cNvPicPr/>
          <p:nvPr/>
        </p:nvPicPr>
        <p:blipFill>
          <a:blip r:embed="rId1"/>
          <a:stretch/>
        </p:blipFill>
        <p:spPr>
          <a:xfrm>
            <a:off x="2477880" y="1371600"/>
            <a:ext cx="12838320" cy="5029200"/>
          </a:xfrm>
          <a:prstGeom prst="rect">
            <a:avLst/>
          </a:prstGeom>
          <a:ln w="0">
            <a:noFill/>
          </a:ln>
        </p:spPr>
      </p:pic>
      <p:pic>
        <p:nvPicPr>
          <p:cNvPr id="294" name="" descr=""/>
          <p:cNvPicPr/>
          <p:nvPr/>
        </p:nvPicPr>
        <p:blipFill>
          <a:blip r:embed="rId2"/>
          <a:stretch/>
        </p:blipFill>
        <p:spPr>
          <a:xfrm>
            <a:off x="2676960" y="6829920"/>
            <a:ext cx="12410640" cy="1323360"/>
          </a:xfrm>
          <a:prstGeom prst="rect">
            <a:avLst/>
          </a:prstGeom>
          <a:ln w="0">
            <a:noFill/>
          </a:ln>
        </p:spPr>
      </p:pic>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295" name="Shape 0"/>
          <p:cNvSpPr/>
          <p:nvPr/>
        </p:nvSpPr>
        <p:spPr>
          <a:xfrm>
            <a:off x="2031840" y="1778040"/>
            <a:ext cx="4825800" cy="4825800"/>
          </a:xfrm>
          <a:prstGeom prst="rect">
            <a:avLst/>
          </a:prstGeom>
          <a:solidFill>
            <a:srgbClr val="005c82">
              <a:alpha val="4000"/>
            </a:srgbClr>
          </a:solidFill>
          <a:ln w="12600">
            <a:solidFill>
              <a:srgbClr val="005c82"/>
            </a:solidFill>
            <a:round/>
          </a:ln>
        </p:spPr>
        <p:style>
          <a:lnRef idx="0"/>
          <a:fillRef idx="0"/>
          <a:effectRef idx="0"/>
          <a:fontRef idx="minor"/>
        </p:style>
      </p:sp>
      <p:sp>
        <p:nvSpPr>
          <p:cNvPr id="296" name="Shape 1"/>
          <p:cNvSpPr/>
          <p:nvPr/>
        </p:nvSpPr>
        <p:spPr>
          <a:xfrm>
            <a:off x="2540160" y="2286000"/>
            <a:ext cx="3809520" cy="3809520"/>
          </a:xfrm>
          <a:prstGeom prst="rect">
            <a:avLst/>
          </a:prstGeom>
          <a:solidFill>
            <a:srgbClr val="005c82">
              <a:alpha val="4000"/>
            </a:srgbClr>
          </a:solidFill>
          <a:ln w="12600">
            <a:solidFill>
              <a:srgbClr val="005c82"/>
            </a:solidFill>
            <a:round/>
          </a:ln>
        </p:spPr>
        <p:style>
          <a:lnRef idx="0"/>
          <a:fillRef idx="0"/>
          <a:effectRef idx="0"/>
          <a:fontRef idx="minor"/>
        </p:style>
      </p:sp>
      <p:sp>
        <p:nvSpPr>
          <p:cNvPr id="297" name="Shape 2"/>
          <p:cNvSpPr/>
          <p:nvPr/>
        </p:nvSpPr>
        <p:spPr>
          <a:xfrm>
            <a:off x="3048120" y="2793960"/>
            <a:ext cx="2793600" cy="2793600"/>
          </a:xfrm>
          <a:prstGeom prst="rect">
            <a:avLst/>
          </a:prstGeom>
          <a:solidFill>
            <a:srgbClr val="ffffff"/>
          </a:solidFill>
          <a:ln w="12600">
            <a:solidFill>
              <a:srgbClr val="005c82"/>
            </a:solidFill>
            <a:round/>
          </a:ln>
        </p:spPr>
        <p:style>
          <a:lnRef idx="0"/>
          <a:fillRef idx="0"/>
          <a:effectRef idx="0"/>
          <a:fontRef idx="minor"/>
        </p:style>
      </p:sp>
      <p:sp>
        <p:nvSpPr>
          <p:cNvPr id="298" name="Text 3"/>
          <p:cNvSpPr/>
          <p:nvPr/>
        </p:nvSpPr>
        <p:spPr>
          <a:xfrm>
            <a:off x="3048120" y="2793960"/>
            <a:ext cx="2793600" cy="27936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8000" spc="-1" strike="noStrike">
                <a:solidFill>
                  <a:srgbClr val="005c82"/>
                </a:solidFill>
                <a:latin typeface="Quattrocento Sans"/>
                <a:ea typeface="Quattrocento Sans"/>
              </a:rPr>
              <a:t>03</a:t>
            </a:r>
            <a:endParaRPr b="0" lang="en-US" sz="8000" spc="-1" strike="noStrike">
              <a:latin typeface="Arial"/>
            </a:endParaRPr>
          </a:p>
        </p:txBody>
      </p:sp>
      <p:sp>
        <p:nvSpPr>
          <p:cNvPr id="299" name="Shape 4"/>
          <p:cNvSpPr/>
          <p:nvPr/>
        </p:nvSpPr>
        <p:spPr>
          <a:xfrm>
            <a:off x="7620120" y="2793960"/>
            <a:ext cx="12240" cy="2793600"/>
          </a:xfrm>
          <a:prstGeom prst="rect">
            <a:avLst/>
          </a:prstGeom>
          <a:solidFill>
            <a:srgbClr val="b0bec5"/>
          </a:solidFill>
          <a:ln w="0">
            <a:noFill/>
          </a:ln>
        </p:spPr>
        <p:style>
          <a:lnRef idx="0"/>
          <a:fillRef idx="0"/>
          <a:effectRef idx="0"/>
          <a:fontRef idx="minor"/>
        </p:style>
      </p:sp>
      <p:sp>
        <p:nvSpPr>
          <p:cNvPr id="300" name="Text 5"/>
          <p:cNvSpPr/>
          <p:nvPr/>
        </p:nvSpPr>
        <p:spPr>
          <a:xfrm>
            <a:off x="8128080" y="2921040"/>
            <a:ext cx="711180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398" strike="noStrike">
                <a:solidFill>
                  <a:srgbClr val="00acc1"/>
                </a:solidFill>
                <a:latin typeface="Quattrocento Sans"/>
                <a:ea typeface="Quattrocento Sans"/>
              </a:rPr>
              <a:t>CHAPTER THREE</a:t>
            </a:r>
            <a:endParaRPr b="0" lang="en-US" sz="1400" spc="-1" strike="noStrike">
              <a:latin typeface="Arial"/>
            </a:endParaRPr>
          </a:p>
        </p:txBody>
      </p:sp>
      <p:sp>
        <p:nvSpPr>
          <p:cNvPr id="301" name="Text 6"/>
          <p:cNvSpPr/>
          <p:nvPr/>
        </p:nvSpPr>
        <p:spPr>
          <a:xfrm>
            <a:off x="8128080" y="3403440"/>
            <a:ext cx="73656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3600" spc="-1" strike="noStrike">
                <a:solidFill>
                  <a:srgbClr val="005c82"/>
                </a:solidFill>
                <a:latin typeface="Quattrocento Sans"/>
                <a:ea typeface="Quattrocento Sans"/>
              </a:rPr>
              <a:t>LeJEPA</a:t>
            </a:r>
            <a:r>
              <a:rPr b="1" lang="zh-CN" sz="3600" spc="-1" strike="noStrike">
                <a:solidFill>
                  <a:srgbClr val="005c82"/>
                </a:solidFill>
                <a:latin typeface="Quattrocento Sans"/>
                <a:ea typeface="Quattrocento Sans"/>
              </a:rPr>
              <a:t>论文解析</a:t>
            </a:r>
            <a:endParaRPr b="0" lang="en-US" sz="3600" spc="-1" strike="noStrike">
              <a:latin typeface="Arial"/>
            </a:endParaRPr>
          </a:p>
        </p:txBody>
      </p:sp>
      <p:sp>
        <p:nvSpPr>
          <p:cNvPr id="302" name="Text 7"/>
          <p:cNvSpPr/>
          <p:nvPr/>
        </p:nvSpPr>
        <p:spPr>
          <a:xfrm>
            <a:off x="8128080" y="4419720"/>
            <a:ext cx="7365600" cy="634680"/>
          </a:xfrm>
          <a:prstGeom prst="rect">
            <a:avLst/>
          </a:prstGeom>
          <a:noFill/>
          <a:ln w="0">
            <a:noFill/>
          </a:ln>
        </p:spPr>
        <p:style>
          <a:lnRef idx="0"/>
          <a:fillRef idx="0"/>
          <a:effectRef idx="0"/>
          <a:fontRef idx="minor"/>
        </p:style>
        <p:txBody>
          <a:bodyPr lIns="0" rIns="0" tIns="0" bIns="0" anchor="t">
            <a:noAutofit/>
          </a:bodyPr>
          <a:p>
            <a:pPr>
              <a:lnSpc>
                <a:spcPct val="140000"/>
              </a:lnSpc>
              <a:buNone/>
            </a:pPr>
            <a:r>
              <a:rPr b="0" lang="en-US" sz="1400" spc="-1" strike="noStrike">
                <a:solidFill>
                  <a:srgbClr val="b0bec5"/>
                </a:solidFill>
                <a:latin typeface="Quattrocento Sans"/>
                <a:ea typeface="Quattrocento Sans"/>
              </a:rPr>
              <a:t>Latent-Euclidean Joint-Embedding Predictive Architecture</a:t>
            </a:r>
            <a:endParaRPr b="0" lang="en-US" sz="1400" spc="-1" strike="noStrike">
              <a:latin typeface="Arial"/>
            </a:endParaRPr>
          </a:p>
          <a:p>
            <a:pPr>
              <a:lnSpc>
                <a:spcPct val="140000"/>
              </a:lnSpc>
              <a:buNone/>
            </a:pPr>
            <a:r>
              <a:rPr b="0" lang="en-US" sz="1400" spc="-1" strike="noStrike">
                <a:solidFill>
                  <a:srgbClr val="b0bec5"/>
                </a:solidFill>
                <a:latin typeface="Quattrocento Sans"/>
                <a:ea typeface="Quattrocento Sans"/>
              </a:rPr>
              <a:t>SIGReg: One Regularizer to Replace All Heuristics</a:t>
            </a:r>
            <a:endParaRPr b="0" lang="en-US" sz="1400" spc="-1" strike="noStrike">
              <a:latin typeface="Arial"/>
            </a:endParaRPr>
          </a:p>
        </p:txBody>
      </p:sp>
      <p:sp>
        <p:nvSpPr>
          <p:cNvPr id="303" name="Shape 8"/>
          <p:cNvSpPr/>
          <p:nvPr/>
        </p:nvSpPr>
        <p:spPr>
          <a:xfrm>
            <a:off x="8128080" y="5207040"/>
            <a:ext cx="2539800" cy="25200"/>
          </a:xfrm>
          <a:prstGeom prst="rect">
            <a:avLst/>
          </a:prstGeom>
          <a:solidFill>
            <a:srgbClr val="00acc1"/>
          </a:solidFill>
          <a:ln w="0">
            <a:noFill/>
          </a:ln>
        </p:spPr>
        <p:style>
          <a:lnRef idx="0"/>
          <a:fillRef idx="0"/>
          <a:effectRef idx="0"/>
          <a:fontRef idx="minor"/>
        </p:style>
      </p:sp>
      <p:sp>
        <p:nvSpPr>
          <p:cNvPr id="304" name="Text 9"/>
          <p:cNvSpPr/>
          <p:nvPr/>
        </p:nvSpPr>
        <p:spPr>
          <a:xfrm>
            <a:off x="8128080" y="54608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3.1</a:t>
            </a:r>
            <a:r>
              <a:rPr b="0" lang="zh-CN" sz="1500" spc="-1" strike="noStrike">
                <a:solidFill>
                  <a:srgbClr val="333333"/>
                </a:solidFill>
                <a:latin typeface="Quattrocento Sans"/>
                <a:ea typeface="Quattrocento Sans"/>
              </a:rPr>
              <a:t>　</a:t>
            </a:r>
            <a:r>
              <a:rPr b="0" lang="en-US" sz="1500" spc="-1" strike="noStrike">
                <a:solidFill>
                  <a:srgbClr val="333333"/>
                </a:solidFill>
                <a:latin typeface="Quattrocento Sans"/>
                <a:ea typeface="Quattrocento Sans"/>
              </a:rPr>
              <a:t>SIGReg</a:t>
            </a:r>
            <a:r>
              <a:rPr b="0" lang="zh-CN" sz="1500" spc="-1" strike="noStrike">
                <a:solidFill>
                  <a:srgbClr val="333333"/>
                </a:solidFill>
                <a:latin typeface="Quattrocento Sans"/>
                <a:ea typeface="Quattrocento Sans"/>
              </a:rPr>
              <a:t>：一个正则项取代所有启发式</a:t>
            </a:r>
            <a:r>
              <a:rPr b="0" lang="en-US" sz="1500" spc="-1" strike="noStrike">
                <a:solidFill>
                  <a:srgbClr val="333333"/>
                </a:solidFill>
                <a:latin typeface="Quattrocento Sans"/>
                <a:ea typeface="Quattrocento Sans"/>
              </a:rPr>
              <a:t>trick</a:t>
            </a:r>
            <a:endParaRPr b="0" lang="en-US" sz="1500" spc="-1" strike="noStrike">
              <a:latin typeface="Arial"/>
            </a:endParaRPr>
          </a:p>
        </p:txBody>
      </p:sp>
      <p:sp>
        <p:nvSpPr>
          <p:cNvPr id="305" name="Text 10"/>
          <p:cNvSpPr/>
          <p:nvPr/>
        </p:nvSpPr>
        <p:spPr>
          <a:xfrm>
            <a:off x="8128080" y="59180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3.2</a:t>
            </a:r>
            <a:r>
              <a:rPr b="0" lang="zh-CN" sz="1500" spc="-1" strike="noStrike">
                <a:solidFill>
                  <a:srgbClr val="333333"/>
                </a:solidFill>
                <a:latin typeface="Quattrocento Sans"/>
                <a:ea typeface="Quattrocento Sans"/>
              </a:rPr>
              <a:t>　从</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围堵坍缩</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到</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塑造最优分布</a:t>
            </a:r>
            <a:r>
              <a:rPr b="0" lang="en-US" sz="1500" spc="-1" strike="noStrike">
                <a:solidFill>
                  <a:srgbClr val="333333"/>
                </a:solidFill>
                <a:latin typeface="Quattrocento Sans"/>
                <a:ea typeface="Quattrocento Sans"/>
              </a:rPr>
              <a:t>"</a:t>
            </a:r>
            <a:endParaRPr b="0" lang="en-US" sz="1500" spc="-1" strike="noStrike">
              <a:latin typeface="Arial"/>
            </a:endParaRPr>
          </a:p>
        </p:txBody>
      </p:sp>
      <p:sp>
        <p:nvSpPr>
          <p:cNvPr id="306" name="Text 11"/>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9</a:t>
            </a:r>
            <a:endParaRPr b="0" lang="en-US" sz="1400" spc="-1" strike="noStrike">
              <a:latin typeface="Arial"/>
            </a:endParaRPr>
          </a:p>
        </p:txBody>
      </p:sp>
    </p:spTree>
  </p:cSld>
  <p:transition>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307" name="Shape 56"/>
          <p:cNvSpPr/>
          <p:nvPr/>
        </p:nvSpPr>
        <p:spPr>
          <a:xfrm>
            <a:off x="0" y="0"/>
            <a:ext cx="2285640" cy="9143640"/>
          </a:xfrm>
          <a:prstGeom prst="rect">
            <a:avLst/>
          </a:prstGeom>
          <a:solidFill>
            <a:srgbClr val="004060"/>
          </a:solidFill>
          <a:ln w="0">
            <a:noFill/>
          </a:ln>
        </p:spPr>
        <p:style>
          <a:lnRef idx="0"/>
          <a:fillRef idx="0"/>
          <a:effectRef idx="0"/>
          <a:fontRef idx="minor"/>
        </p:style>
      </p:sp>
      <p:sp>
        <p:nvSpPr>
          <p:cNvPr id="308" name="Shape 57"/>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309" name="Shape 58"/>
          <p:cNvSpPr/>
          <p:nvPr/>
        </p:nvSpPr>
        <p:spPr>
          <a:xfrm>
            <a:off x="0" y="3352680"/>
            <a:ext cx="2285640" cy="1168200"/>
          </a:xfrm>
          <a:prstGeom prst="rect">
            <a:avLst/>
          </a:prstGeom>
          <a:solidFill>
            <a:srgbClr val="005c82"/>
          </a:solidFill>
          <a:ln w="0">
            <a:noFill/>
          </a:ln>
        </p:spPr>
        <p:style>
          <a:lnRef idx="0"/>
          <a:fillRef idx="0"/>
          <a:effectRef idx="0"/>
          <a:fontRef idx="minor"/>
        </p:style>
      </p:sp>
      <p:sp>
        <p:nvSpPr>
          <p:cNvPr id="310" name="Text 67"/>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311" name="Text 68"/>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312" name="Text 69"/>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03 LeJEPA</a:t>
            </a:r>
            <a:endParaRPr b="0" lang="en-US" sz="1800" spc="-1" strike="noStrike">
              <a:latin typeface="Arial"/>
            </a:endParaRPr>
          </a:p>
        </p:txBody>
      </p:sp>
      <p:sp>
        <p:nvSpPr>
          <p:cNvPr id="313" name="Text 70"/>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314" name="Text 71"/>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315" name="Shape 59"/>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316" name="Shape 60"/>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317" name="Text 72"/>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03 LeJEPA</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3.1 SIGReg</a:t>
            </a:r>
            <a:r>
              <a:rPr b="0" lang="zh-CN" sz="1400" spc="-1" strike="noStrike">
                <a:solidFill>
                  <a:srgbClr val="005c82"/>
                </a:solidFill>
                <a:latin typeface="Quattrocento Sans"/>
                <a:ea typeface="Quattrocento Sans"/>
              </a:rPr>
              <a:t>核心创新</a:t>
            </a:r>
            <a:endParaRPr b="0" lang="en-US" sz="1400" spc="-1" strike="noStrike">
              <a:latin typeface="Arial"/>
            </a:endParaRPr>
          </a:p>
        </p:txBody>
      </p:sp>
      <p:sp>
        <p:nvSpPr>
          <p:cNvPr id="318" name="Text 73"/>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10</a:t>
            </a:r>
            <a:endParaRPr b="0" lang="en-US" sz="1400" spc="-1" strike="noStrike">
              <a:latin typeface="Arial"/>
            </a:endParaRPr>
          </a:p>
        </p:txBody>
      </p:sp>
      <p:sp>
        <p:nvSpPr>
          <p:cNvPr id="319" name="Text 74"/>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SIGReg</a:t>
            </a:r>
            <a:r>
              <a:rPr b="1" lang="zh-CN" sz="2400" spc="-1" strike="noStrike">
                <a:solidFill>
                  <a:srgbClr val="005c82"/>
                </a:solidFill>
                <a:latin typeface="Quattrocento Sans"/>
                <a:ea typeface="Quattrocento Sans"/>
              </a:rPr>
              <a:t>：一个正则项取代所有启发式</a:t>
            </a:r>
            <a:r>
              <a:rPr b="1" lang="en-US" sz="2400" spc="-1" strike="noStrike">
                <a:solidFill>
                  <a:srgbClr val="005c82"/>
                </a:solidFill>
                <a:latin typeface="Quattrocento Sans"/>
                <a:ea typeface="Quattrocento Sans"/>
              </a:rPr>
              <a:t>trick</a:t>
            </a:r>
            <a:endParaRPr b="0" lang="en-US" sz="2400" spc="-1" strike="noStrike">
              <a:latin typeface="Arial"/>
            </a:endParaRPr>
          </a:p>
        </p:txBody>
      </p:sp>
      <p:pic>
        <p:nvPicPr>
          <p:cNvPr id="320" name="" descr=""/>
          <p:cNvPicPr/>
          <p:nvPr/>
        </p:nvPicPr>
        <p:blipFill>
          <a:blip r:embed="rId1"/>
          <a:stretch/>
        </p:blipFill>
        <p:spPr>
          <a:xfrm>
            <a:off x="2514600" y="1600200"/>
            <a:ext cx="12801600" cy="7324200"/>
          </a:xfrm>
          <a:prstGeom prst="rect">
            <a:avLst/>
          </a:prstGeom>
          <a:ln w="0">
            <a:noFill/>
          </a:ln>
        </p:spPr>
      </p:pic>
    </p:spTree>
  </p:cSld>
  <p:transition>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321" name="Shape 61"/>
          <p:cNvSpPr/>
          <p:nvPr/>
        </p:nvSpPr>
        <p:spPr>
          <a:xfrm>
            <a:off x="0" y="0"/>
            <a:ext cx="2285640" cy="9143640"/>
          </a:xfrm>
          <a:prstGeom prst="rect">
            <a:avLst/>
          </a:prstGeom>
          <a:solidFill>
            <a:srgbClr val="004060"/>
          </a:solidFill>
          <a:ln w="0">
            <a:noFill/>
          </a:ln>
        </p:spPr>
        <p:style>
          <a:lnRef idx="0"/>
          <a:fillRef idx="0"/>
          <a:effectRef idx="0"/>
          <a:fontRef idx="minor"/>
        </p:style>
      </p:sp>
      <p:sp>
        <p:nvSpPr>
          <p:cNvPr id="322" name="Shape 62"/>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323" name="Shape 63"/>
          <p:cNvSpPr/>
          <p:nvPr/>
        </p:nvSpPr>
        <p:spPr>
          <a:xfrm>
            <a:off x="0" y="3352680"/>
            <a:ext cx="2285640" cy="1168200"/>
          </a:xfrm>
          <a:prstGeom prst="rect">
            <a:avLst/>
          </a:prstGeom>
          <a:solidFill>
            <a:srgbClr val="005c82"/>
          </a:solidFill>
          <a:ln w="0">
            <a:noFill/>
          </a:ln>
        </p:spPr>
        <p:style>
          <a:lnRef idx="0"/>
          <a:fillRef idx="0"/>
          <a:effectRef idx="0"/>
          <a:fontRef idx="minor"/>
        </p:style>
      </p:sp>
      <p:sp>
        <p:nvSpPr>
          <p:cNvPr id="324" name="Text 75"/>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325" name="Text 76"/>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326" name="Text 77"/>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03 LeJEPA</a:t>
            </a:r>
            <a:endParaRPr b="0" lang="en-US" sz="1800" spc="-1" strike="noStrike">
              <a:latin typeface="Arial"/>
            </a:endParaRPr>
          </a:p>
        </p:txBody>
      </p:sp>
      <p:sp>
        <p:nvSpPr>
          <p:cNvPr id="327" name="Text 78"/>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328" name="Text 79"/>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329" name="Shape 64"/>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330" name="Shape 65"/>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331" name="Text 8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03 LeJEPA</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3.1 SIGReg</a:t>
            </a:r>
            <a:r>
              <a:rPr b="0" lang="zh-CN" sz="1400" spc="-1" strike="noStrike">
                <a:solidFill>
                  <a:srgbClr val="005c82"/>
                </a:solidFill>
                <a:latin typeface="Quattrocento Sans"/>
                <a:ea typeface="Quattrocento Sans"/>
              </a:rPr>
              <a:t>核心创新</a:t>
            </a:r>
            <a:endParaRPr b="0" lang="en-US" sz="1400" spc="-1" strike="noStrike">
              <a:latin typeface="Arial"/>
            </a:endParaRPr>
          </a:p>
        </p:txBody>
      </p:sp>
      <p:sp>
        <p:nvSpPr>
          <p:cNvPr id="332" name="Text 8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10</a:t>
            </a:r>
            <a:endParaRPr b="0" lang="en-US" sz="1400" spc="-1" strike="noStrike">
              <a:latin typeface="Arial"/>
            </a:endParaRPr>
          </a:p>
        </p:txBody>
      </p:sp>
      <p:sp>
        <p:nvSpPr>
          <p:cNvPr id="333" name="Text 82"/>
          <p:cNvSpPr/>
          <p:nvPr/>
        </p:nvSpPr>
        <p:spPr>
          <a:xfrm>
            <a:off x="2540160" y="863640"/>
            <a:ext cx="13207680" cy="456840"/>
          </a:xfrm>
          <a:prstGeom prst="rect">
            <a:avLst/>
          </a:prstGeom>
          <a:noFill/>
          <a:ln w="0">
            <a:noFill/>
          </a:ln>
        </p:spPr>
        <p:style>
          <a:lnRef idx="0"/>
          <a:fillRef idx="0"/>
          <a:effectRef idx="0"/>
          <a:fontRef idx="minor"/>
        </p:style>
      </p:sp>
      <p:pic>
        <p:nvPicPr>
          <p:cNvPr id="334" name="" descr=""/>
          <p:cNvPicPr/>
          <p:nvPr/>
        </p:nvPicPr>
        <p:blipFill>
          <a:blip r:embed="rId1"/>
          <a:stretch/>
        </p:blipFill>
        <p:spPr>
          <a:xfrm>
            <a:off x="4572000" y="634680"/>
            <a:ext cx="8686800" cy="8248320"/>
          </a:xfrm>
          <a:prstGeom prst="rect">
            <a:avLst/>
          </a:prstGeom>
          <a:ln w="0">
            <a:noFill/>
          </a:ln>
        </p:spPr>
      </p:pic>
    </p:spTree>
  </p:cSld>
  <p:transition>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335"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336"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337" name="Shape 2"/>
          <p:cNvSpPr/>
          <p:nvPr/>
        </p:nvSpPr>
        <p:spPr>
          <a:xfrm>
            <a:off x="0" y="3352680"/>
            <a:ext cx="2285640" cy="1168200"/>
          </a:xfrm>
          <a:prstGeom prst="rect">
            <a:avLst/>
          </a:prstGeom>
          <a:solidFill>
            <a:srgbClr val="005c82"/>
          </a:solidFill>
          <a:ln w="0">
            <a:noFill/>
          </a:ln>
        </p:spPr>
        <p:style>
          <a:lnRef idx="0"/>
          <a:fillRef idx="0"/>
          <a:effectRef idx="0"/>
          <a:fontRef idx="minor"/>
        </p:style>
      </p:sp>
      <p:sp>
        <p:nvSpPr>
          <p:cNvPr id="338"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339"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340"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03 LeJEPA</a:t>
            </a:r>
            <a:endParaRPr b="0" lang="en-US" sz="1800" spc="-1" strike="noStrike">
              <a:latin typeface="Arial"/>
            </a:endParaRPr>
          </a:p>
        </p:txBody>
      </p:sp>
      <p:sp>
        <p:nvSpPr>
          <p:cNvPr id="341"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342"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343"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344"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345"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03 LeJEPA</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3.1 SIGReg</a:t>
            </a:r>
            <a:r>
              <a:rPr b="0" lang="zh-CN" sz="1400" spc="-1" strike="noStrike">
                <a:solidFill>
                  <a:srgbClr val="005c82"/>
                </a:solidFill>
                <a:latin typeface="Quattrocento Sans"/>
                <a:ea typeface="Quattrocento Sans"/>
              </a:rPr>
              <a:t>核心创新</a:t>
            </a:r>
            <a:endParaRPr b="0" lang="en-US" sz="1400" spc="-1" strike="noStrike">
              <a:latin typeface="Arial"/>
            </a:endParaRPr>
          </a:p>
        </p:txBody>
      </p:sp>
      <p:sp>
        <p:nvSpPr>
          <p:cNvPr id="346"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10</a:t>
            </a:r>
            <a:endParaRPr b="0" lang="en-US" sz="1400" spc="-1" strike="noStrike">
              <a:latin typeface="Arial"/>
            </a:endParaRPr>
          </a:p>
        </p:txBody>
      </p:sp>
      <p:sp>
        <p:nvSpPr>
          <p:cNvPr id="347"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SIGReg</a:t>
            </a:r>
            <a:r>
              <a:rPr b="1" lang="zh-CN" sz="2400" spc="-1" strike="noStrike">
                <a:solidFill>
                  <a:srgbClr val="005c82"/>
                </a:solidFill>
                <a:latin typeface="Quattrocento Sans"/>
                <a:ea typeface="Quattrocento Sans"/>
              </a:rPr>
              <a:t>：一个正则项取代所有启发式</a:t>
            </a:r>
            <a:r>
              <a:rPr b="1" lang="en-US" sz="2400" spc="-1" strike="noStrike">
                <a:solidFill>
                  <a:srgbClr val="005c82"/>
                </a:solidFill>
                <a:latin typeface="Quattrocento Sans"/>
                <a:ea typeface="Quattrocento Sans"/>
              </a:rPr>
              <a:t>trick</a:t>
            </a:r>
            <a:endParaRPr b="0" lang="en-US" sz="2400" spc="-1" strike="noStrike">
              <a:latin typeface="Arial"/>
            </a:endParaRPr>
          </a:p>
        </p:txBody>
      </p:sp>
      <p:sp>
        <p:nvSpPr>
          <p:cNvPr id="348"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349" name="Shape 14"/>
          <p:cNvSpPr/>
          <p:nvPr/>
        </p:nvSpPr>
        <p:spPr>
          <a:xfrm>
            <a:off x="2540160" y="1574640"/>
            <a:ext cx="13207680" cy="76176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350" name="Text 15"/>
          <p:cNvSpPr/>
          <p:nvPr/>
        </p:nvSpPr>
        <p:spPr>
          <a:xfrm>
            <a:off x="2793960" y="1574640"/>
            <a:ext cx="12699720" cy="76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zh-CN" sz="1600" spc="-1" strike="noStrike">
                <a:solidFill>
                  <a:srgbClr val="333333"/>
                </a:solidFill>
                <a:latin typeface="Quattrocento Sans"/>
                <a:ea typeface="Quattrocento Sans"/>
              </a:rPr>
              <a:t>核心问题：</a:t>
            </a:r>
            <a:r>
              <a:rPr b="0" lang="en-US" sz="1600" spc="-1" strike="noStrike">
                <a:solidFill>
                  <a:srgbClr val="333333"/>
                </a:solidFill>
                <a:latin typeface="Quattrocento Sans"/>
                <a:ea typeface="Quattrocento Sans"/>
              </a:rPr>
              <a:t>JEPA</a:t>
            </a:r>
            <a:r>
              <a:rPr b="0" lang="zh-CN" sz="1600" spc="-1" strike="noStrike">
                <a:solidFill>
                  <a:srgbClr val="333333"/>
                </a:solidFill>
                <a:latin typeface="Quattrocento Sans"/>
                <a:ea typeface="Quattrocento Sans"/>
              </a:rPr>
              <a:t>训练时编码器会走向表征坍缩——把所有输入映射到同一点。传统方案靠</a:t>
            </a:r>
            <a:r>
              <a:rPr b="0" lang="en-US" sz="1600" spc="-1" strike="noStrike">
                <a:solidFill>
                  <a:srgbClr val="333333"/>
                </a:solidFill>
                <a:latin typeface="Quattrocento Sans"/>
                <a:ea typeface="Quattrocento Sans"/>
              </a:rPr>
              <a:t>stop-gradient + EMA + teacher-student</a:t>
            </a:r>
            <a:r>
              <a:rPr b="0" lang="zh-CN" sz="1600" spc="-1" strike="noStrike">
                <a:solidFill>
                  <a:srgbClr val="333333"/>
                </a:solidFill>
                <a:latin typeface="Quattrocento Sans"/>
                <a:ea typeface="Quattrocento Sans"/>
              </a:rPr>
              <a:t>等</a:t>
            </a:r>
            <a:r>
              <a:rPr b="0" lang="en-US" sz="1600" spc="-1" strike="noStrike">
                <a:solidFill>
                  <a:srgbClr val="333333"/>
                </a:solidFill>
                <a:latin typeface="Quattrocento Sans"/>
                <a:ea typeface="Quattrocento Sans"/>
              </a:rPr>
              <a:t>"</a:t>
            </a:r>
            <a:r>
              <a:rPr b="0" lang="zh-CN" sz="1600" spc="-1" strike="noStrike">
                <a:solidFill>
                  <a:srgbClr val="333333"/>
                </a:solidFill>
                <a:latin typeface="Quattrocento Sans"/>
                <a:ea typeface="Quattrocento Sans"/>
              </a:rPr>
              <a:t>围堵策略</a:t>
            </a:r>
            <a:r>
              <a:rPr b="0" lang="en-US" sz="1600" spc="-1" strike="noStrike">
                <a:solidFill>
                  <a:srgbClr val="333333"/>
                </a:solidFill>
                <a:latin typeface="Quattrocento Sans"/>
                <a:ea typeface="Quattrocento Sans"/>
              </a:rPr>
              <a:t>"</a:t>
            </a:r>
            <a:r>
              <a:rPr b="0" lang="zh-CN" sz="1600" spc="-1" strike="noStrike">
                <a:solidFill>
                  <a:srgbClr val="333333"/>
                </a:solidFill>
                <a:latin typeface="Quattrocento Sans"/>
                <a:ea typeface="Quattrocento Sans"/>
              </a:rPr>
              <a:t>。</a:t>
            </a:r>
            <a:endParaRPr b="0" lang="en-US" sz="1600" spc="-1" strike="noStrike">
              <a:latin typeface="Arial"/>
            </a:endParaRPr>
          </a:p>
        </p:txBody>
      </p:sp>
      <p:sp>
        <p:nvSpPr>
          <p:cNvPr id="351" name="Shape 16"/>
          <p:cNvSpPr/>
          <p:nvPr/>
        </p:nvSpPr>
        <p:spPr>
          <a:xfrm>
            <a:off x="2540160" y="2514600"/>
            <a:ext cx="13207680" cy="761760"/>
          </a:xfrm>
          <a:prstGeom prst="roundRect">
            <a:avLst>
              <a:gd name="adj" fmla="val 4000"/>
            </a:avLst>
          </a:prstGeom>
          <a:solidFill>
            <a:srgbClr val="005c82"/>
          </a:solidFill>
          <a:ln w="0">
            <a:noFill/>
          </a:ln>
        </p:spPr>
        <p:style>
          <a:lnRef idx="0"/>
          <a:fillRef idx="0"/>
          <a:effectRef idx="0"/>
          <a:fontRef idx="minor"/>
        </p:style>
      </p:sp>
      <p:sp>
        <p:nvSpPr>
          <p:cNvPr id="352" name="Text 17"/>
          <p:cNvSpPr/>
          <p:nvPr/>
        </p:nvSpPr>
        <p:spPr>
          <a:xfrm>
            <a:off x="2793960" y="2514600"/>
            <a:ext cx="12699720" cy="76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700" spc="-1" strike="noStrike">
                <a:solidFill>
                  <a:srgbClr val="ffffff"/>
                </a:solidFill>
                <a:latin typeface="Quattrocento Sans"/>
                <a:ea typeface="Quattrocento Sans"/>
              </a:rPr>
              <a:t>LeJEPA</a:t>
            </a:r>
            <a:r>
              <a:rPr b="1" lang="zh-CN" sz="1700" spc="-1" strike="noStrike">
                <a:solidFill>
                  <a:srgbClr val="ffffff"/>
                </a:solidFill>
                <a:latin typeface="Quattrocento Sans"/>
                <a:ea typeface="Quattrocento Sans"/>
              </a:rPr>
              <a:t>的答案：</a:t>
            </a:r>
            <a:r>
              <a:rPr b="0" lang="zh-CN" sz="1700" spc="-1" strike="noStrike">
                <a:solidFill>
                  <a:srgbClr val="ffffff"/>
                </a:solidFill>
                <a:latin typeface="Quattrocento Sans"/>
                <a:ea typeface="Quattrocento Sans"/>
              </a:rPr>
              <a:t>最优嵌入分布是 </a:t>
            </a:r>
            <a:r>
              <a:rPr b="0" lang="en-US" sz="1700" spc="-1" strike="noStrike">
                <a:solidFill>
                  <a:srgbClr val="ffffff"/>
                </a:solidFill>
                <a:latin typeface="Quattrocento Sans"/>
                <a:ea typeface="Quattrocento Sans"/>
              </a:rPr>
              <a:t>Isotropic Gaussian N(0,σ²I)——</a:t>
            </a:r>
            <a:r>
              <a:rPr b="0" lang="zh-CN" sz="1700" spc="-1" strike="noStrike">
                <a:solidFill>
                  <a:srgbClr val="ffffff"/>
                </a:solidFill>
                <a:latin typeface="Quattrocento Sans"/>
                <a:ea typeface="Quattrocento Sans"/>
              </a:rPr>
              <a:t>用数学证明 </a:t>
            </a:r>
            <a:r>
              <a:rPr b="0" lang="en-US" sz="1700" spc="-1" strike="noStrike">
                <a:solidFill>
                  <a:srgbClr val="ffffff"/>
                </a:solidFill>
                <a:latin typeface="Quattrocento Sans"/>
                <a:ea typeface="Quattrocento Sans"/>
              </a:rPr>
              <a:t>+ SIGReg </a:t>
            </a:r>
            <a:r>
              <a:rPr b="0" lang="zh-CN" sz="1700" spc="-1" strike="noStrike">
                <a:solidFill>
                  <a:srgbClr val="ffffff"/>
                </a:solidFill>
                <a:latin typeface="Quattrocento Sans"/>
                <a:ea typeface="Quattrocento Sans"/>
              </a:rPr>
              <a:t>正则项直接</a:t>
            </a:r>
            <a:r>
              <a:rPr b="0" lang="en-US" sz="1700" spc="-1" strike="noStrike">
                <a:solidFill>
                  <a:srgbClr val="ffffff"/>
                </a:solidFill>
                <a:latin typeface="Quattrocento Sans"/>
                <a:ea typeface="Quattrocento Sans"/>
              </a:rPr>
              <a:t>"</a:t>
            </a:r>
            <a:r>
              <a:rPr b="0" lang="zh-CN" sz="1700" spc="-1" strike="noStrike">
                <a:solidFill>
                  <a:srgbClr val="ffffff"/>
                </a:solidFill>
                <a:latin typeface="Quattrocento Sans"/>
                <a:ea typeface="Quattrocento Sans"/>
              </a:rPr>
              <a:t>塑造</a:t>
            </a:r>
            <a:r>
              <a:rPr b="0" lang="en-US" sz="1700" spc="-1" strike="noStrike">
                <a:solidFill>
                  <a:srgbClr val="ffffff"/>
                </a:solidFill>
                <a:latin typeface="Quattrocento Sans"/>
                <a:ea typeface="Quattrocento Sans"/>
              </a:rPr>
              <a:t>"</a:t>
            </a:r>
            <a:r>
              <a:rPr b="0" lang="zh-CN" sz="1700" spc="-1" strike="noStrike">
                <a:solidFill>
                  <a:srgbClr val="ffffff"/>
                </a:solidFill>
                <a:latin typeface="Quattrocento Sans"/>
                <a:ea typeface="Quattrocento Sans"/>
              </a:rPr>
              <a:t>最优分布，坍缩从根本上被排除。</a:t>
            </a:r>
            <a:endParaRPr b="0" lang="en-US" sz="1700" spc="-1" strike="noStrike">
              <a:latin typeface="Arial"/>
            </a:endParaRPr>
          </a:p>
        </p:txBody>
      </p:sp>
      <p:sp>
        <p:nvSpPr>
          <p:cNvPr id="353" name="Text 18"/>
          <p:cNvSpPr/>
          <p:nvPr/>
        </p:nvSpPr>
        <p:spPr>
          <a:xfrm>
            <a:off x="2540160" y="350532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SIGReg </a:t>
            </a:r>
            <a:r>
              <a:rPr b="1" lang="zh-CN" sz="2000" spc="-1" strike="noStrike">
                <a:solidFill>
                  <a:srgbClr val="005c82"/>
                </a:solidFill>
                <a:latin typeface="Quattrocento Sans"/>
                <a:ea typeface="Quattrocento Sans"/>
              </a:rPr>
              <a:t>三步骤（</a:t>
            </a:r>
            <a:r>
              <a:rPr b="1" lang="en-US" sz="2000" spc="-1" strike="noStrike">
                <a:solidFill>
                  <a:srgbClr val="005c82"/>
                </a:solidFill>
                <a:latin typeface="Quattrocento Sans"/>
                <a:ea typeface="Quattrocento Sans"/>
              </a:rPr>
              <a:t>~10</a:t>
            </a:r>
            <a:r>
              <a:rPr b="1" lang="zh-CN" sz="2000" spc="-1" strike="noStrike">
                <a:solidFill>
                  <a:srgbClr val="005c82"/>
                </a:solidFill>
                <a:latin typeface="Quattrocento Sans"/>
                <a:ea typeface="Quattrocento Sans"/>
              </a:rPr>
              <a:t>行代码）</a:t>
            </a:r>
            <a:endParaRPr b="0" lang="en-US" sz="2000" spc="-1" strike="noStrike">
              <a:latin typeface="Arial"/>
            </a:endParaRPr>
          </a:p>
        </p:txBody>
      </p:sp>
      <p:sp>
        <p:nvSpPr>
          <p:cNvPr id="354" name="Shape 19"/>
          <p:cNvSpPr/>
          <p:nvPr/>
        </p:nvSpPr>
        <p:spPr>
          <a:xfrm>
            <a:off x="2540160" y="3962520"/>
            <a:ext cx="4063680" cy="1269720"/>
          </a:xfrm>
          <a:prstGeom prst="roundRect">
            <a:avLst>
              <a:gd name="adj" fmla="val 4000"/>
            </a:avLst>
          </a:prstGeom>
          <a:solidFill>
            <a:srgbClr val="e0f4fa"/>
          </a:solidFill>
          <a:ln w="0">
            <a:noFill/>
          </a:ln>
        </p:spPr>
        <p:style>
          <a:lnRef idx="0"/>
          <a:fillRef idx="0"/>
          <a:effectRef idx="0"/>
          <a:fontRef idx="minor"/>
        </p:style>
      </p:sp>
      <p:sp>
        <p:nvSpPr>
          <p:cNvPr id="355" name="Shape 20"/>
          <p:cNvSpPr/>
          <p:nvPr/>
        </p:nvSpPr>
        <p:spPr>
          <a:xfrm>
            <a:off x="2666880" y="4064040"/>
            <a:ext cx="406080" cy="406080"/>
          </a:xfrm>
          <a:prstGeom prst="ellipse">
            <a:avLst/>
          </a:prstGeom>
          <a:solidFill>
            <a:srgbClr val="005c82"/>
          </a:solidFill>
          <a:ln w="0">
            <a:noFill/>
          </a:ln>
        </p:spPr>
        <p:style>
          <a:lnRef idx="0"/>
          <a:fillRef idx="0"/>
          <a:effectRef idx="0"/>
          <a:fontRef idx="minor"/>
        </p:style>
      </p:sp>
      <p:sp>
        <p:nvSpPr>
          <p:cNvPr id="356" name="Text 21"/>
          <p:cNvSpPr/>
          <p:nvPr/>
        </p:nvSpPr>
        <p:spPr>
          <a:xfrm>
            <a:off x="2666880" y="4064040"/>
            <a:ext cx="406080" cy="40608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en-US" sz="1600" spc="-1" strike="noStrike">
                <a:solidFill>
                  <a:srgbClr val="ffffff"/>
                </a:solidFill>
                <a:latin typeface="Quattrocento Sans"/>
                <a:ea typeface="Quattrocento Sans"/>
              </a:rPr>
              <a:t>1</a:t>
            </a:r>
            <a:endParaRPr b="0" lang="en-US" sz="1600" spc="-1" strike="noStrike">
              <a:latin typeface="Arial"/>
            </a:endParaRPr>
          </a:p>
        </p:txBody>
      </p:sp>
      <p:sp>
        <p:nvSpPr>
          <p:cNvPr id="357" name="Text 22"/>
          <p:cNvSpPr/>
          <p:nvPr/>
        </p:nvSpPr>
        <p:spPr>
          <a:xfrm>
            <a:off x="3174840" y="4013280"/>
            <a:ext cx="3276360" cy="116820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333333"/>
                </a:solidFill>
                <a:latin typeface="Quattrocento Sans"/>
                <a:ea typeface="Quattrocento Sans"/>
              </a:rPr>
              <a:t>随机投影</a:t>
            </a:r>
            <a:endParaRPr b="0" lang="en-US" sz="1500" spc="-1" strike="noStrike">
              <a:latin typeface="Arial"/>
            </a:endParaRPr>
          </a:p>
          <a:p>
            <a:pPr>
              <a:lnSpc>
                <a:spcPct val="150000"/>
              </a:lnSpc>
              <a:buNone/>
            </a:pPr>
            <a:r>
              <a:rPr b="0" lang="zh-CN" sz="1500" spc="-1" strike="noStrike">
                <a:solidFill>
                  <a:srgbClr val="333333"/>
                </a:solidFill>
                <a:latin typeface="Quattrocento Sans"/>
                <a:ea typeface="Quattrocento Sans"/>
              </a:rPr>
              <a:t>采样</a:t>
            </a:r>
            <a:r>
              <a:rPr b="0" lang="en-US" sz="1500" spc="-1" strike="noStrike">
                <a:solidFill>
                  <a:srgbClr val="333333"/>
                </a:solidFill>
                <a:latin typeface="Quattrocento Sans"/>
                <a:ea typeface="Quattrocento Sans"/>
              </a:rPr>
              <a:t>M</a:t>
            </a:r>
            <a:r>
              <a:rPr b="0" lang="zh-CN" sz="1500" spc="-1" strike="noStrike">
                <a:solidFill>
                  <a:srgbClr val="333333"/>
                </a:solidFill>
                <a:latin typeface="Quattrocento Sans"/>
                <a:ea typeface="Quattrocento Sans"/>
              </a:rPr>
              <a:t>个单位方向，把</a:t>
            </a:r>
            <a:r>
              <a:rPr b="0" lang="en-US" sz="1500" spc="-1" strike="noStrike">
                <a:solidFill>
                  <a:srgbClr val="333333"/>
                </a:solidFill>
                <a:latin typeface="Quattrocento Sans"/>
                <a:ea typeface="Quattrocento Sans"/>
              </a:rPr>
              <a:t>batch</a:t>
            </a:r>
            <a:r>
              <a:rPr b="0" lang="zh-CN" sz="1500" spc="-1" strike="noStrike">
                <a:solidFill>
                  <a:srgbClr val="333333"/>
                </a:solidFill>
                <a:latin typeface="Quattrocento Sans"/>
                <a:ea typeface="Quattrocento Sans"/>
              </a:rPr>
              <a:t>嵌入投影到每个方向上</a:t>
            </a:r>
            <a:endParaRPr b="0" lang="en-US" sz="1500" spc="-1" strike="noStrike">
              <a:latin typeface="Arial"/>
            </a:endParaRPr>
          </a:p>
        </p:txBody>
      </p:sp>
      <p:sp>
        <p:nvSpPr>
          <p:cNvPr id="358" name="Shape 23"/>
          <p:cNvSpPr/>
          <p:nvPr/>
        </p:nvSpPr>
        <p:spPr>
          <a:xfrm>
            <a:off x="6858000" y="3962520"/>
            <a:ext cx="4063680" cy="1269720"/>
          </a:xfrm>
          <a:prstGeom prst="roundRect">
            <a:avLst>
              <a:gd name="adj" fmla="val 4000"/>
            </a:avLst>
          </a:prstGeom>
          <a:solidFill>
            <a:srgbClr val="e0f4fa"/>
          </a:solidFill>
          <a:ln w="0">
            <a:noFill/>
          </a:ln>
        </p:spPr>
        <p:style>
          <a:lnRef idx="0"/>
          <a:fillRef idx="0"/>
          <a:effectRef idx="0"/>
          <a:fontRef idx="minor"/>
        </p:style>
      </p:sp>
      <p:sp>
        <p:nvSpPr>
          <p:cNvPr id="359" name="Shape 24"/>
          <p:cNvSpPr/>
          <p:nvPr/>
        </p:nvSpPr>
        <p:spPr>
          <a:xfrm>
            <a:off x="6985080" y="4064040"/>
            <a:ext cx="406080" cy="406080"/>
          </a:xfrm>
          <a:prstGeom prst="ellipse">
            <a:avLst/>
          </a:prstGeom>
          <a:solidFill>
            <a:srgbClr val="007aa8"/>
          </a:solidFill>
          <a:ln w="0">
            <a:noFill/>
          </a:ln>
        </p:spPr>
        <p:style>
          <a:lnRef idx="0"/>
          <a:fillRef idx="0"/>
          <a:effectRef idx="0"/>
          <a:fontRef idx="minor"/>
        </p:style>
      </p:sp>
      <p:sp>
        <p:nvSpPr>
          <p:cNvPr id="360" name="Text 25"/>
          <p:cNvSpPr/>
          <p:nvPr/>
        </p:nvSpPr>
        <p:spPr>
          <a:xfrm>
            <a:off x="6985080" y="4064040"/>
            <a:ext cx="406080" cy="40608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en-US" sz="1600" spc="-1" strike="noStrike">
                <a:solidFill>
                  <a:srgbClr val="ffffff"/>
                </a:solidFill>
                <a:latin typeface="Quattrocento Sans"/>
                <a:ea typeface="Quattrocento Sans"/>
              </a:rPr>
              <a:t>2</a:t>
            </a:r>
            <a:endParaRPr b="0" lang="en-US" sz="1600" spc="-1" strike="noStrike">
              <a:latin typeface="Arial"/>
            </a:endParaRPr>
          </a:p>
        </p:txBody>
      </p:sp>
      <p:sp>
        <p:nvSpPr>
          <p:cNvPr id="361" name="Text 26"/>
          <p:cNvSpPr/>
          <p:nvPr/>
        </p:nvSpPr>
        <p:spPr>
          <a:xfrm>
            <a:off x="7493040" y="4013280"/>
            <a:ext cx="3276360" cy="116820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en-US" sz="1500" spc="-1" strike="noStrike">
                <a:solidFill>
                  <a:srgbClr val="333333"/>
                </a:solidFill>
                <a:latin typeface="Quattrocento Sans"/>
                <a:ea typeface="Quattrocento Sans"/>
              </a:rPr>
              <a:t>Epps-Pulley</a:t>
            </a:r>
            <a:r>
              <a:rPr b="1" lang="zh-CN" sz="1500" spc="-1" strike="noStrike">
                <a:solidFill>
                  <a:srgbClr val="333333"/>
                </a:solidFill>
                <a:latin typeface="Quattrocento Sans"/>
                <a:ea typeface="Quattrocento Sans"/>
              </a:rPr>
              <a:t>检验</a:t>
            </a:r>
            <a:endParaRPr b="0" lang="en-US" sz="1500" spc="-1" strike="noStrike">
              <a:latin typeface="Arial"/>
            </a:endParaRPr>
          </a:p>
          <a:p>
            <a:pPr>
              <a:lnSpc>
                <a:spcPct val="150000"/>
              </a:lnSpc>
              <a:buNone/>
            </a:pPr>
            <a:r>
              <a:rPr b="0" lang="zh-CN" sz="1500" spc="-1" strike="noStrike">
                <a:solidFill>
                  <a:srgbClr val="333333"/>
                </a:solidFill>
                <a:latin typeface="Quattrocento Sans"/>
                <a:ea typeface="Quattrocento Sans"/>
              </a:rPr>
              <a:t>在每个</a:t>
            </a:r>
            <a:r>
              <a:rPr b="0" lang="en-US" sz="1500" spc="-1" strike="noStrike">
                <a:solidFill>
                  <a:srgbClr val="333333"/>
                </a:solidFill>
                <a:latin typeface="Quattrocento Sans"/>
                <a:ea typeface="Quattrocento Sans"/>
              </a:rPr>
              <a:t>1D</a:t>
            </a:r>
            <a:r>
              <a:rPr b="0" lang="zh-CN" sz="1500" spc="-1" strike="noStrike">
                <a:solidFill>
                  <a:srgbClr val="333333"/>
                </a:solidFill>
                <a:latin typeface="Quattrocento Sans"/>
                <a:ea typeface="Quattrocento Sans"/>
              </a:rPr>
              <a:t>投影上，用特征函数检验衡量是否符合</a:t>
            </a:r>
            <a:r>
              <a:rPr b="0" lang="en-US" sz="1500" spc="-1" strike="noStrike">
                <a:solidFill>
                  <a:srgbClr val="333333"/>
                </a:solidFill>
                <a:latin typeface="Quattrocento Sans"/>
                <a:ea typeface="Quattrocento Sans"/>
              </a:rPr>
              <a:t>1D</a:t>
            </a:r>
            <a:r>
              <a:rPr b="0" lang="zh-CN" sz="1500" spc="-1" strike="noStrike">
                <a:solidFill>
                  <a:srgbClr val="333333"/>
                </a:solidFill>
                <a:latin typeface="Quattrocento Sans"/>
                <a:ea typeface="Quattrocento Sans"/>
              </a:rPr>
              <a:t>高斯</a:t>
            </a:r>
            <a:endParaRPr b="0" lang="en-US" sz="1500" spc="-1" strike="noStrike">
              <a:latin typeface="Arial"/>
            </a:endParaRPr>
          </a:p>
        </p:txBody>
      </p:sp>
      <p:sp>
        <p:nvSpPr>
          <p:cNvPr id="362" name="Shape 27"/>
          <p:cNvSpPr/>
          <p:nvPr/>
        </p:nvSpPr>
        <p:spPr>
          <a:xfrm>
            <a:off x="11175840" y="3962520"/>
            <a:ext cx="4571640" cy="1269720"/>
          </a:xfrm>
          <a:prstGeom prst="roundRect">
            <a:avLst>
              <a:gd name="adj" fmla="val 4000"/>
            </a:avLst>
          </a:prstGeom>
          <a:solidFill>
            <a:srgbClr val="e0f4fa"/>
          </a:solidFill>
          <a:ln w="0">
            <a:noFill/>
          </a:ln>
        </p:spPr>
        <p:style>
          <a:lnRef idx="0"/>
          <a:fillRef idx="0"/>
          <a:effectRef idx="0"/>
          <a:fontRef idx="minor"/>
        </p:style>
      </p:sp>
      <p:sp>
        <p:nvSpPr>
          <p:cNvPr id="363" name="Shape 28"/>
          <p:cNvSpPr/>
          <p:nvPr/>
        </p:nvSpPr>
        <p:spPr>
          <a:xfrm>
            <a:off x="11302920" y="4064040"/>
            <a:ext cx="406080" cy="406080"/>
          </a:xfrm>
          <a:prstGeom prst="ellipse">
            <a:avLst/>
          </a:prstGeom>
          <a:solidFill>
            <a:srgbClr val="00acc1"/>
          </a:solidFill>
          <a:ln w="0">
            <a:noFill/>
          </a:ln>
        </p:spPr>
        <p:style>
          <a:lnRef idx="0"/>
          <a:fillRef idx="0"/>
          <a:effectRef idx="0"/>
          <a:fontRef idx="minor"/>
        </p:style>
      </p:sp>
      <p:sp>
        <p:nvSpPr>
          <p:cNvPr id="364" name="Text 29"/>
          <p:cNvSpPr/>
          <p:nvPr/>
        </p:nvSpPr>
        <p:spPr>
          <a:xfrm>
            <a:off x="11302920" y="4064040"/>
            <a:ext cx="406080" cy="40608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en-US" sz="1600" spc="-1" strike="noStrike">
                <a:solidFill>
                  <a:srgbClr val="ffffff"/>
                </a:solidFill>
                <a:latin typeface="Quattrocento Sans"/>
                <a:ea typeface="Quattrocento Sans"/>
              </a:rPr>
              <a:t>3</a:t>
            </a:r>
            <a:endParaRPr b="0" lang="en-US" sz="1600" spc="-1" strike="noStrike">
              <a:latin typeface="Arial"/>
            </a:endParaRPr>
          </a:p>
        </p:txBody>
      </p:sp>
      <p:sp>
        <p:nvSpPr>
          <p:cNvPr id="365" name="Text 30"/>
          <p:cNvSpPr/>
          <p:nvPr/>
        </p:nvSpPr>
        <p:spPr>
          <a:xfrm>
            <a:off x="11810880" y="4013280"/>
            <a:ext cx="3784320" cy="116820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333333"/>
                </a:solidFill>
                <a:latin typeface="Quattrocento Sans"/>
                <a:ea typeface="Quattrocento Sans"/>
              </a:rPr>
              <a:t>聚合损失</a:t>
            </a:r>
            <a:endParaRPr b="0" lang="en-US" sz="1500" spc="-1" strike="noStrike">
              <a:latin typeface="Arial"/>
            </a:endParaRPr>
          </a:p>
          <a:p>
            <a:pPr>
              <a:lnSpc>
                <a:spcPct val="150000"/>
              </a:lnSpc>
              <a:buNone/>
            </a:pPr>
            <a:r>
              <a:rPr b="0" lang="zh-CN" sz="1500" spc="-1" strike="noStrike">
                <a:solidFill>
                  <a:srgbClr val="333333"/>
                </a:solidFill>
                <a:latin typeface="Quattrocento Sans"/>
                <a:ea typeface="Quattrocento Sans"/>
              </a:rPr>
              <a:t>所有方向的检验统计量之和 </a:t>
            </a:r>
            <a:r>
              <a:rPr b="0" lang="en-US" sz="1500" spc="-1" strike="noStrike">
                <a:solidFill>
                  <a:srgbClr val="333333"/>
                </a:solidFill>
                <a:latin typeface="Quattrocento Sans"/>
                <a:ea typeface="Quattrocento Sans"/>
              </a:rPr>
              <a:t>= SIGReg</a:t>
            </a:r>
            <a:r>
              <a:rPr b="0" lang="zh-CN" sz="1500" spc="-1" strike="noStrike">
                <a:solidFill>
                  <a:srgbClr val="333333"/>
                </a:solidFill>
                <a:latin typeface="Quattrocento Sans"/>
                <a:ea typeface="Quattrocento Sans"/>
              </a:rPr>
              <a:t>损失，</a:t>
            </a:r>
            <a:r>
              <a:rPr b="0" lang="en-US" sz="1500" spc="-1" strike="noStrike">
                <a:solidFill>
                  <a:srgbClr val="333333"/>
                </a:solidFill>
                <a:latin typeface="Quattrocento Sans"/>
                <a:ea typeface="Quattrocento Sans"/>
              </a:rPr>
              <a:t>O(K·B)</a:t>
            </a:r>
            <a:r>
              <a:rPr b="0" lang="zh-CN" sz="1500" spc="-1" strike="noStrike">
                <a:solidFill>
                  <a:srgbClr val="333333"/>
                </a:solidFill>
                <a:latin typeface="Quattrocento Sans"/>
                <a:ea typeface="Quattrocento Sans"/>
              </a:rPr>
              <a:t>线性复杂度</a:t>
            </a:r>
            <a:endParaRPr b="0" lang="en-US" sz="1500" spc="-1" strike="noStrike">
              <a:latin typeface="Arial"/>
            </a:endParaRPr>
          </a:p>
        </p:txBody>
      </p:sp>
      <p:sp>
        <p:nvSpPr>
          <p:cNvPr id="366" name="Text 31"/>
          <p:cNvSpPr/>
          <p:nvPr/>
        </p:nvSpPr>
        <p:spPr>
          <a:xfrm>
            <a:off x="2540160" y="543564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LeJEPA vs </a:t>
            </a:r>
            <a:r>
              <a:rPr b="1" lang="zh-CN" sz="2000" spc="-1" strike="noStrike">
                <a:solidFill>
                  <a:srgbClr val="005c82"/>
                </a:solidFill>
                <a:latin typeface="Quattrocento Sans"/>
                <a:ea typeface="Quattrocento Sans"/>
              </a:rPr>
              <a:t>传统方法</a:t>
            </a:r>
            <a:endParaRPr b="0" lang="en-US" sz="2000" spc="-1" strike="noStrike">
              <a:latin typeface="Arial"/>
            </a:endParaRPr>
          </a:p>
        </p:txBody>
      </p:sp>
      <p:graphicFrame>
        <p:nvGraphicFramePr>
          <p:cNvPr id="367" name="Table 0"/>
          <p:cNvGraphicFramePr/>
          <p:nvPr/>
        </p:nvGraphicFramePr>
        <p:xfrm>
          <a:off x="2540160" y="5867280"/>
          <a:ext cx="13207320" cy="1777320"/>
        </p:xfrm>
        <a:graphic>
          <a:graphicData uri="http://schemas.openxmlformats.org/drawingml/2006/table">
            <a:tbl>
              <a:tblPr/>
              <a:tblGrid>
                <a:gridCol w="2905560"/>
                <a:gridCol w="5150880"/>
                <a:gridCol w="5151240"/>
              </a:tblGrid>
              <a:tr h="444240">
                <a:tc>
                  <a:txBody>
                    <a:bodyPr lIns="54720" rIns="54720" tIns="0" bIns="0" anchor="ctr">
                      <a:noAutofit/>
                    </a:bodyPr>
                    <a:p>
                      <a:pPr algn="ctr">
                        <a:lnSpc>
                          <a:spcPct val="100000"/>
                        </a:lnSpc>
                        <a:buNone/>
                      </a:pPr>
                      <a:r>
                        <a:rPr b="1" lang="zh-CN" sz="1600" spc="-1" strike="noStrike">
                          <a:solidFill>
                            <a:srgbClr val="ffffff"/>
                          </a:solidFill>
                          <a:latin typeface="Calibri"/>
                        </a:rPr>
                        <a:t>对比项</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zh-CN" sz="1600" spc="-1" strike="noStrike">
                          <a:solidFill>
                            <a:srgbClr val="ffffff"/>
                          </a:solidFill>
                          <a:latin typeface="Calibri"/>
                        </a:rPr>
                        <a:t>传统方法 </a:t>
                      </a:r>
                      <a:r>
                        <a:rPr b="1" lang="en-US" sz="1600" spc="-1" strike="noStrike">
                          <a:solidFill>
                            <a:srgbClr val="ffffff"/>
                          </a:solidFill>
                          <a:latin typeface="Calibri"/>
                        </a:rPr>
                        <a:t>(BYOL/DINO)</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600" spc="-1" strike="noStrike">
                          <a:solidFill>
                            <a:srgbClr val="ffffff"/>
                          </a:solidFill>
                          <a:latin typeface="Calibri"/>
                        </a:rPr>
                        <a:t>LeJEPA</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r>
              <a:tr h="444240">
                <a:tc>
                  <a:txBody>
                    <a:bodyPr lIns="54720" rIns="54720" tIns="0" bIns="0" anchor="ctr">
                      <a:noAutofit/>
                    </a:bodyPr>
                    <a:p>
                      <a:pPr algn="ctr">
                        <a:lnSpc>
                          <a:spcPct val="100000"/>
                        </a:lnSpc>
                        <a:buNone/>
                      </a:pPr>
                      <a:r>
                        <a:rPr b="1" lang="zh-CN" sz="1600" spc="-1" strike="noStrike">
                          <a:solidFill>
                            <a:srgbClr val="333333"/>
                          </a:solidFill>
                          <a:latin typeface="Calibri"/>
                        </a:rPr>
                        <a:t>防坍缩策略</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多个启发式</a:t>
                      </a:r>
                      <a:r>
                        <a:rPr b="0" lang="en-US" sz="1600" spc="-1" strike="noStrike">
                          <a:solidFill>
                            <a:srgbClr val="333333"/>
                          </a:solidFill>
                          <a:latin typeface="Calibri"/>
                        </a:rPr>
                        <a:t>trick</a:t>
                      </a:r>
                      <a:r>
                        <a:rPr b="0" lang="zh-CN" sz="1600" spc="-1" strike="noStrike">
                          <a:solidFill>
                            <a:srgbClr val="333333"/>
                          </a:solidFill>
                          <a:latin typeface="Calibri"/>
                        </a:rPr>
                        <a:t>组合</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zh-CN" sz="1600" spc="-1" strike="noStrike">
                          <a:solidFill>
                            <a:srgbClr val="333333"/>
                          </a:solidFill>
                          <a:latin typeface="Calibri"/>
                        </a:rPr>
                        <a:t>一个数学最优的分布约束</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r h="444240">
                <a:tc>
                  <a:txBody>
                    <a:bodyPr lIns="54720" rIns="54720" tIns="0" bIns="0" anchor="ctr">
                      <a:noAutofit/>
                    </a:bodyPr>
                    <a:p>
                      <a:pPr algn="ctr">
                        <a:lnSpc>
                          <a:spcPct val="100000"/>
                        </a:lnSpc>
                        <a:buNone/>
                      </a:pPr>
                      <a:r>
                        <a:rPr b="1" lang="zh-CN" sz="1600" spc="-1" strike="noStrike">
                          <a:solidFill>
                            <a:srgbClr val="333333"/>
                          </a:solidFill>
                          <a:latin typeface="Calibri"/>
                        </a:rPr>
                        <a:t>超参数数量</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EMA</a:t>
                      </a:r>
                      <a:r>
                        <a:rPr b="0" lang="zh-CN" sz="1600" spc="-1" strike="noStrike">
                          <a:solidFill>
                            <a:srgbClr val="333333"/>
                          </a:solidFill>
                          <a:latin typeface="Calibri"/>
                        </a:rPr>
                        <a:t>动量、温度、</a:t>
                      </a:r>
                      <a:r>
                        <a:rPr b="0" lang="en-US" sz="1600" spc="-1" strike="noStrike">
                          <a:solidFill>
                            <a:srgbClr val="333333"/>
                          </a:solidFill>
                          <a:latin typeface="Calibri"/>
                        </a:rPr>
                        <a:t>weight decay...</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1" lang="zh-CN" sz="1600" spc="-1" strike="noStrike">
                          <a:solidFill>
                            <a:srgbClr val="333333"/>
                          </a:solidFill>
                          <a:latin typeface="Calibri"/>
                        </a:rPr>
                        <a:t>仅</a:t>
                      </a:r>
                      <a:r>
                        <a:rPr b="1" lang="en-US" sz="1600" spc="-1" strike="noStrike">
                          <a:solidFill>
                            <a:srgbClr val="333333"/>
                          </a:solidFill>
                          <a:latin typeface="Calibri"/>
                        </a:rPr>
                        <a:t>1</a:t>
                      </a:r>
                      <a:r>
                        <a:rPr b="1" lang="zh-CN" sz="1600" spc="-1" strike="noStrike">
                          <a:solidFill>
                            <a:srgbClr val="333333"/>
                          </a:solidFill>
                          <a:latin typeface="Calibri"/>
                        </a:rPr>
                        <a:t>个 </a:t>
                      </a:r>
                      <a:r>
                        <a:rPr b="1" lang="en-US" sz="1600" spc="-1" strike="noStrike">
                          <a:solidFill>
                            <a:srgbClr val="333333"/>
                          </a:solidFill>
                          <a:latin typeface="Calibri"/>
                        </a:rPr>
                        <a:t>λ</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r>
              <a:tr h="444960">
                <a:tc>
                  <a:txBody>
                    <a:bodyPr lIns="54720" rIns="54720" tIns="0" bIns="0" anchor="ctr">
                      <a:noAutofit/>
                    </a:bodyPr>
                    <a:p>
                      <a:pPr algn="ctr">
                        <a:lnSpc>
                          <a:spcPct val="100000"/>
                        </a:lnSpc>
                        <a:buNone/>
                      </a:pPr>
                      <a:r>
                        <a:rPr b="1" lang="zh-CN" sz="1600" spc="-1" strike="noStrike">
                          <a:solidFill>
                            <a:srgbClr val="333333"/>
                          </a:solidFill>
                          <a:latin typeface="Calibri"/>
                        </a:rPr>
                        <a:t>理论保证</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无</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zh-CN" sz="1600" spc="-1" strike="noStrike">
                          <a:solidFill>
                            <a:srgbClr val="333333"/>
                          </a:solidFill>
                          <a:latin typeface="Calibri"/>
                        </a:rPr>
                        <a:t>有（定理</a:t>
                      </a:r>
                      <a:r>
                        <a:rPr b="1" lang="en-US" sz="1600" spc="-1" strike="noStrike">
                          <a:solidFill>
                            <a:srgbClr val="333333"/>
                          </a:solidFill>
                          <a:latin typeface="Calibri"/>
                        </a:rPr>
                        <a:t>+</a:t>
                      </a:r>
                      <a:r>
                        <a:rPr b="1" lang="zh-CN" sz="1600" spc="-1" strike="noStrike">
                          <a:solidFill>
                            <a:srgbClr val="333333"/>
                          </a:solidFill>
                          <a:latin typeface="Calibri"/>
                        </a:rPr>
                        <a:t>证明）</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bl>
          </a:graphicData>
        </a:graphic>
      </p:graphicFrame>
      <p:sp>
        <p:nvSpPr>
          <p:cNvPr id="368" name="Shape 32"/>
          <p:cNvSpPr/>
          <p:nvPr/>
        </p:nvSpPr>
        <p:spPr>
          <a:xfrm>
            <a:off x="2540160" y="7873920"/>
            <a:ext cx="13207680" cy="634680"/>
          </a:xfrm>
          <a:prstGeom prst="rect">
            <a:avLst/>
          </a:prstGeom>
          <a:solidFill>
            <a:srgbClr val="005c82"/>
          </a:solidFill>
          <a:ln w="0">
            <a:noFill/>
          </a:ln>
        </p:spPr>
        <p:style>
          <a:lnRef idx="0"/>
          <a:fillRef idx="0"/>
          <a:effectRef idx="0"/>
          <a:fontRef idx="minor"/>
        </p:style>
      </p:sp>
      <p:sp>
        <p:nvSpPr>
          <p:cNvPr id="369" name="Shape 33"/>
          <p:cNvSpPr/>
          <p:nvPr/>
        </p:nvSpPr>
        <p:spPr>
          <a:xfrm>
            <a:off x="2717640" y="8102520"/>
            <a:ext cx="151920" cy="151920"/>
          </a:xfrm>
          <a:prstGeom prst="diamond">
            <a:avLst/>
          </a:prstGeom>
          <a:solidFill>
            <a:srgbClr val="00acc1"/>
          </a:solidFill>
          <a:ln w="0">
            <a:noFill/>
          </a:ln>
        </p:spPr>
        <p:style>
          <a:lnRef idx="0"/>
          <a:fillRef idx="0"/>
          <a:effectRef idx="0"/>
          <a:fontRef idx="minor"/>
        </p:style>
      </p:sp>
      <p:sp>
        <p:nvSpPr>
          <p:cNvPr id="370" name="Text 34"/>
          <p:cNvSpPr/>
          <p:nvPr/>
        </p:nvSpPr>
        <p:spPr>
          <a:xfrm>
            <a:off x="3022560" y="7975440"/>
            <a:ext cx="12521880" cy="304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zh-CN" sz="1600" spc="-1" strike="noStrike">
                <a:solidFill>
                  <a:srgbClr val="ffffff"/>
                </a:solidFill>
                <a:latin typeface="Quattrocento Sans"/>
                <a:ea typeface="Quattrocento Sans"/>
              </a:rPr>
              <a:t>核心变化：从</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围堵坍缩</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变成</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塑造最优分布</a:t>
            </a:r>
            <a:r>
              <a:rPr b="0" lang="en-US" sz="1600" spc="-1" strike="noStrike">
                <a:solidFill>
                  <a:srgbClr val="ffffff"/>
                </a:solidFill>
                <a:latin typeface="Quattrocento Sans"/>
                <a:ea typeface="Quattrocento Sans"/>
              </a:rPr>
              <a:t>"——</a:t>
            </a:r>
            <a:r>
              <a:rPr b="0" lang="zh-CN" sz="1600" spc="-1" strike="noStrike">
                <a:solidFill>
                  <a:srgbClr val="ffffff"/>
                </a:solidFill>
                <a:latin typeface="Quattrocento Sans"/>
                <a:ea typeface="Quattrocento Sans"/>
              </a:rPr>
              <a:t>只需一个超参数、约</a:t>
            </a:r>
            <a:r>
              <a:rPr b="0" lang="en-US" sz="1600" spc="-1" strike="noStrike">
                <a:solidFill>
                  <a:srgbClr val="ffffff"/>
                </a:solidFill>
                <a:latin typeface="Quattrocento Sans"/>
                <a:ea typeface="Quattrocento Sans"/>
              </a:rPr>
              <a:t>50</a:t>
            </a:r>
            <a:r>
              <a:rPr b="0" lang="zh-CN" sz="1600" spc="-1" strike="noStrike">
                <a:solidFill>
                  <a:srgbClr val="ffffff"/>
                </a:solidFill>
                <a:latin typeface="Quattrocento Sans"/>
                <a:ea typeface="Quattrocento Sans"/>
              </a:rPr>
              <a:t>行代码，性能不降反升。</a:t>
            </a:r>
            <a:endParaRPr b="0" lang="en-US" sz="1600" spc="-1" strike="noStrike">
              <a:latin typeface="Arial"/>
            </a:endParaRPr>
          </a:p>
        </p:txBody>
      </p:sp>
    </p:spTree>
  </p:cSld>
  <p:transition>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371" name="Shape 66"/>
          <p:cNvSpPr/>
          <p:nvPr/>
        </p:nvSpPr>
        <p:spPr>
          <a:xfrm>
            <a:off x="0" y="0"/>
            <a:ext cx="2285640" cy="9143640"/>
          </a:xfrm>
          <a:prstGeom prst="rect">
            <a:avLst/>
          </a:prstGeom>
          <a:solidFill>
            <a:srgbClr val="004060"/>
          </a:solidFill>
          <a:ln w="0">
            <a:noFill/>
          </a:ln>
        </p:spPr>
        <p:style>
          <a:lnRef idx="0"/>
          <a:fillRef idx="0"/>
          <a:effectRef idx="0"/>
          <a:fontRef idx="minor"/>
        </p:style>
      </p:sp>
      <p:sp>
        <p:nvSpPr>
          <p:cNvPr id="372" name="Shape 67"/>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373" name="Shape 68"/>
          <p:cNvSpPr/>
          <p:nvPr/>
        </p:nvSpPr>
        <p:spPr>
          <a:xfrm>
            <a:off x="0" y="3352680"/>
            <a:ext cx="2285640" cy="1168200"/>
          </a:xfrm>
          <a:prstGeom prst="rect">
            <a:avLst/>
          </a:prstGeom>
          <a:solidFill>
            <a:srgbClr val="005c82"/>
          </a:solidFill>
          <a:ln w="0">
            <a:noFill/>
          </a:ln>
        </p:spPr>
        <p:style>
          <a:lnRef idx="0"/>
          <a:fillRef idx="0"/>
          <a:effectRef idx="0"/>
          <a:fontRef idx="minor"/>
        </p:style>
      </p:sp>
      <p:sp>
        <p:nvSpPr>
          <p:cNvPr id="374" name="Text 8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375" name="Text 8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376" name="Text 8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03 LeJEPA</a:t>
            </a:r>
            <a:endParaRPr b="0" lang="en-US" sz="1800" spc="-1" strike="noStrike">
              <a:latin typeface="Arial"/>
            </a:endParaRPr>
          </a:p>
        </p:txBody>
      </p:sp>
      <p:sp>
        <p:nvSpPr>
          <p:cNvPr id="377" name="Text 8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378" name="Text 8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a:t>
            </a:r>
            <a:r>
              <a:rPr b="0" lang="en-US" sz="1600" spc="-1" strike="noStrike">
                <a:solidFill>
                  <a:srgbClr val="ffffff"/>
                </a:solidFill>
                <a:latin typeface="Quattrocento Sans"/>
                <a:ea typeface="Quattrocento Sans"/>
              </a:rPr>
              <a:t>V-</a:t>
            </a:r>
            <a:r>
              <a:rPr b="0" lang="en-US" sz="1600" spc="-1" strike="noStrike">
                <a:solidFill>
                  <a:srgbClr val="ffffff"/>
                </a:solidFill>
                <a:latin typeface="Quattrocento Sans"/>
                <a:ea typeface="Quattrocento Sans"/>
              </a:rPr>
              <a:t>JEP</a:t>
            </a:r>
            <a:r>
              <a:rPr b="0" lang="en-US" sz="1600" spc="-1" strike="noStrike">
                <a:solidFill>
                  <a:srgbClr val="ffffff"/>
                </a:solidFill>
                <a:latin typeface="Quattrocento Sans"/>
                <a:ea typeface="Quattrocento Sans"/>
              </a:rPr>
              <a:t>A </a:t>
            </a:r>
            <a:r>
              <a:rPr b="0" lang="en-US" sz="1600" spc="-1" strike="noStrike">
                <a:solidFill>
                  <a:srgbClr val="ffffff"/>
                </a:solidFill>
                <a:latin typeface="Quattrocento Sans"/>
                <a:ea typeface="Quattrocento Sans"/>
              </a:rPr>
              <a:t>2.1</a:t>
            </a:r>
            <a:endParaRPr b="0" lang="en-US" sz="1600" spc="-1" strike="noStrike">
              <a:latin typeface="Arial"/>
            </a:endParaRPr>
          </a:p>
        </p:txBody>
      </p:sp>
      <p:sp>
        <p:nvSpPr>
          <p:cNvPr id="379" name="Shape 69"/>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380" name="Shape 70"/>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381" name="Text 88"/>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03 LeJEPA</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3.2 </a:t>
            </a:r>
            <a:r>
              <a:rPr b="0" lang="zh-CN" sz="1400" spc="-1" strike="noStrike">
                <a:solidFill>
                  <a:srgbClr val="005c82"/>
                </a:solidFill>
                <a:latin typeface="Quattrocento Sans"/>
                <a:ea typeface="Quattrocento Sans"/>
              </a:rPr>
              <a:t>范式转变与实验启示</a:t>
            </a:r>
            <a:endParaRPr b="0" lang="en-US" sz="1400" spc="-1" strike="noStrike">
              <a:latin typeface="Arial"/>
            </a:endParaRPr>
          </a:p>
        </p:txBody>
      </p:sp>
      <p:sp>
        <p:nvSpPr>
          <p:cNvPr id="382" name="Text 89"/>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11</a:t>
            </a:r>
            <a:endParaRPr b="0" lang="en-US" sz="1400" spc="-1" strike="noStrike">
              <a:latin typeface="Arial"/>
            </a:endParaRPr>
          </a:p>
        </p:txBody>
      </p:sp>
      <p:sp>
        <p:nvSpPr>
          <p:cNvPr id="383" name="Text 90"/>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从</a:t>
            </a:r>
            <a:r>
              <a:rPr b="1" lang="en-US" sz="2400" spc="-1" strike="noStrike">
                <a:solidFill>
                  <a:srgbClr val="005c82"/>
                </a:solidFill>
                <a:latin typeface="Quattrocento Sans"/>
                <a:ea typeface="Quattrocento Sans"/>
              </a:rPr>
              <a:t>"</a:t>
            </a:r>
            <a:r>
              <a:rPr b="1" lang="zh-CN" sz="2400" spc="-1" strike="noStrike">
                <a:solidFill>
                  <a:srgbClr val="005c82"/>
                </a:solidFill>
                <a:latin typeface="Quattrocento Sans"/>
                <a:ea typeface="Quattrocento Sans"/>
              </a:rPr>
              <a:t>围</a:t>
            </a:r>
            <a:r>
              <a:rPr b="1" lang="zh-CN" sz="2400" spc="-1" strike="noStrike">
                <a:solidFill>
                  <a:srgbClr val="005c82"/>
                </a:solidFill>
                <a:latin typeface="Quattrocento Sans"/>
                <a:ea typeface="Quattrocento Sans"/>
              </a:rPr>
              <a:t>堵</a:t>
            </a:r>
            <a:r>
              <a:rPr b="1" lang="en-US" sz="2400" spc="-1" strike="noStrike">
                <a:solidFill>
                  <a:srgbClr val="005c82"/>
                </a:solidFill>
                <a:latin typeface="Quattrocento Sans"/>
                <a:ea typeface="Quattrocento Sans"/>
              </a:rPr>
              <a:t>"</a:t>
            </a:r>
            <a:r>
              <a:rPr b="1" lang="zh-CN" sz="2400" spc="-1" strike="noStrike">
                <a:solidFill>
                  <a:srgbClr val="005c82"/>
                </a:solidFill>
                <a:latin typeface="Quattrocento Sans"/>
                <a:ea typeface="Quattrocento Sans"/>
              </a:rPr>
              <a:t>到</a:t>
            </a:r>
            <a:r>
              <a:rPr b="1" lang="en-US" sz="2400" spc="-1" strike="noStrike">
                <a:solidFill>
                  <a:srgbClr val="005c82"/>
                </a:solidFill>
                <a:latin typeface="Quattrocento Sans"/>
                <a:ea typeface="Quattrocento Sans"/>
              </a:rPr>
              <a:t>"</a:t>
            </a:r>
            <a:r>
              <a:rPr b="1" lang="zh-CN" sz="2400" spc="-1" strike="noStrike">
                <a:solidFill>
                  <a:srgbClr val="005c82"/>
                </a:solidFill>
                <a:latin typeface="Quattrocento Sans"/>
                <a:ea typeface="Quattrocento Sans"/>
              </a:rPr>
              <a:t>塑</a:t>
            </a:r>
            <a:r>
              <a:rPr b="1" lang="zh-CN" sz="2400" spc="-1" strike="noStrike">
                <a:solidFill>
                  <a:srgbClr val="005c82"/>
                </a:solidFill>
                <a:latin typeface="Quattrocento Sans"/>
                <a:ea typeface="Quattrocento Sans"/>
              </a:rPr>
              <a:t>造</a:t>
            </a:r>
            <a:r>
              <a:rPr b="1" lang="en-US" sz="2400" spc="-1" strike="noStrike">
                <a:solidFill>
                  <a:srgbClr val="005c82"/>
                </a:solidFill>
                <a:latin typeface="Quattrocento Sans"/>
                <a:ea typeface="Quattrocento Sans"/>
              </a:rPr>
              <a:t>"</a:t>
            </a:r>
            <a:r>
              <a:rPr b="1" lang="zh-CN" sz="2400" spc="-1" strike="noStrike">
                <a:solidFill>
                  <a:srgbClr val="005c82"/>
                </a:solidFill>
                <a:latin typeface="Quattrocento Sans"/>
                <a:ea typeface="Quattrocento Sans"/>
              </a:rPr>
              <a:t>的范</a:t>
            </a:r>
            <a:r>
              <a:rPr b="1" lang="zh-CN" sz="2400" spc="-1" strike="noStrike">
                <a:solidFill>
                  <a:srgbClr val="005c82"/>
                </a:solidFill>
                <a:latin typeface="Quattrocento Sans"/>
                <a:ea typeface="Quattrocento Sans"/>
              </a:rPr>
              <a:t>式转</a:t>
            </a:r>
            <a:r>
              <a:rPr b="1" lang="zh-CN" sz="2400" spc="-1" strike="noStrike">
                <a:solidFill>
                  <a:srgbClr val="005c82"/>
                </a:solidFill>
                <a:latin typeface="Quattrocento Sans"/>
                <a:ea typeface="Quattrocento Sans"/>
              </a:rPr>
              <a:t>变</a:t>
            </a:r>
            <a:endParaRPr b="0" lang="en-US" sz="2400" spc="-1" strike="noStrike">
              <a:latin typeface="Arial"/>
            </a:endParaRPr>
          </a:p>
        </p:txBody>
      </p:sp>
      <p:sp>
        <p:nvSpPr>
          <p:cNvPr id="384" name="Shape 71"/>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385" name="Shape 72"/>
          <p:cNvSpPr/>
          <p:nvPr/>
        </p:nvSpPr>
        <p:spPr>
          <a:xfrm>
            <a:off x="2540160" y="1574640"/>
            <a:ext cx="6349680" cy="215856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386" name="Text 91"/>
          <p:cNvSpPr/>
          <p:nvPr/>
        </p:nvSpPr>
        <p:spPr>
          <a:xfrm>
            <a:off x="2768760" y="1676520"/>
            <a:ext cx="5892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b0bec5"/>
                </a:solidFill>
                <a:latin typeface="Quattrocento Sans"/>
                <a:ea typeface="Quattrocento Sans"/>
              </a:rPr>
              <a:t>传统范式：</a:t>
            </a:r>
            <a:r>
              <a:rPr b="1" lang="en-US" sz="1800" spc="-1" strike="noStrike">
                <a:solidFill>
                  <a:srgbClr val="b0bec5"/>
                </a:solidFill>
                <a:latin typeface="Quattrocento Sans"/>
                <a:ea typeface="Quattrocento Sans"/>
              </a:rPr>
              <a:t>"</a:t>
            </a:r>
            <a:r>
              <a:rPr b="1" lang="zh-CN" sz="1800" spc="-1" strike="noStrike">
                <a:solidFill>
                  <a:srgbClr val="b0bec5"/>
                </a:solidFill>
                <a:latin typeface="Quattrocento Sans"/>
                <a:ea typeface="Quattrocento Sans"/>
              </a:rPr>
              <a:t>围堵策</a:t>
            </a:r>
            <a:r>
              <a:rPr b="1" lang="zh-CN" sz="1800" spc="-1" strike="noStrike">
                <a:solidFill>
                  <a:srgbClr val="b0bec5"/>
                </a:solidFill>
                <a:latin typeface="Quattrocento Sans"/>
                <a:ea typeface="Quattrocento Sans"/>
              </a:rPr>
              <a:t>略</a:t>
            </a:r>
            <a:r>
              <a:rPr b="1" lang="en-US" sz="1800" spc="-1" strike="noStrike">
                <a:solidFill>
                  <a:srgbClr val="b0bec5"/>
                </a:solidFill>
                <a:latin typeface="Quattrocento Sans"/>
                <a:ea typeface="Quattrocento Sans"/>
              </a:rPr>
              <a:t>"</a:t>
            </a:r>
            <a:endParaRPr b="0" lang="en-US" sz="1800" spc="-1" strike="noStrike">
              <a:latin typeface="Arial"/>
            </a:endParaRPr>
          </a:p>
        </p:txBody>
      </p:sp>
      <p:sp>
        <p:nvSpPr>
          <p:cNvPr id="387" name="Text 92"/>
          <p:cNvSpPr/>
          <p:nvPr/>
        </p:nvSpPr>
        <p:spPr>
          <a:xfrm>
            <a:off x="2768760" y="2082960"/>
            <a:ext cx="5892480" cy="15235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问题：模型会走向表</a:t>
            </a:r>
            <a:r>
              <a:rPr b="0" lang="zh-CN" sz="1500" spc="-1" strike="noStrike">
                <a:solidFill>
                  <a:srgbClr val="333333"/>
                </a:solidFill>
                <a:latin typeface="Quattrocento Sans"/>
                <a:ea typeface="Quattrocento Sans"/>
              </a:rPr>
              <a:t>征坍缩</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解法：</a:t>
            </a:r>
            <a:r>
              <a:rPr b="0" lang="en-US" sz="1500" spc="-1" strike="noStrike">
                <a:solidFill>
                  <a:srgbClr val="333333"/>
                </a:solidFill>
                <a:latin typeface="Quattrocento Sans"/>
                <a:ea typeface="Quattrocento Sans"/>
              </a:rPr>
              <a:t>stop-</a:t>
            </a:r>
            <a:r>
              <a:rPr b="0" lang="en-US" sz="1500" spc="-1" strike="noStrike">
                <a:solidFill>
                  <a:srgbClr val="333333"/>
                </a:solidFill>
                <a:latin typeface="Quattrocento Sans"/>
                <a:ea typeface="Quattrocento Sans"/>
              </a:rPr>
              <a:t>gradient + EMA</a:t>
            </a:r>
            <a:r>
              <a:rPr b="0" lang="zh-CN" sz="1500" spc="-1" strike="noStrike">
                <a:solidFill>
                  <a:srgbClr val="333333"/>
                </a:solidFill>
                <a:latin typeface="Quattrocento Sans"/>
                <a:ea typeface="Quattrocento Sans"/>
              </a:rPr>
              <a:t>，制</a:t>
            </a:r>
            <a:r>
              <a:rPr b="0" lang="zh-CN" sz="1500" spc="-1" strike="noStrike">
                <a:solidFill>
                  <a:srgbClr val="333333"/>
                </a:solidFill>
                <a:latin typeface="Quattrocento Sans"/>
                <a:ea typeface="Quattrocento Sans"/>
              </a:rPr>
              <a:t>造双编码器不对称性</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效果：</a:t>
            </a:r>
            <a:r>
              <a:rPr b="1" lang="zh-CN" sz="1500" spc="-1" strike="noStrike">
                <a:solidFill>
                  <a:srgbClr val="333333"/>
                </a:solidFill>
                <a:latin typeface="Quattrocento Sans"/>
                <a:ea typeface="Quattrocento Sans"/>
              </a:rPr>
              <a:t>提高坍缩门槛</a:t>
            </a:r>
            <a:r>
              <a:rPr b="0" lang="zh-CN" sz="1500" spc="-1" strike="noStrike">
                <a:solidFill>
                  <a:srgbClr val="333333"/>
                </a:solidFill>
                <a:latin typeface="Quattrocento Sans"/>
                <a:ea typeface="Quattrocento Sans"/>
              </a:rPr>
              <a:t>（但未根除）</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代价：超参数多、训</a:t>
            </a:r>
            <a:r>
              <a:rPr b="0" lang="zh-CN" sz="1500" spc="-1" strike="noStrike">
                <a:solidFill>
                  <a:srgbClr val="333333"/>
                </a:solidFill>
                <a:latin typeface="Quattrocento Sans"/>
                <a:ea typeface="Quattrocento Sans"/>
              </a:rPr>
              <a:t>练不稳定、架构迁移困</a:t>
            </a:r>
            <a:r>
              <a:rPr b="0" lang="zh-CN" sz="1500" spc="-1" strike="noStrike">
                <a:solidFill>
                  <a:srgbClr val="333333"/>
                </a:solidFill>
                <a:latin typeface="Quattrocento Sans"/>
                <a:ea typeface="Quattrocento Sans"/>
              </a:rPr>
              <a:t>难</a:t>
            </a:r>
            <a:endParaRPr b="0" lang="en-US" sz="1500" spc="-1" strike="noStrike">
              <a:latin typeface="Arial"/>
            </a:endParaRPr>
          </a:p>
        </p:txBody>
      </p:sp>
      <p:sp>
        <p:nvSpPr>
          <p:cNvPr id="388" name="Shape 73"/>
          <p:cNvSpPr/>
          <p:nvPr/>
        </p:nvSpPr>
        <p:spPr>
          <a:xfrm>
            <a:off x="9144000" y="1574640"/>
            <a:ext cx="6349680" cy="2158560"/>
          </a:xfrm>
          <a:prstGeom prst="roundRect">
            <a:avLst>
              <a:gd name="adj" fmla="val 4000"/>
            </a:avLst>
          </a:prstGeom>
          <a:solidFill>
            <a:srgbClr val="e8f4f8"/>
          </a:solidFill>
          <a:ln w="12600">
            <a:solidFill>
              <a:srgbClr val="005c82"/>
            </a:solidFill>
            <a:round/>
          </a:ln>
        </p:spPr>
        <p:style>
          <a:lnRef idx="0"/>
          <a:fillRef idx="0"/>
          <a:effectRef idx="0"/>
          <a:fontRef idx="minor"/>
        </p:style>
      </p:sp>
      <p:sp>
        <p:nvSpPr>
          <p:cNvPr id="389" name="Text 93"/>
          <p:cNvSpPr/>
          <p:nvPr/>
        </p:nvSpPr>
        <p:spPr>
          <a:xfrm>
            <a:off x="9372600" y="1676520"/>
            <a:ext cx="5892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1800" spc="-1" strike="noStrike">
                <a:solidFill>
                  <a:srgbClr val="005c82"/>
                </a:solidFill>
                <a:latin typeface="Quattrocento Sans"/>
                <a:ea typeface="Quattrocento Sans"/>
              </a:rPr>
              <a:t>LeJEPA</a:t>
            </a:r>
            <a:r>
              <a:rPr b="1" lang="zh-CN" sz="1800" spc="-1" strike="noStrike">
                <a:solidFill>
                  <a:srgbClr val="005c82"/>
                </a:solidFill>
                <a:latin typeface="Quattrocento Sans"/>
                <a:ea typeface="Quattrocento Sans"/>
              </a:rPr>
              <a:t>范式：</a:t>
            </a:r>
            <a:r>
              <a:rPr b="1" lang="en-US" sz="1800" spc="-1" strike="noStrike">
                <a:solidFill>
                  <a:srgbClr val="005c82"/>
                </a:solidFill>
                <a:latin typeface="Quattrocento Sans"/>
                <a:ea typeface="Quattrocento Sans"/>
              </a:rPr>
              <a:t>"</a:t>
            </a:r>
            <a:r>
              <a:rPr b="1" lang="zh-CN" sz="1800" spc="-1" strike="noStrike">
                <a:solidFill>
                  <a:srgbClr val="005c82"/>
                </a:solidFill>
                <a:latin typeface="Quattrocento Sans"/>
                <a:ea typeface="Quattrocento Sans"/>
              </a:rPr>
              <a:t>塑</a:t>
            </a:r>
            <a:r>
              <a:rPr b="1" lang="zh-CN" sz="1800" spc="-1" strike="noStrike">
                <a:solidFill>
                  <a:srgbClr val="005c82"/>
                </a:solidFill>
                <a:latin typeface="Quattrocento Sans"/>
                <a:ea typeface="Quattrocento Sans"/>
              </a:rPr>
              <a:t>造最优</a:t>
            </a:r>
            <a:r>
              <a:rPr b="1" lang="en-US" sz="1800" spc="-1" strike="noStrike">
                <a:solidFill>
                  <a:srgbClr val="005c82"/>
                </a:solidFill>
                <a:latin typeface="Quattrocento Sans"/>
                <a:ea typeface="Quattrocento Sans"/>
              </a:rPr>
              <a:t>"</a:t>
            </a:r>
            <a:endParaRPr b="0" lang="en-US" sz="1800" spc="-1" strike="noStrike">
              <a:latin typeface="Arial"/>
            </a:endParaRPr>
          </a:p>
        </p:txBody>
      </p:sp>
      <p:sp>
        <p:nvSpPr>
          <p:cNvPr id="390" name="Text 94"/>
          <p:cNvSpPr/>
          <p:nvPr/>
        </p:nvSpPr>
        <p:spPr>
          <a:xfrm>
            <a:off x="9372600" y="2082960"/>
            <a:ext cx="5892480" cy="15235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问题：模型会走向表征坍缩</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解法：直接规定</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嵌入分布必须是</a:t>
            </a:r>
            <a:r>
              <a:rPr b="0" lang="en-US" sz="1500" spc="-1" strike="noStrike">
                <a:solidFill>
                  <a:srgbClr val="333333"/>
                </a:solidFill>
                <a:latin typeface="Quattrocento Sans"/>
                <a:ea typeface="Quattrocento Sans"/>
              </a:rPr>
              <a:t>isotropic Gaussian"</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效果：</a:t>
            </a:r>
            <a:r>
              <a:rPr b="1" lang="zh-CN" sz="1500" spc="-1" strike="noStrike">
                <a:solidFill>
                  <a:srgbClr val="333333"/>
                </a:solidFill>
                <a:latin typeface="Quattrocento Sans"/>
                <a:ea typeface="Quattrocento Sans"/>
              </a:rPr>
              <a:t>坍缩根本走不通</a:t>
            </a:r>
            <a:r>
              <a:rPr b="0" lang="zh-CN" sz="1500" spc="-1" strike="noStrike">
                <a:solidFill>
                  <a:srgbClr val="333333"/>
                </a:solidFill>
                <a:latin typeface="Quattrocento Sans"/>
                <a:ea typeface="Quattrocento Sans"/>
              </a:rPr>
              <a:t>（</a:t>
            </a:r>
            <a:r>
              <a:rPr b="0" lang="en-US" sz="1500" spc="-1" strike="noStrike">
                <a:solidFill>
                  <a:srgbClr val="333333"/>
                </a:solidFill>
                <a:latin typeface="Quattrocento Sans"/>
                <a:ea typeface="Quattrocento Sans"/>
              </a:rPr>
              <a:t>SIGReg</a:t>
            </a:r>
            <a:r>
              <a:rPr b="0" lang="zh-CN" sz="1500" spc="-1" strike="noStrike">
                <a:solidFill>
                  <a:srgbClr val="333333"/>
                </a:solidFill>
                <a:latin typeface="Quattrocento Sans"/>
                <a:ea typeface="Quattrocento Sans"/>
              </a:rPr>
              <a:t>损失急剧增大）</a:t>
            </a:r>
            <a:endParaRPr b="0" lang="en-US" sz="1500" spc="-1" strike="noStrike">
              <a:latin typeface="Arial"/>
            </a:endParaRPr>
          </a:p>
          <a:p>
            <a:pPr>
              <a:lnSpc>
                <a:spcPct val="150000"/>
              </a:lnSpc>
              <a:buNone/>
            </a:pPr>
            <a:r>
              <a:rPr b="0" lang="en-US" sz="1500" spc="-1" strike="noStrike">
                <a:solidFill>
                  <a:srgbClr val="333333"/>
                </a:solidFill>
                <a:latin typeface="Quattrocento Sans"/>
                <a:ea typeface="Quattrocento Sans"/>
              </a:rPr>
              <a:t>• </a:t>
            </a:r>
            <a:r>
              <a:rPr b="0" lang="zh-CN" sz="1500" spc="-1" strike="noStrike">
                <a:solidFill>
                  <a:srgbClr val="333333"/>
                </a:solidFill>
                <a:latin typeface="Quattrocento Sans"/>
                <a:ea typeface="Quattrocento Sans"/>
              </a:rPr>
              <a:t>优势：单编码器、单超参数、代码少一个数量级</a:t>
            </a:r>
            <a:endParaRPr b="0" lang="en-US" sz="1500" spc="-1" strike="noStrike">
              <a:latin typeface="Arial"/>
            </a:endParaRPr>
          </a:p>
        </p:txBody>
      </p:sp>
      <p:sp>
        <p:nvSpPr>
          <p:cNvPr id="391" name="Shape 74"/>
          <p:cNvSpPr/>
          <p:nvPr/>
        </p:nvSpPr>
        <p:spPr>
          <a:xfrm>
            <a:off x="8889840" y="2413080"/>
            <a:ext cx="253800" cy="253800"/>
          </a:xfrm>
          <a:prstGeom prst="rightArrow">
            <a:avLst>
              <a:gd name="adj1" fmla="val 50000"/>
              <a:gd name="adj2" fmla="val 50000"/>
            </a:avLst>
          </a:prstGeom>
          <a:solidFill>
            <a:srgbClr val="005c82"/>
          </a:solidFill>
          <a:ln w="0">
            <a:noFill/>
          </a:ln>
        </p:spPr>
        <p:style>
          <a:lnRef idx="0"/>
          <a:fillRef idx="0"/>
          <a:effectRef idx="0"/>
          <a:fontRef idx="minor"/>
        </p:style>
      </p:sp>
      <p:sp>
        <p:nvSpPr>
          <p:cNvPr id="392" name="Text 95"/>
          <p:cNvSpPr/>
          <p:nvPr/>
        </p:nvSpPr>
        <p:spPr>
          <a:xfrm>
            <a:off x="2540160" y="396252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关键实验发现</a:t>
            </a:r>
            <a:endParaRPr b="0" lang="en-US" sz="2000" spc="-1" strike="noStrike">
              <a:latin typeface="Arial"/>
            </a:endParaRPr>
          </a:p>
        </p:txBody>
      </p:sp>
      <p:sp>
        <p:nvSpPr>
          <p:cNvPr id="393" name="Shape 75"/>
          <p:cNvSpPr/>
          <p:nvPr/>
        </p:nvSpPr>
        <p:spPr>
          <a:xfrm>
            <a:off x="2540160" y="4444920"/>
            <a:ext cx="177480" cy="177480"/>
          </a:xfrm>
          <a:prstGeom prst="diamond">
            <a:avLst/>
          </a:prstGeom>
          <a:solidFill>
            <a:srgbClr val="005c82"/>
          </a:solidFill>
          <a:ln w="0">
            <a:noFill/>
          </a:ln>
        </p:spPr>
        <p:style>
          <a:lnRef idx="0"/>
          <a:fillRef idx="0"/>
          <a:effectRef idx="0"/>
          <a:fontRef idx="minor"/>
        </p:style>
      </p:sp>
      <p:sp>
        <p:nvSpPr>
          <p:cNvPr id="394" name="Text 96"/>
          <p:cNvSpPr/>
          <p:nvPr/>
        </p:nvSpPr>
        <p:spPr>
          <a:xfrm>
            <a:off x="2870280" y="4368960"/>
            <a:ext cx="12877560" cy="6346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700" spc="-1" strike="noStrike">
                <a:solidFill>
                  <a:srgbClr val="333333"/>
                </a:solidFill>
                <a:latin typeface="Quattrocento Sans"/>
                <a:ea typeface="Quattrocento Sans"/>
              </a:rPr>
              <a:t>训练</a:t>
            </a:r>
            <a:r>
              <a:rPr b="1" lang="en-US" sz="1700" spc="-1" strike="noStrike">
                <a:solidFill>
                  <a:srgbClr val="333333"/>
                </a:solidFill>
                <a:latin typeface="Quattrocento Sans"/>
                <a:ea typeface="Quattrocento Sans"/>
              </a:rPr>
              <a:t>loss</a:t>
            </a:r>
            <a:r>
              <a:rPr b="1" lang="zh-CN" sz="1700" spc="-1" strike="noStrike">
                <a:solidFill>
                  <a:srgbClr val="333333"/>
                </a:solidFill>
                <a:latin typeface="Quattrocento Sans"/>
                <a:ea typeface="Quattrocento Sans"/>
              </a:rPr>
              <a:t>与下游性能强相关</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SSL</a:t>
            </a:r>
            <a:r>
              <a:rPr b="0" lang="zh-CN" sz="1700" spc="-1" strike="noStrike">
                <a:solidFill>
                  <a:srgbClr val="333333"/>
                </a:solidFill>
                <a:latin typeface="Quattrocento Sans"/>
                <a:ea typeface="Quattrocento Sans"/>
              </a:rPr>
              <a:t>领域首次可以不用下游评估做模型选择——之前所有方法的训练</a:t>
            </a:r>
            <a:r>
              <a:rPr b="0" lang="en-US" sz="1700" spc="-1" strike="noStrike">
                <a:solidFill>
                  <a:srgbClr val="333333"/>
                </a:solidFill>
                <a:latin typeface="Quattrocento Sans"/>
                <a:ea typeface="Quattrocento Sans"/>
              </a:rPr>
              <a:t>loss</a:t>
            </a:r>
            <a:r>
              <a:rPr b="0" lang="zh-CN" sz="1700" spc="-1" strike="noStrike">
                <a:solidFill>
                  <a:srgbClr val="333333"/>
                </a:solidFill>
                <a:latin typeface="Quattrocento Sans"/>
                <a:ea typeface="Quattrocento Sans"/>
              </a:rPr>
              <a:t>和</a:t>
            </a:r>
            <a:r>
              <a:rPr b="0" lang="en-US" sz="1700" spc="-1" strike="noStrike">
                <a:solidFill>
                  <a:srgbClr val="333333"/>
                </a:solidFill>
                <a:latin typeface="Quattrocento Sans"/>
                <a:ea typeface="Quattrocento Sans"/>
              </a:rPr>
              <a:t>linear probe</a:t>
            </a:r>
            <a:r>
              <a:rPr b="0" lang="zh-CN" sz="1700" spc="-1" strike="noStrike">
                <a:solidFill>
                  <a:srgbClr val="333333"/>
                </a:solidFill>
                <a:latin typeface="Quattrocento Sans"/>
                <a:ea typeface="Quattrocento Sans"/>
              </a:rPr>
              <a:t>准确率经常不相关</a:t>
            </a:r>
            <a:endParaRPr b="0" lang="en-US" sz="1700" spc="-1" strike="noStrike">
              <a:latin typeface="Arial"/>
            </a:endParaRPr>
          </a:p>
        </p:txBody>
      </p:sp>
      <p:sp>
        <p:nvSpPr>
          <p:cNvPr id="395" name="Shape 76"/>
          <p:cNvSpPr/>
          <p:nvPr/>
        </p:nvSpPr>
        <p:spPr>
          <a:xfrm>
            <a:off x="2540160" y="5079960"/>
            <a:ext cx="13207680" cy="12240"/>
          </a:xfrm>
          <a:prstGeom prst="rect">
            <a:avLst/>
          </a:prstGeom>
          <a:solidFill>
            <a:srgbClr val="e0f4fa"/>
          </a:solidFill>
          <a:ln w="0">
            <a:noFill/>
          </a:ln>
        </p:spPr>
        <p:style>
          <a:lnRef idx="0"/>
          <a:fillRef idx="0"/>
          <a:effectRef idx="0"/>
          <a:fontRef idx="minor"/>
        </p:style>
      </p:sp>
      <p:sp>
        <p:nvSpPr>
          <p:cNvPr id="396" name="Shape 77"/>
          <p:cNvSpPr/>
          <p:nvPr/>
        </p:nvSpPr>
        <p:spPr>
          <a:xfrm>
            <a:off x="2540160" y="5257800"/>
            <a:ext cx="177480" cy="177480"/>
          </a:xfrm>
          <a:prstGeom prst="diamond">
            <a:avLst/>
          </a:prstGeom>
          <a:solidFill>
            <a:srgbClr val="007aa8"/>
          </a:solidFill>
          <a:ln w="0">
            <a:noFill/>
          </a:ln>
        </p:spPr>
        <p:style>
          <a:lnRef idx="0"/>
          <a:fillRef idx="0"/>
          <a:effectRef idx="0"/>
          <a:fontRef idx="minor"/>
        </p:style>
      </p:sp>
      <p:sp>
        <p:nvSpPr>
          <p:cNvPr id="397" name="Text 97"/>
          <p:cNvSpPr/>
          <p:nvPr/>
        </p:nvSpPr>
        <p:spPr>
          <a:xfrm>
            <a:off x="2870280" y="5181480"/>
            <a:ext cx="12877560" cy="6346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700" spc="-1" strike="noStrike">
                <a:solidFill>
                  <a:srgbClr val="333333"/>
                </a:solidFill>
                <a:latin typeface="Quattrocento Sans"/>
                <a:ea typeface="Quattrocento Sans"/>
              </a:rPr>
              <a:t>跨架构</a:t>
            </a:r>
            <a:r>
              <a:rPr b="1" lang="en-US" sz="1700" spc="-1" strike="noStrike">
                <a:solidFill>
                  <a:srgbClr val="333333"/>
                </a:solidFill>
                <a:latin typeface="Quattrocento Sans"/>
                <a:ea typeface="Quattrocento Sans"/>
              </a:rPr>
              <a:t>/</a:t>
            </a:r>
            <a:r>
              <a:rPr b="1" lang="zh-CN" sz="1700" spc="-1" strike="noStrike">
                <a:solidFill>
                  <a:srgbClr val="333333"/>
                </a:solidFill>
                <a:latin typeface="Quattrocento Sans"/>
                <a:ea typeface="Quattrocento Sans"/>
              </a:rPr>
              <a:t>跨规模稳定</a:t>
            </a:r>
            <a:r>
              <a:rPr b="0" lang="zh-CN" sz="1700" spc="-1" strike="noStrike">
                <a:solidFill>
                  <a:srgbClr val="333333"/>
                </a:solidFill>
                <a:latin typeface="Quattrocento Sans"/>
                <a:ea typeface="Quattrocento Sans"/>
              </a:rPr>
              <a:t>：同一个</a:t>
            </a:r>
            <a:r>
              <a:rPr b="0" lang="en-US" sz="1700" spc="-1" strike="noStrike">
                <a:solidFill>
                  <a:srgbClr val="333333"/>
                </a:solidFill>
                <a:latin typeface="Quattrocento Sans"/>
                <a:ea typeface="Quattrocento Sans"/>
              </a:rPr>
              <a:t>λ</a:t>
            </a:r>
            <a:r>
              <a:rPr b="0" lang="zh-CN" sz="1700" spc="-1" strike="noStrike">
                <a:solidFill>
                  <a:srgbClr val="333333"/>
                </a:solidFill>
                <a:latin typeface="Quattrocento Sans"/>
                <a:ea typeface="Quattrocento Sans"/>
              </a:rPr>
              <a:t>在</a:t>
            </a:r>
            <a:r>
              <a:rPr b="0" lang="en-US" sz="1700" spc="-1" strike="noStrike">
                <a:solidFill>
                  <a:srgbClr val="333333"/>
                </a:solidFill>
                <a:latin typeface="Quattrocento Sans"/>
                <a:ea typeface="Quattrocento Sans"/>
              </a:rPr>
              <a:t>ViT-B/L/H</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ConvNeXt</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ResNet</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Swin</a:t>
            </a:r>
            <a:r>
              <a:rPr b="0" lang="zh-CN" sz="1700" spc="-1" strike="noStrike">
                <a:solidFill>
                  <a:srgbClr val="333333"/>
                </a:solidFill>
                <a:latin typeface="Quattrocento Sans"/>
                <a:ea typeface="Quattrocento Sans"/>
              </a:rPr>
              <a:t>上都直接工作，从</a:t>
            </a:r>
            <a:r>
              <a:rPr b="0" lang="en-US" sz="1700" spc="-1" strike="noStrike">
                <a:solidFill>
                  <a:srgbClr val="333333"/>
                </a:solidFill>
                <a:latin typeface="Quattrocento Sans"/>
                <a:ea typeface="Quattrocento Sans"/>
              </a:rPr>
              <a:t>ViT-B</a:t>
            </a:r>
            <a:r>
              <a:rPr b="0" lang="zh-CN" sz="1700" spc="-1" strike="noStrike">
                <a:solidFill>
                  <a:srgbClr val="333333"/>
                </a:solidFill>
                <a:latin typeface="Quattrocento Sans"/>
                <a:ea typeface="Quattrocento Sans"/>
              </a:rPr>
              <a:t>到</a:t>
            </a:r>
            <a:r>
              <a:rPr b="0" lang="en-US" sz="1700" spc="-1" strike="noStrike">
                <a:solidFill>
                  <a:srgbClr val="333333"/>
                </a:solidFill>
                <a:latin typeface="Quattrocento Sans"/>
                <a:ea typeface="Quattrocento Sans"/>
              </a:rPr>
              <a:t>ViT-g(1.8B)</a:t>
            </a:r>
            <a:r>
              <a:rPr b="0" lang="zh-CN" sz="1700" spc="-1" strike="noStrike">
                <a:solidFill>
                  <a:srgbClr val="333333"/>
                </a:solidFill>
                <a:latin typeface="Quattrocento Sans"/>
                <a:ea typeface="Quattrocento Sans"/>
              </a:rPr>
              <a:t>训练曲线平稳</a:t>
            </a:r>
            <a:endParaRPr b="0" lang="en-US" sz="1700" spc="-1" strike="noStrike">
              <a:latin typeface="Arial"/>
            </a:endParaRPr>
          </a:p>
        </p:txBody>
      </p:sp>
      <p:sp>
        <p:nvSpPr>
          <p:cNvPr id="398" name="Shape 78"/>
          <p:cNvSpPr/>
          <p:nvPr/>
        </p:nvSpPr>
        <p:spPr>
          <a:xfrm>
            <a:off x="2540160" y="5892840"/>
            <a:ext cx="13207680" cy="12240"/>
          </a:xfrm>
          <a:prstGeom prst="rect">
            <a:avLst/>
          </a:prstGeom>
          <a:solidFill>
            <a:srgbClr val="e0f4fa"/>
          </a:solidFill>
          <a:ln w="0">
            <a:noFill/>
          </a:ln>
        </p:spPr>
        <p:style>
          <a:lnRef idx="0"/>
          <a:fillRef idx="0"/>
          <a:effectRef idx="0"/>
          <a:fontRef idx="minor"/>
        </p:style>
      </p:sp>
      <p:sp>
        <p:nvSpPr>
          <p:cNvPr id="399" name="Shape 79"/>
          <p:cNvSpPr/>
          <p:nvPr/>
        </p:nvSpPr>
        <p:spPr>
          <a:xfrm>
            <a:off x="2540160" y="6070680"/>
            <a:ext cx="177480" cy="177480"/>
          </a:xfrm>
          <a:prstGeom prst="diamond">
            <a:avLst/>
          </a:prstGeom>
          <a:solidFill>
            <a:srgbClr val="00acc1"/>
          </a:solidFill>
          <a:ln w="0">
            <a:noFill/>
          </a:ln>
        </p:spPr>
        <p:style>
          <a:lnRef idx="0"/>
          <a:fillRef idx="0"/>
          <a:effectRef idx="0"/>
          <a:fontRef idx="minor"/>
        </p:style>
      </p:sp>
      <p:sp>
        <p:nvSpPr>
          <p:cNvPr id="400" name="Text 98"/>
          <p:cNvSpPr/>
          <p:nvPr/>
        </p:nvSpPr>
        <p:spPr>
          <a:xfrm>
            <a:off x="2870280" y="5994360"/>
            <a:ext cx="12877560" cy="78696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700" spc="-1" strike="noStrike">
                <a:solidFill>
                  <a:srgbClr val="333333"/>
                </a:solidFill>
                <a:latin typeface="Quattrocento Sans"/>
                <a:ea typeface="Quattrocento Sans"/>
              </a:rPr>
              <a:t>领域内</a:t>
            </a:r>
            <a:r>
              <a:rPr b="1" lang="en-US" sz="1700" spc="-1" strike="noStrike">
                <a:solidFill>
                  <a:srgbClr val="333333"/>
                </a:solidFill>
                <a:latin typeface="Quattrocento Sans"/>
                <a:ea typeface="Quattrocento Sans"/>
              </a:rPr>
              <a:t>SSL &gt; </a:t>
            </a:r>
            <a:r>
              <a:rPr b="1" lang="zh-CN" sz="1700" spc="-1" strike="noStrike">
                <a:solidFill>
                  <a:srgbClr val="333333"/>
                </a:solidFill>
                <a:latin typeface="Quattrocento Sans"/>
                <a:ea typeface="Quattrocento Sans"/>
              </a:rPr>
              <a:t>迁移</a:t>
            </a:r>
            <a:r>
              <a:rPr b="0" lang="zh-CN" sz="1700" spc="-1" strike="noStrike">
                <a:solidFill>
                  <a:srgbClr val="333333"/>
                </a:solidFill>
                <a:latin typeface="Quattrocento Sans"/>
                <a:ea typeface="Quattrocento Sans"/>
              </a:rPr>
              <a:t>：在</a:t>
            </a:r>
            <a:r>
              <a:rPr b="0" lang="en-US" sz="1700" spc="-1" strike="noStrike">
                <a:solidFill>
                  <a:srgbClr val="333333"/>
                </a:solidFill>
                <a:latin typeface="Quattrocento Sans"/>
                <a:ea typeface="Quattrocento Sans"/>
              </a:rPr>
              <a:t>Galaxy10</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Food101</a:t>
            </a:r>
            <a:r>
              <a:rPr b="0" lang="zh-CN" sz="1700" spc="-1" strike="noStrike">
                <a:solidFill>
                  <a:srgbClr val="333333"/>
                </a:solidFill>
                <a:latin typeface="Quattrocento Sans"/>
                <a:ea typeface="Quattrocento Sans"/>
              </a:rPr>
              <a:t>等专业数据集上，</a:t>
            </a:r>
            <a:r>
              <a:rPr b="0" lang="en-US" sz="1700" spc="-1" strike="noStrike">
                <a:solidFill>
                  <a:srgbClr val="333333"/>
                </a:solidFill>
                <a:latin typeface="Quattrocento Sans"/>
                <a:ea typeface="Quattrocento Sans"/>
              </a:rPr>
              <a:t>LeJEPA</a:t>
            </a:r>
            <a:r>
              <a:rPr b="0" lang="zh-CN" sz="1700" spc="-1" strike="noStrike">
                <a:solidFill>
                  <a:srgbClr val="333333"/>
                </a:solidFill>
                <a:latin typeface="Quattrocento Sans"/>
                <a:ea typeface="Quattrocento Sans"/>
              </a:rPr>
              <a:t>领域内预训练显著优于</a:t>
            </a:r>
            <a:r>
              <a:rPr b="0" lang="en-US" sz="1700" spc="-1" strike="noStrike">
                <a:solidFill>
                  <a:srgbClr val="333333"/>
                </a:solidFill>
                <a:latin typeface="Quattrocento Sans"/>
                <a:ea typeface="Quattrocento Sans"/>
              </a:rPr>
              <a:t>DINOv2</a:t>
            </a:r>
            <a:r>
              <a:rPr b="0" lang="zh-CN" sz="1700" spc="-1" strike="noStrike">
                <a:solidFill>
                  <a:srgbClr val="333333"/>
                </a:solidFill>
                <a:latin typeface="Quattrocento Sans"/>
                <a:ea typeface="Quattrocento Sans"/>
              </a:rPr>
              <a:t>大规模迁移——挑战</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必须用大模型迁移</a:t>
            </a:r>
            <a:r>
              <a:rPr b="0" lang="en-US" sz="1700" spc="-1" strike="noStrike">
                <a:solidFill>
                  <a:srgbClr val="333333"/>
                </a:solidFill>
                <a:latin typeface="Quattrocento Sans"/>
                <a:ea typeface="Quattrocento Sans"/>
              </a:rPr>
              <a:t>"</a:t>
            </a:r>
            <a:r>
              <a:rPr b="0" lang="zh-CN" sz="1700" spc="-1" strike="noStrike">
                <a:solidFill>
                  <a:srgbClr val="333333"/>
                </a:solidFill>
                <a:latin typeface="Quattrocento Sans"/>
                <a:ea typeface="Quattrocento Sans"/>
              </a:rPr>
              <a:t>的范式</a:t>
            </a:r>
            <a:endParaRPr b="0" lang="en-US" sz="1700" spc="-1" strike="noStrike">
              <a:latin typeface="Arial"/>
            </a:endParaRPr>
          </a:p>
        </p:txBody>
      </p:sp>
      <p:sp>
        <p:nvSpPr>
          <p:cNvPr id="401" name="Shape 80"/>
          <p:cNvSpPr/>
          <p:nvPr/>
        </p:nvSpPr>
        <p:spPr>
          <a:xfrm>
            <a:off x="2540160" y="6908760"/>
            <a:ext cx="13207680" cy="1523520"/>
          </a:xfrm>
          <a:prstGeom prst="rect">
            <a:avLst/>
          </a:prstGeom>
          <a:solidFill>
            <a:srgbClr val="005c82"/>
          </a:solidFill>
          <a:ln w="0">
            <a:noFill/>
          </a:ln>
        </p:spPr>
        <p:style>
          <a:lnRef idx="0"/>
          <a:fillRef idx="0"/>
          <a:effectRef idx="0"/>
          <a:fontRef idx="minor"/>
        </p:style>
      </p:sp>
      <p:sp>
        <p:nvSpPr>
          <p:cNvPr id="402" name="Shape 81"/>
          <p:cNvSpPr/>
          <p:nvPr/>
        </p:nvSpPr>
        <p:spPr>
          <a:xfrm>
            <a:off x="2717640" y="7035840"/>
            <a:ext cx="177480" cy="177480"/>
          </a:xfrm>
          <a:prstGeom prst="diamond">
            <a:avLst/>
          </a:prstGeom>
          <a:solidFill>
            <a:srgbClr val="00acc1"/>
          </a:solidFill>
          <a:ln w="0">
            <a:noFill/>
          </a:ln>
        </p:spPr>
        <p:style>
          <a:lnRef idx="0"/>
          <a:fillRef idx="0"/>
          <a:effectRef idx="0"/>
          <a:fontRef idx="minor"/>
        </p:style>
      </p:sp>
      <p:sp>
        <p:nvSpPr>
          <p:cNvPr id="403" name="Text 99"/>
          <p:cNvSpPr/>
          <p:nvPr/>
        </p:nvSpPr>
        <p:spPr>
          <a:xfrm>
            <a:off x="3022560" y="6959520"/>
            <a:ext cx="380952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00acc1"/>
                </a:solidFill>
                <a:latin typeface="Quattrocento Sans"/>
                <a:ea typeface="Quattrocento Sans"/>
              </a:rPr>
              <a:t>对具身智能的启示</a:t>
            </a:r>
            <a:endParaRPr b="0" lang="en-US" sz="1800" spc="-1" strike="noStrike">
              <a:latin typeface="Arial"/>
            </a:endParaRPr>
          </a:p>
        </p:txBody>
      </p:sp>
      <p:sp>
        <p:nvSpPr>
          <p:cNvPr id="404" name="Text 100"/>
          <p:cNvSpPr/>
          <p:nvPr/>
        </p:nvSpPr>
        <p:spPr>
          <a:xfrm>
            <a:off x="3022560" y="7289640"/>
            <a:ext cx="12521880" cy="11170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en-US" sz="1600" spc="-1" strike="noStrike">
                <a:solidFill>
                  <a:srgbClr val="ffffff"/>
                </a:solidFill>
                <a:latin typeface="Quattrocento Sans"/>
                <a:ea typeface="Quattrocento Sans"/>
              </a:rPr>
              <a:t>• </a:t>
            </a:r>
            <a:r>
              <a:rPr b="0" lang="en-US" sz="1600" spc="-1" strike="noStrike">
                <a:solidFill>
                  <a:srgbClr val="ffffff"/>
                </a:solidFill>
                <a:latin typeface="Quattrocento Sans"/>
                <a:ea typeface="Quattrocento Sans"/>
              </a:rPr>
              <a:t>JEPA</a:t>
            </a:r>
            <a:r>
              <a:rPr b="0" lang="zh-CN" sz="1600" spc="-1" strike="noStrike">
                <a:solidFill>
                  <a:srgbClr val="ffffff"/>
                </a:solidFill>
                <a:latin typeface="Quattrocento Sans"/>
                <a:ea typeface="Quattrocento Sans"/>
              </a:rPr>
              <a:t>理论地基被打牢：</a:t>
            </a:r>
            <a:r>
              <a:rPr b="0" lang="en-US" sz="1600" spc="-1" strike="noStrike">
                <a:solidFill>
                  <a:srgbClr val="ffffff"/>
                </a:solidFill>
                <a:latin typeface="Quattrocento Sans"/>
                <a:ea typeface="Quattrocento Sans"/>
              </a:rPr>
              <a:t>V-JEPA</a:t>
            </a:r>
            <a:r>
              <a:rPr b="0" lang="zh-CN" sz="1600" spc="-1" strike="noStrike">
                <a:solidFill>
                  <a:srgbClr val="ffffff"/>
                </a:solidFill>
                <a:latin typeface="Quattrocento Sans"/>
                <a:ea typeface="Quattrocento Sans"/>
              </a:rPr>
              <a:t>、</a:t>
            </a:r>
            <a:r>
              <a:rPr b="0" lang="en-US" sz="1600" spc="-1" strike="noStrike">
                <a:solidFill>
                  <a:srgbClr val="ffffff"/>
                </a:solidFill>
                <a:latin typeface="Quattrocento Sans"/>
                <a:ea typeface="Quattrocento Sans"/>
              </a:rPr>
              <a:t>VLA-JEPA</a:t>
            </a:r>
            <a:r>
              <a:rPr b="0" lang="zh-CN" sz="1600" spc="-1" strike="noStrike">
                <a:solidFill>
                  <a:srgbClr val="ffffff"/>
                </a:solidFill>
                <a:latin typeface="Quattrocento Sans"/>
                <a:ea typeface="Quattrocento Sans"/>
              </a:rPr>
              <a:t>有了更干净的替代方案</a:t>
            </a:r>
            <a:endParaRPr b="0" lang="en-US" sz="1600" spc="-1" strike="noStrike">
              <a:latin typeface="Arial"/>
            </a:endParaRPr>
          </a:p>
          <a:p>
            <a:pPr>
              <a:lnSpc>
                <a:spcPct val="150000"/>
              </a:lnSpc>
              <a:buNone/>
            </a:pPr>
            <a:r>
              <a:rPr b="0" lang="en-US" sz="1600" spc="-1" strike="noStrike">
                <a:solidFill>
                  <a:srgbClr val="ffffff"/>
                </a:solidFill>
                <a:latin typeface="Quattrocento Sans"/>
                <a:ea typeface="Quattrocento Sans"/>
              </a:rPr>
              <a:t>• </a:t>
            </a:r>
            <a:r>
              <a:rPr b="0" lang="zh-CN" sz="1600" spc="-1" strike="noStrike">
                <a:solidFill>
                  <a:srgbClr val="ffffff"/>
                </a:solidFill>
                <a:latin typeface="Quattrocento Sans"/>
                <a:ea typeface="Quattrocento Sans"/>
              </a:rPr>
              <a:t>每个机器人平台视觉分布不同，领域内</a:t>
            </a:r>
            <a:r>
              <a:rPr b="0" lang="en-US" sz="1600" spc="-1" strike="noStrike">
                <a:solidFill>
                  <a:srgbClr val="ffffff"/>
                </a:solidFill>
                <a:latin typeface="Quattrocento Sans"/>
                <a:ea typeface="Quattrocento Sans"/>
              </a:rPr>
              <a:t>SSL</a:t>
            </a:r>
            <a:r>
              <a:rPr b="0" lang="zh-CN" sz="1600" spc="-1" strike="noStrike">
                <a:solidFill>
                  <a:srgbClr val="ffffff"/>
                </a:solidFill>
                <a:latin typeface="Quattrocento Sans"/>
                <a:ea typeface="Quattrocento Sans"/>
              </a:rPr>
              <a:t>比迁移大模型更实用</a:t>
            </a:r>
            <a:endParaRPr b="0" lang="en-US" sz="1600" spc="-1" strike="noStrike">
              <a:latin typeface="Arial"/>
            </a:endParaRPr>
          </a:p>
          <a:p>
            <a:pPr>
              <a:lnSpc>
                <a:spcPct val="150000"/>
              </a:lnSpc>
              <a:buNone/>
            </a:pPr>
            <a:r>
              <a:rPr b="0" lang="en-US" sz="1600" spc="-1" strike="noStrike">
                <a:solidFill>
                  <a:srgbClr val="ffffff"/>
                </a:solidFill>
                <a:latin typeface="Quattrocento Sans"/>
                <a:ea typeface="Quattrocento Sans"/>
              </a:rPr>
              <a:t>• </a:t>
            </a:r>
            <a:r>
              <a:rPr b="0" lang="zh-CN" sz="1600" spc="-1" strike="noStrike">
                <a:solidFill>
                  <a:srgbClr val="ffffff"/>
                </a:solidFill>
                <a:latin typeface="Quattrocento Sans"/>
                <a:ea typeface="Quattrocento Sans"/>
              </a:rPr>
              <a:t>单超参数意味着可自动化调参、可做</a:t>
            </a:r>
            <a:r>
              <a:rPr b="0" lang="en-US" sz="1600" spc="-1" strike="noStrike">
                <a:solidFill>
                  <a:srgbClr val="ffffff"/>
                </a:solidFill>
                <a:latin typeface="Quattrocento Sans"/>
                <a:ea typeface="Quattrocento Sans"/>
              </a:rPr>
              <a:t>NAS</a:t>
            </a:r>
            <a:r>
              <a:rPr b="0" lang="zh-CN" sz="1600" spc="-1" strike="noStrike">
                <a:solidFill>
                  <a:srgbClr val="ffffff"/>
                </a:solidFill>
                <a:latin typeface="Quattrocento Sans"/>
                <a:ea typeface="Quattrocento Sans"/>
              </a:rPr>
              <a:t>、可快速迭代</a:t>
            </a:r>
            <a:endParaRPr b="0" lang="en-US" sz="1600" spc="-1" strike="noStrike">
              <a:latin typeface="Arial"/>
            </a:endParaRPr>
          </a:p>
        </p:txBody>
      </p:sp>
    </p:spTree>
  </p:cSld>
  <p:transition>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05"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406"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407" name="Shape 2"/>
          <p:cNvSpPr/>
          <p:nvPr/>
        </p:nvSpPr>
        <p:spPr>
          <a:xfrm>
            <a:off x="0" y="3352680"/>
            <a:ext cx="2285640" cy="1168200"/>
          </a:xfrm>
          <a:prstGeom prst="rect">
            <a:avLst/>
          </a:prstGeom>
          <a:solidFill>
            <a:srgbClr val="005c82"/>
          </a:solidFill>
          <a:ln w="0">
            <a:noFill/>
          </a:ln>
        </p:spPr>
        <p:style>
          <a:lnRef idx="0"/>
          <a:fillRef idx="0"/>
          <a:effectRef idx="0"/>
          <a:fontRef idx="minor"/>
        </p:style>
      </p:sp>
      <p:sp>
        <p:nvSpPr>
          <p:cNvPr id="408"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409"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410"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03 LeJEPA</a:t>
            </a:r>
            <a:endParaRPr b="0" lang="en-US" sz="1800" spc="-1" strike="noStrike">
              <a:latin typeface="Arial"/>
            </a:endParaRPr>
          </a:p>
        </p:txBody>
      </p:sp>
      <p:sp>
        <p:nvSpPr>
          <p:cNvPr id="411"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412"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413"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414"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415"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03 LeJEPA</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3.2 </a:t>
            </a:r>
            <a:r>
              <a:rPr b="0" lang="zh-CN" sz="1400" spc="-1" strike="noStrike">
                <a:solidFill>
                  <a:srgbClr val="005c82"/>
                </a:solidFill>
                <a:latin typeface="Quattrocento Sans"/>
                <a:ea typeface="Quattrocento Sans"/>
              </a:rPr>
              <a:t>范式转变与实验启示</a:t>
            </a:r>
            <a:endParaRPr b="0" lang="en-US" sz="1400" spc="-1" strike="noStrike">
              <a:latin typeface="Arial"/>
            </a:endParaRPr>
          </a:p>
        </p:txBody>
      </p:sp>
      <p:sp>
        <p:nvSpPr>
          <p:cNvPr id="416"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11</a:t>
            </a:r>
            <a:endParaRPr b="0" lang="en-US" sz="1400" spc="-1" strike="noStrike">
              <a:latin typeface="Arial"/>
            </a:endParaRPr>
          </a:p>
        </p:txBody>
      </p:sp>
      <p:pic>
        <p:nvPicPr>
          <p:cNvPr id="417" name="" descr=""/>
          <p:cNvPicPr/>
          <p:nvPr/>
        </p:nvPicPr>
        <p:blipFill>
          <a:blip r:embed="rId1"/>
          <a:stretch/>
        </p:blipFill>
        <p:spPr>
          <a:xfrm>
            <a:off x="3047760" y="575280"/>
            <a:ext cx="11125440" cy="3768120"/>
          </a:xfrm>
          <a:prstGeom prst="rect">
            <a:avLst/>
          </a:prstGeom>
          <a:ln w="0">
            <a:noFill/>
          </a:ln>
        </p:spPr>
      </p:pic>
      <p:pic>
        <p:nvPicPr>
          <p:cNvPr id="418" name="" descr=""/>
          <p:cNvPicPr/>
          <p:nvPr/>
        </p:nvPicPr>
        <p:blipFill>
          <a:blip r:embed="rId2"/>
          <a:stretch/>
        </p:blipFill>
        <p:spPr>
          <a:xfrm>
            <a:off x="3067560" y="4291200"/>
            <a:ext cx="11105640" cy="5538600"/>
          </a:xfrm>
          <a:prstGeom prst="rect">
            <a:avLst/>
          </a:prstGeom>
          <a:ln w="0">
            <a:noFill/>
          </a:ln>
        </p:spPr>
      </p:pic>
    </p:spTree>
  </p:cSld>
  <p:transition>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19" name="Shape 0"/>
          <p:cNvSpPr/>
          <p:nvPr/>
        </p:nvSpPr>
        <p:spPr>
          <a:xfrm>
            <a:off x="2031840" y="1778040"/>
            <a:ext cx="4825800" cy="4825800"/>
          </a:xfrm>
          <a:prstGeom prst="rect">
            <a:avLst/>
          </a:prstGeom>
          <a:solidFill>
            <a:srgbClr val="005c82">
              <a:alpha val="4000"/>
            </a:srgbClr>
          </a:solidFill>
          <a:ln w="12600">
            <a:solidFill>
              <a:srgbClr val="005c82"/>
            </a:solidFill>
            <a:round/>
          </a:ln>
        </p:spPr>
        <p:style>
          <a:lnRef idx="0"/>
          <a:fillRef idx="0"/>
          <a:effectRef idx="0"/>
          <a:fontRef idx="minor"/>
        </p:style>
      </p:sp>
      <p:sp>
        <p:nvSpPr>
          <p:cNvPr id="420" name="Shape 1"/>
          <p:cNvSpPr/>
          <p:nvPr/>
        </p:nvSpPr>
        <p:spPr>
          <a:xfrm>
            <a:off x="2540160" y="2286000"/>
            <a:ext cx="3809520" cy="3809520"/>
          </a:xfrm>
          <a:prstGeom prst="rect">
            <a:avLst/>
          </a:prstGeom>
          <a:solidFill>
            <a:srgbClr val="005c82">
              <a:alpha val="4000"/>
            </a:srgbClr>
          </a:solidFill>
          <a:ln w="12600">
            <a:solidFill>
              <a:srgbClr val="005c82"/>
            </a:solidFill>
            <a:round/>
          </a:ln>
        </p:spPr>
        <p:style>
          <a:lnRef idx="0"/>
          <a:fillRef idx="0"/>
          <a:effectRef idx="0"/>
          <a:fontRef idx="minor"/>
        </p:style>
      </p:sp>
      <p:sp>
        <p:nvSpPr>
          <p:cNvPr id="421" name="Shape 2"/>
          <p:cNvSpPr/>
          <p:nvPr/>
        </p:nvSpPr>
        <p:spPr>
          <a:xfrm>
            <a:off x="3048120" y="2793960"/>
            <a:ext cx="2793600" cy="2793600"/>
          </a:xfrm>
          <a:prstGeom prst="rect">
            <a:avLst/>
          </a:prstGeom>
          <a:solidFill>
            <a:srgbClr val="ffffff"/>
          </a:solidFill>
          <a:ln w="12600">
            <a:solidFill>
              <a:srgbClr val="005c82"/>
            </a:solidFill>
            <a:round/>
          </a:ln>
        </p:spPr>
        <p:style>
          <a:lnRef idx="0"/>
          <a:fillRef idx="0"/>
          <a:effectRef idx="0"/>
          <a:fontRef idx="minor"/>
        </p:style>
      </p:sp>
      <p:sp>
        <p:nvSpPr>
          <p:cNvPr id="422" name="Text 3"/>
          <p:cNvSpPr/>
          <p:nvPr/>
        </p:nvSpPr>
        <p:spPr>
          <a:xfrm>
            <a:off x="3048120" y="2793960"/>
            <a:ext cx="2793600" cy="27936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8000" spc="-1" strike="noStrike">
                <a:solidFill>
                  <a:srgbClr val="005c82"/>
                </a:solidFill>
                <a:latin typeface="Quattrocento Sans"/>
                <a:ea typeface="Quattrocento Sans"/>
              </a:rPr>
              <a:t>04</a:t>
            </a:r>
            <a:endParaRPr b="0" lang="en-US" sz="8000" spc="-1" strike="noStrike">
              <a:latin typeface="Arial"/>
            </a:endParaRPr>
          </a:p>
        </p:txBody>
      </p:sp>
      <p:sp>
        <p:nvSpPr>
          <p:cNvPr id="423" name="Shape 4"/>
          <p:cNvSpPr/>
          <p:nvPr/>
        </p:nvSpPr>
        <p:spPr>
          <a:xfrm>
            <a:off x="7620120" y="2793960"/>
            <a:ext cx="12240" cy="2793600"/>
          </a:xfrm>
          <a:prstGeom prst="rect">
            <a:avLst/>
          </a:prstGeom>
          <a:solidFill>
            <a:srgbClr val="b0bec5"/>
          </a:solidFill>
          <a:ln w="0">
            <a:noFill/>
          </a:ln>
        </p:spPr>
        <p:style>
          <a:lnRef idx="0"/>
          <a:fillRef idx="0"/>
          <a:effectRef idx="0"/>
          <a:fontRef idx="minor"/>
        </p:style>
      </p:sp>
      <p:sp>
        <p:nvSpPr>
          <p:cNvPr id="424" name="Text 5"/>
          <p:cNvSpPr/>
          <p:nvPr/>
        </p:nvSpPr>
        <p:spPr>
          <a:xfrm>
            <a:off x="8128080" y="2921040"/>
            <a:ext cx="711180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398" strike="noStrike">
                <a:solidFill>
                  <a:srgbClr val="00acc1"/>
                </a:solidFill>
                <a:latin typeface="Quattrocento Sans"/>
                <a:ea typeface="Quattrocento Sans"/>
              </a:rPr>
              <a:t>CHAPTER FOUR</a:t>
            </a:r>
            <a:endParaRPr b="0" lang="en-US" sz="1400" spc="-1" strike="noStrike">
              <a:latin typeface="Arial"/>
            </a:endParaRPr>
          </a:p>
        </p:txBody>
      </p:sp>
      <p:sp>
        <p:nvSpPr>
          <p:cNvPr id="425" name="Text 6"/>
          <p:cNvSpPr/>
          <p:nvPr/>
        </p:nvSpPr>
        <p:spPr>
          <a:xfrm>
            <a:off x="8128080" y="3403440"/>
            <a:ext cx="73656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3600" spc="-1" strike="noStrike">
                <a:solidFill>
                  <a:srgbClr val="005c82"/>
                </a:solidFill>
                <a:latin typeface="Quattrocento Sans"/>
                <a:ea typeface="Quattrocento Sans"/>
              </a:rPr>
              <a:t>V-JEPA 2 </a:t>
            </a:r>
            <a:r>
              <a:rPr b="1" lang="zh-CN" sz="3600" spc="-1" strike="noStrike">
                <a:solidFill>
                  <a:srgbClr val="005c82"/>
                </a:solidFill>
                <a:latin typeface="Quattrocento Sans"/>
                <a:ea typeface="Quattrocento Sans"/>
              </a:rPr>
              <a:t>论文解析</a:t>
            </a:r>
            <a:endParaRPr b="0" lang="en-US" sz="3600" spc="-1" strike="noStrike">
              <a:latin typeface="Arial"/>
            </a:endParaRPr>
          </a:p>
        </p:txBody>
      </p:sp>
      <p:sp>
        <p:nvSpPr>
          <p:cNvPr id="426" name="Text 7"/>
          <p:cNvSpPr/>
          <p:nvPr/>
        </p:nvSpPr>
        <p:spPr>
          <a:xfrm>
            <a:off x="8128080" y="4419720"/>
            <a:ext cx="7365600" cy="634680"/>
          </a:xfrm>
          <a:prstGeom prst="rect">
            <a:avLst/>
          </a:prstGeom>
          <a:noFill/>
          <a:ln w="0">
            <a:noFill/>
          </a:ln>
        </p:spPr>
        <p:style>
          <a:lnRef idx="0"/>
          <a:fillRef idx="0"/>
          <a:effectRef idx="0"/>
          <a:fontRef idx="minor"/>
        </p:style>
        <p:txBody>
          <a:bodyPr lIns="0" rIns="0" tIns="0" bIns="0" anchor="t">
            <a:noAutofit/>
          </a:bodyPr>
          <a:p>
            <a:pPr>
              <a:lnSpc>
                <a:spcPct val="140000"/>
              </a:lnSpc>
              <a:buNone/>
            </a:pPr>
            <a:r>
              <a:rPr b="0" lang="en-US" sz="1400" spc="-1" strike="noStrike">
                <a:solidFill>
                  <a:srgbClr val="b0bec5"/>
                </a:solidFill>
                <a:latin typeface="Quattrocento Sans"/>
                <a:ea typeface="Quattrocento Sans"/>
              </a:rPr>
              <a:t>Self-Supervised Video World Models</a:t>
            </a:r>
            <a:endParaRPr b="0" lang="en-US" sz="1400" spc="-1" strike="noStrike">
              <a:latin typeface="Arial"/>
            </a:endParaRPr>
          </a:p>
          <a:p>
            <a:pPr>
              <a:lnSpc>
                <a:spcPct val="140000"/>
              </a:lnSpc>
              <a:buNone/>
            </a:pPr>
            <a:r>
              <a:rPr b="0" lang="en-US" sz="1400" spc="-1" strike="noStrike">
                <a:solidFill>
                  <a:srgbClr val="b0bec5"/>
                </a:solidFill>
                <a:latin typeface="Quattrocento Sans"/>
                <a:ea typeface="Quattrocento Sans"/>
              </a:rPr>
              <a:t>From Video Understanding to Robot Manipulation</a:t>
            </a:r>
            <a:endParaRPr b="0" lang="en-US" sz="1400" spc="-1" strike="noStrike">
              <a:latin typeface="Arial"/>
            </a:endParaRPr>
          </a:p>
        </p:txBody>
      </p:sp>
      <p:sp>
        <p:nvSpPr>
          <p:cNvPr id="427" name="Shape 8"/>
          <p:cNvSpPr/>
          <p:nvPr/>
        </p:nvSpPr>
        <p:spPr>
          <a:xfrm>
            <a:off x="8128080" y="5207040"/>
            <a:ext cx="2539800" cy="25200"/>
          </a:xfrm>
          <a:prstGeom prst="rect">
            <a:avLst/>
          </a:prstGeom>
          <a:solidFill>
            <a:srgbClr val="00acc1"/>
          </a:solidFill>
          <a:ln w="0">
            <a:noFill/>
          </a:ln>
        </p:spPr>
        <p:style>
          <a:lnRef idx="0"/>
          <a:fillRef idx="0"/>
          <a:effectRef idx="0"/>
          <a:fontRef idx="minor"/>
        </p:style>
      </p:sp>
      <p:sp>
        <p:nvSpPr>
          <p:cNvPr id="428" name="Text 9"/>
          <p:cNvSpPr/>
          <p:nvPr/>
        </p:nvSpPr>
        <p:spPr>
          <a:xfrm>
            <a:off x="8128080" y="54608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4.1</a:t>
            </a:r>
            <a:r>
              <a:rPr b="0" lang="zh-CN" sz="1500" spc="-1" strike="noStrike">
                <a:solidFill>
                  <a:srgbClr val="333333"/>
                </a:solidFill>
                <a:latin typeface="Quattrocento Sans"/>
                <a:ea typeface="Quattrocento Sans"/>
              </a:rPr>
              <a:t>　两阶段训练架构</a:t>
            </a:r>
            <a:endParaRPr b="0" lang="en-US" sz="1500" spc="-1" strike="noStrike">
              <a:latin typeface="Arial"/>
            </a:endParaRPr>
          </a:p>
        </p:txBody>
      </p:sp>
      <p:sp>
        <p:nvSpPr>
          <p:cNvPr id="429" name="Text 10"/>
          <p:cNvSpPr/>
          <p:nvPr/>
        </p:nvSpPr>
        <p:spPr>
          <a:xfrm>
            <a:off x="8128080" y="59180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4.2</a:t>
            </a:r>
            <a:r>
              <a:rPr b="0" lang="zh-CN" sz="1500" spc="-1" strike="noStrike">
                <a:solidFill>
                  <a:srgbClr val="333333"/>
                </a:solidFill>
                <a:latin typeface="Quattrocento Sans"/>
                <a:ea typeface="Quattrocento Sans"/>
              </a:rPr>
              <a:t>　机器人操控实验与核心洞察</a:t>
            </a:r>
            <a:endParaRPr b="0" lang="en-US" sz="1500" spc="-1" strike="noStrike">
              <a:latin typeface="Arial"/>
            </a:endParaRPr>
          </a:p>
        </p:txBody>
      </p:sp>
      <p:sp>
        <p:nvSpPr>
          <p:cNvPr id="430" name="Text 11"/>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12</a:t>
            </a:r>
            <a:endParaRPr b="0" lang="en-US" sz="1400" spc="-1" strike="noStrike">
              <a:latin typeface="Arial"/>
            </a:endParaRPr>
          </a:p>
        </p:txBody>
      </p:sp>
    </p:spTree>
  </p:cSld>
  <p:transition>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31"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432"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433" name="Shape 2"/>
          <p:cNvSpPr/>
          <p:nvPr/>
        </p:nvSpPr>
        <p:spPr>
          <a:xfrm>
            <a:off x="0" y="4521240"/>
            <a:ext cx="2285640" cy="1168200"/>
          </a:xfrm>
          <a:prstGeom prst="rect">
            <a:avLst/>
          </a:prstGeom>
          <a:solidFill>
            <a:srgbClr val="005c82"/>
          </a:solidFill>
          <a:ln w="0">
            <a:noFill/>
          </a:ln>
        </p:spPr>
        <p:style>
          <a:lnRef idx="0"/>
          <a:fillRef idx="0"/>
          <a:effectRef idx="0"/>
          <a:fontRef idx="minor"/>
        </p:style>
      </p:sp>
      <p:sp>
        <p:nvSpPr>
          <p:cNvPr id="434"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435"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436"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437"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04 V-JEPA 2</a:t>
            </a:r>
            <a:endParaRPr b="0" lang="en-US" sz="1800" spc="-1" strike="noStrike">
              <a:latin typeface="Arial"/>
            </a:endParaRPr>
          </a:p>
        </p:txBody>
      </p:sp>
      <p:sp>
        <p:nvSpPr>
          <p:cNvPr id="438"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439"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440"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441"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04 V-JEPA 2</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4.1 </a:t>
            </a:r>
            <a:r>
              <a:rPr b="0" lang="zh-CN" sz="1400" spc="-1" strike="noStrike">
                <a:solidFill>
                  <a:srgbClr val="005c82"/>
                </a:solidFill>
                <a:latin typeface="Quattrocento Sans"/>
                <a:ea typeface="Quattrocento Sans"/>
              </a:rPr>
              <a:t>两阶段训练架构</a:t>
            </a:r>
            <a:endParaRPr b="0" lang="en-US" sz="1400" spc="-1" strike="noStrike">
              <a:latin typeface="Arial"/>
            </a:endParaRPr>
          </a:p>
        </p:txBody>
      </p:sp>
      <p:sp>
        <p:nvSpPr>
          <p:cNvPr id="442"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13</a:t>
            </a:r>
            <a:endParaRPr b="0" lang="en-US" sz="1400" spc="-1" strike="noStrike">
              <a:latin typeface="Arial"/>
            </a:endParaRPr>
          </a:p>
        </p:txBody>
      </p:sp>
      <p:sp>
        <p:nvSpPr>
          <p:cNvPr id="443"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V-JEPA 2</a:t>
            </a:r>
            <a:r>
              <a:rPr b="1" lang="zh-CN" sz="2400" spc="-1" strike="noStrike">
                <a:solidFill>
                  <a:srgbClr val="005c82"/>
                </a:solidFill>
                <a:latin typeface="Quattrocento Sans"/>
                <a:ea typeface="Quattrocento Sans"/>
              </a:rPr>
              <a:t>：两阶段训练架构</a:t>
            </a:r>
            <a:endParaRPr b="0" lang="en-US" sz="2400" spc="-1" strike="noStrike">
              <a:latin typeface="Arial"/>
            </a:endParaRPr>
          </a:p>
        </p:txBody>
      </p:sp>
      <p:sp>
        <p:nvSpPr>
          <p:cNvPr id="444"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445" name="Shape 14"/>
          <p:cNvSpPr/>
          <p:nvPr/>
        </p:nvSpPr>
        <p:spPr>
          <a:xfrm>
            <a:off x="2540160" y="1574640"/>
            <a:ext cx="6349680" cy="3047760"/>
          </a:xfrm>
          <a:prstGeom prst="roundRect">
            <a:avLst>
              <a:gd name="adj" fmla="val 4000"/>
            </a:avLst>
          </a:prstGeom>
          <a:solidFill>
            <a:srgbClr val="005c82"/>
          </a:solidFill>
          <a:ln w="0">
            <a:noFill/>
          </a:ln>
        </p:spPr>
        <p:style>
          <a:lnRef idx="0"/>
          <a:fillRef idx="0"/>
          <a:effectRef idx="0"/>
          <a:fontRef idx="minor"/>
        </p:style>
      </p:sp>
      <p:sp>
        <p:nvSpPr>
          <p:cNvPr id="446" name="Text 15"/>
          <p:cNvSpPr/>
          <p:nvPr/>
        </p:nvSpPr>
        <p:spPr>
          <a:xfrm>
            <a:off x="2768760" y="1676520"/>
            <a:ext cx="5892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1800" spc="-1" strike="noStrike">
                <a:solidFill>
                  <a:srgbClr val="00acc1"/>
                </a:solidFill>
                <a:latin typeface="Quattrocento Sans"/>
                <a:ea typeface="Quattrocento Sans"/>
              </a:rPr>
              <a:t>Stage 1</a:t>
            </a:r>
            <a:r>
              <a:rPr b="1" lang="zh-CN" sz="1800" spc="-1" strike="noStrike">
                <a:solidFill>
                  <a:srgbClr val="00acc1"/>
                </a:solidFill>
                <a:latin typeface="Quattrocento Sans"/>
                <a:ea typeface="Quattrocento Sans"/>
              </a:rPr>
              <a:t>：</a:t>
            </a:r>
            <a:r>
              <a:rPr b="1" lang="en-US" sz="1800" spc="-1" strike="noStrike">
                <a:solidFill>
                  <a:srgbClr val="00acc1"/>
                </a:solidFill>
                <a:latin typeface="Quattrocento Sans"/>
                <a:ea typeface="Quattrocento Sans"/>
              </a:rPr>
              <a:t>Action-free SSL</a:t>
            </a:r>
            <a:endParaRPr b="0" lang="en-US" sz="1800" spc="-1" strike="noStrike">
              <a:latin typeface="Arial"/>
            </a:endParaRPr>
          </a:p>
        </p:txBody>
      </p:sp>
      <p:sp>
        <p:nvSpPr>
          <p:cNvPr id="447" name="Text 16"/>
          <p:cNvSpPr/>
          <p:nvPr/>
        </p:nvSpPr>
        <p:spPr>
          <a:xfrm>
            <a:off x="2768760" y="2082960"/>
            <a:ext cx="5892480" cy="24379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ffffff"/>
                </a:solidFill>
                <a:latin typeface="Quattrocento Sans"/>
                <a:ea typeface="Quattrocento Sans"/>
              </a:rPr>
              <a:t>数据：</a:t>
            </a:r>
            <a:r>
              <a:rPr b="0" lang="en-US" sz="1500" spc="-1" strike="noStrike">
                <a:solidFill>
                  <a:srgbClr val="ffffff"/>
                </a:solidFill>
                <a:latin typeface="Quattrocento Sans"/>
                <a:ea typeface="Quattrocento Sans"/>
              </a:rPr>
              <a:t>100</a:t>
            </a:r>
            <a:r>
              <a:rPr b="0" lang="zh-CN" sz="1500" spc="-1" strike="noStrike">
                <a:solidFill>
                  <a:srgbClr val="ffffff"/>
                </a:solidFill>
                <a:latin typeface="Quattrocento Sans"/>
                <a:ea typeface="Quattrocento Sans"/>
              </a:rPr>
              <a:t>万</a:t>
            </a:r>
            <a:r>
              <a:rPr b="0" lang="en-US" sz="1500" spc="-1" strike="noStrike">
                <a:solidFill>
                  <a:srgbClr val="ffffff"/>
                </a:solidFill>
                <a:latin typeface="Quattrocento Sans"/>
                <a:ea typeface="Quattrocento Sans"/>
              </a:rPr>
              <a:t>+</a:t>
            </a:r>
            <a:r>
              <a:rPr b="0" lang="zh-CN" sz="1500" spc="-1" strike="noStrike">
                <a:solidFill>
                  <a:srgbClr val="ffffff"/>
                </a:solidFill>
                <a:latin typeface="Quattrocento Sans"/>
                <a:ea typeface="Quattrocento Sans"/>
              </a:rPr>
              <a:t>小时互联网视频（</a:t>
            </a:r>
            <a:r>
              <a:rPr b="0" lang="en-US" sz="1500" spc="-1" strike="noStrike">
                <a:solidFill>
                  <a:srgbClr val="ffffff"/>
                </a:solidFill>
                <a:latin typeface="Quattrocento Sans"/>
                <a:ea typeface="Quattrocento Sans"/>
              </a:rPr>
              <a:t>VideoMix22M</a:t>
            </a:r>
            <a:r>
              <a:rPr b="0" lang="zh-CN" sz="1500" spc="-1" strike="noStrike">
                <a:solidFill>
                  <a:srgbClr val="ffffff"/>
                </a:solidFill>
                <a:latin typeface="Quattrocento Sans"/>
                <a:ea typeface="Quattrocento Sans"/>
              </a:rPr>
              <a:t>）</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编码器：</a:t>
            </a:r>
            <a:r>
              <a:rPr b="0" lang="en-US" sz="1500" spc="-1" strike="noStrike">
                <a:solidFill>
                  <a:srgbClr val="ffffff"/>
                </a:solidFill>
                <a:latin typeface="Quattrocento Sans"/>
                <a:ea typeface="Quattrocento Sans"/>
              </a:rPr>
              <a:t>ViT-L(300M) / H(600M) / g(1B)</a:t>
            </a:r>
            <a:endParaRPr b="0" lang="en-US" sz="1500" spc="-1" strike="noStrike">
              <a:latin typeface="Arial"/>
            </a:endParaRPr>
          </a:p>
          <a:p>
            <a:pPr>
              <a:lnSpc>
                <a:spcPct val="150000"/>
              </a:lnSpc>
              <a:buNone/>
            </a:pPr>
            <a:r>
              <a:rPr b="1" lang="en-US" sz="1500" spc="-1" strike="noStrike">
                <a:solidFill>
                  <a:srgbClr val="ffffff"/>
                </a:solidFill>
                <a:latin typeface="Quattrocento Sans"/>
                <a:ea typeface="Quattrocento Sans"/>
              </a:rPr>
              <a:t>Predictor</a:t>
            </a:r>
            <a:r>
              <a:rPr b="1" lang="zh-CN" sz="1500" spc="-1" strike="noStrike">
                <a:solidFill>
                  <a:srgbClr val="ffffff"/>
                </a:solidFill>
                <a:latin typeface="Quattrocento Sans"/>
                <a:ea typeface="Quattrocento Sans"/>
              </a:rPr>
              <a:t>：</a:t>
            </a:r>
            <a:r>
              <a:rPr b="0" lang="zh-CN" sz="1500" spc="-1" strike="noStrike">
                <a:solidFill>
                  <a:srgbClr val="ffffff"/>
                </a:solidFill>
                <a:latin typeface="Quattrocento Sans"/>
                <a:ea typeface="Quattrocento Sans"/>
              </a:rPr>
              <a:t>轻量</a:t>
            </a:r>
            <a:r>
              <a:rPr b="0" lang="en-US" sz="1500" spc="-1" strike="noStrike">
                <a:solidFill>
                  <a:srgbClr val="ffffff"/>
                </a:solidFill>
                <a:latin typeface="Quattrocento Sans"/>
                <a:ea typeface="Quattrocento Sans"/>
              </a:rPr>
              <a:t>ViT 12</a:t>
            </a:r>
            <a:r>
              <a:rPr b="0" lang="zh-CN" sz="1500" spc="-1" strike="noStrike">
                <a:solidFill>
                  <a:srgbClr val="ffffff"/>
                </a:solidFill>
                <a:latin typeface="Quattrocento Sans"/>
                <a:ea typeface="Quattrocento Sans"/>
              </a:rPr>
              <a:t>层，</a:t>
            </a:r>
            <a:r>
              <a:rPr b="0" lang="en-US" sz="1500" spc="-1" strike="noStrike">
                <a:solidFill>
                  <a:srgbClr val="ffffff"/>
                </a:solidFill>
                <a:latin typeface="Quattrocento Sans"/>
                <a:ea typeface="Quattrocento Sans"/>
              </a:rPr>
              <a:t>~22M</a:t>
            </a:r>
            <a:r>
              <a:rPr b="0" lang="zh-CN" sz="1500" spc="-1" strike="noStrike">
                <a:solidFill>
                  <a:srgbClr val="ffffff"/>
                </a:solidFill>
                <a:latin typeface="Quattrocento Sans"/>
                <a:ea typeface="Quattrocento Sans"/>
              </a:rPr>
              <a:t>参数</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遮蔽：</a:t>
            </a:r>
            <a:r>
              <a:rPr b="0" lang="en-US" sz="1500" spc="-1" strike="noStrike">
                <a:solidFill>
                  <a:srgbClr val="ffffff"/>
                </a:solidFill>
                <a:latin typeface="Quattrocento Sans"/>
                <a:ea typeface="Quattrocento Sans"/>
              </a:rPr>
              <a:t>Multi-block masking</a:t>
            </a:r>
            <a:r>
              <a:rPr b="0" lang="zh-CN" sz="1500" spc="-1" strike="noStrike">
                <a:solidFill>
                  <a:srgbClr val="ffffff"/>
                </a:solidFill>
                <a:latin typeface="Quattrocento Sans"/>
                <a:ea typeface="Quattrocento Sans"/>
              </a:rPr>
              <a:t>，</a:t>
            </a:r>
            <a:r>
              <a:rPr b="0" lang="en-US" sz="1500" spc="-1" strike="noStrike">
                <a:solidFill>
                  <a:srgbClr val="ffffff"/>
                </a:solidFill>
                <a:latin typeface="Quattrocento Sans"/>
                <a:ea typeface="Quattrocento Sans"/>
              </a:rPr>
              <a:t>~90%</a:t>
            </a:r>
            <a:r>
              <a:rPr b="0" lang="zh-CN" sz="1500" spc="-1" strike="noStrike">
                <a:solidFill>
                  <a:srgbClr val="ffffff"/>
                </a:solidFill>
                <a:latin typeface="Quattrocento Sans"/>
                <a:ea typeface="Quattrocento Sans"/>
              </a:rPr>
              <a:t>遮蔽率</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损失：</a:t>
            </a:r>
            <a:r>
              <a:rPr b="0" lang="en-US" sz="1500" spc="-1" strike="noStrike">
                <a:solidFill>
                  <a:srgbClr val="ffffff"/>
                </a:solidFill>
                <a:latin typeface="Quattrocento Sans"/>
                <a:ea typeface="Quattrocento Sans"/>
              </a:rPr>
              <a:t>L1</a:t>
            </a:r>
            <a:r>
              <a:rPr b="0" lang="zh-CN" sz="1500" spc="-1" strike="noStrike">
                <a:solidFill>
                  <a:srgbClr val="ffffff"/>
                </a:solidFill>
                <a:latin typeface="Quattrocento Sans"/>
                <a:ea typeface="Quattrocento Sans"/>
              </a:rPr>
              <a:t>距离（</a:t>
            </a:r>
            <a:r>
              <a:rPr b="0" lang="en-US" sz="1500" spc="-1" strike="noStrike">
                <a:solidFill>
                  <a:srgbClr val="ffffff"/>
                </a:solidFill>
                <a:latin typeface="Quattrocento Sans"/>
                <a:ea typeface="Quattrocento Sans"/>
              </a:rPr>
              <a:t>student predict vs teacher target</a:t>
            </a:r>
            <a:r>
              <a:rPr b="0" lang="zh-CN" sz="1500" spc="-1" strike="noStrike">
                <a:solidFill>
                  <a:srgbClr val="ffffff"/>
                </a:solidFill>
                <a:latin typeface="Quattrocento Sans"/>
                <a:ea typeface="Quattrocento Sans"/>
              </a:rPr>
              <a:t>）</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防坍缩：</a:t>
            </a:r>
            <a:r>
              <a:rPr b="0" lang="en-US" sz="1500" spc="-1" strike="noStrike">
                <a:solidFill>
                  <a:srgbClr val="ffffff"/>
                </a:solidFill>
                <a:latin typeface="Quattrocento Sans"/>
                <a:ea typeface="Quattrocento Sans"/>
              </a:rPr>
              <a:t>Teacher-Student + Stop-gradient + EMA</a:t>
            </a:r>
            <a:endParaRPr b="0" lang="en-US" sz="1500" spc="-1" strike="noStrike">
              <a:latin typeface="Arial"/>
            </a:endParaRPr>
          </a:p>
        </p:txBody>
      </p:sp>
      <p:sp>
        <p:nvSpPr>
          <p:cNvPr id="448" name="Shape 17"/>
          <p:cNvSpPr/>
          <p:nvPr/>
        </p:nvSpPr>
        <p:spPr>
          <a:xfrm>
            <a:off x="9144000" y="1574640"/>
            <a:ext cx="6349680" cy="3047760"/>
          </a:xfrm>
          <a:prstGeom prst="roundRect">
            <a:avLst>
              <a:gd name="adj" fmla="val 4000"/>
            </a:avLst>
          </a:prstGeom>
          <a:solidFill>
            <a:srgbClr val="007aa8"/>
          </a:solidFill>
          <a:ln w="0">
            <a:noFill/>
          </a:ln>
        </p:spPr>
        <p:style>
          <a:lnRef idx="0"/>
          <a:fillRef idx="0"/>
          <a:effectRef idx="0"/>
          <a:fontRef idx="minor"/>
        </p:style>
      </p:sp>
      <p:sp>
        <p:nvSpPr>
          <p:cNvPr id="449" name="Text 18"/>
          <p:cNvSpPr/>
          <p:nvPr/>
        </p:nvSpPr>
        <p:spPr>
          <a:xfrm>
            <a:off x="9372600" y="1676520"/>
            <a:ext cx="5892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1800" spc="-1" strike="noStrike">
                <a:solidFill>
                  <a:srgbClr val="ffffff"/>
                </a:solidFill>
                <a:latin typeface="Quattrocento Sans"/>
                <a:ea typeface="Quattrocento Sans"/>
              </a:rPr>
              <a:t>Stage 2</a:t>
            </a:r>
            <a:r>
              <a:rPr b="1" lang="zh-CN" sz="1800" spc="-1" strike="noStrike">
                <a:solidFill>
                  <a:srgbClr val="ffffff"/>
                </a:solidFill>
                <a:latin typeface="Quattrocento Sans"/>
                <a:ea typeface="Quattrocento Sans"/>
              </a:rPr>
              <a:t>：</a:t>
            </a:r>
            <a:r>
              <a:rPr b="1" lang="en-US" sz="1800" spc="-1" strike="noStrike">
                <a:solidFill>
                  <a:srgbClr val="ffffff"/>
                </a:solidFill>
                <a:latin typeface="Quattrocento Sans"/>
                <a:ea typeface="Quattrocento Sans"/>
              </a:rPr>
              <a:t>Action-Conditioned</a:t>
            </a:r>
            <a:endParaRPr b="0" lang="en-US" sz="1800" spc="-1" strike="noStrike">
              <a:latin typeface="Arial"/>
            </a:endParaRPr>
          </a:p>
        </p:txBody>
      </p:sp>
      <p:sp>
        <p:nvSpPr>
          <p:cNvPr id="450" name="Text 19"/>
          <p:cNvSpPr/>
          <p:nvPr/>
        </p:nvSpPr>
        <p:spPr>
          <a:xfrm>
            <a:off x="9372600" y="2082960"/>
            <a:ext cx="5892480" cy="24379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500" spc="-1" strike="noStrike">
                <a:solidFill>
                  <a:srgbClr val="ffffff"/>
                </a:solidFill>
                <a:latin typeface="Quattrocento Sans"/>
                <a:ea typeface="Quattrocento Sans"/>
              </a:rPr>
              <a:t>数据：</a:t>
            </a:r>
            <a:r>
              <a:rPr b="0" lang="en-US" sz="1500" spc="-1" strike="noStrike">
                <a:solidFill>
                  <a:srgbClr val="ffffff"/>
                </a:solidFill>
                <a:latin typeface="Quattrocento Sans"/>
                <a:ea typeface="Quattrocento Sans"/>
              </a:rPr>
              <a:t>Droid</a:t>
            </a:r>
            <a:r>
              <a:rPr b="0" lang="zh-CN" sz="1500" spc="-1" strike="noStrike">
                <a:solidFill>
                  <a:srgbClr val="ffffff"/>
                </a:solidFill>
                <a:latin typeface="Quattrocento Sans"/>
                <a:ea typeface="Quattrocento Sans"/>
              </a:rPr>
              <a:t>数据集，</a:t>
            </a:r>
            <a:r>
              <a:rPr b="0" lang="en-US" sz="1500" spc="-1" strike="noStrike">
                <a:solidFill>
                  <a:srgbClr val="ffffff"/>
                </a:solidFill>
                <a:latin typeface="Quattrocento Sans"/>
                <a:ea typeface="Quattrocento Sans"/>
              </a:rPr>
              <a:t>62</a:t>
            </a:r>
            <a:r>
              <a:rPr b="0" lang="zh-CN" sz="1500" spc="-1" strike="noStrike">
                <a:solidFill>
                  <a:srgbClr val="ffffff"/>
                </a:solidFill>
                <a:latin typeface="Quattrocento Sans"/>
                <a:ea typeface="Quattrocento Sans"/>
              </a:rPr>
              <a:t>小时机器人交互视频</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策略：</a:t>
            </a:r>
            <a:r>
              <a:rPr b="0" lang="zh-CN" sz="1500" spc="-1" strike="noStrike">
                <a:solidFill>
                  <a:srgbClr val="ffffff"/>
                </a:solidFill>
                <a:latin typeface="Quattrocento Sans"/>
                <a:ea typeface="Quattrocento Sans"/>
              </a:rPr>
              <a:t>冻结预训练编码器</a:t>
            </a:r>
            <a:endParaRPr b="0" lang="en-US" sz="1500" spc="-1" strike="noStrike">
              <a:latin typeface="Arial"/>
            </a:endParaRPr>
          </a:p>
          <a:p>
            <a:pPr>
              <a:lnSpc>
                <a:spcPct val="150000"/>
              </a:lnSpc>
              <a:buNone/>
            </a:pPr>
            <a:r>
              <a:rPr b="1" lang="en-US" sz="1500" spc="-1" strike="noStrike">
                <a:solidFill>
                  <a:srgbClr val="ffffff"/>
                </a:solidFill>
                <a:latin typeface="Quattrocento Sans"/>
                <a:ea typeface="Quattrocento Sans"/>
              </a:rPr>
              <a:t>Action Predictor</a:t>
            </a:r>
            <a:r>
              <a:rPr b="1" lang="zh-CN" sz="1500" spc="-1" strike="noStrike">
                <a:solidFill>
                  <a:srgbClr val="ffffff"/>
                </a:solidFill>
                <a:latin typeface="Quattrocento Sans"/>
                <a:ea typeface="Quattrocento Sans"/>
              </a:rPr>
              <a:t>：</a:t>
            </a:r>
            <a:r>
              <a:rPr b="0" lang="en-US" sz="1500" spc="-1" strike="noStrike">
                <a:solidFill>
                  <a:srgbClr val="ffffff"/>
                </a:solidFill>
                <a:latin typeface="Quattrocento Sans"/>
                <a:ea typeface="Quattrocento Sans"/>
              </a:rPr>
              <a:t>24</a:t>
            </a:r>
            <a:r>
              <a:rPr b="0" lang="zh-CN" sz="1500" spc="-1" strike="noStrike">
                <a:solidFill>
                  <a:srgbClr val="ffffff"/>
                </a:solidFill>
                <a:latin typeface="Quattrocento Sans"/>
                <a:ea typeface="Quattrocento Sans"/>
              </a:rPr>
              <a:t>层 </a:t>
            </a:r>
            <a:r>
              <a:rPr b="0" lang="en-US" sz="1500" spc="-1" strike="noStrike">
                <a:solidFill>
                  <a:srgbClr val="ffffff"/>
                </a:solidFill>
                <a:latin typeface="Quattrocento Sans"/>
                <a:ea typeface="Quattrocento Sans"/>
              </a:rPr>
              <a:t>300M</a:t>
            </a:r>
            <a:r>
              <a:rPr b="0" lang="zh-CN" sz="1500" spc="-1" strike="noStrike">
                <a:solidFill>
                  <a:srgbClr val="ffffff"/>
                </a:solidFill>
                <a:latin typeface="Quattrocento Sans"/>
                <a:ea typeface="Quattrocento Sans"/>
              </a:rPr>
              <a:t>参数</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输入：</a:t>
            </a:r>
            <a:r>
              <a:rPr b="0" lang="zh-CN" sz="1500" spc="-1" strike="noStrike">
                <a:solidFill>
                  <a:srgbClr val="ffffff"/>
                </a:solidFill>
                <a:latin typeface="Quattrocento Sans"/>
                <a:ea typeface="Quattrocento Sans"/>
              </a:rPr>
              <a:t>观测 </a:t>
            </a:r>
            <a:r>
              <a:rPr b="0" lang="en-US" sz="1500" spc="-1" strike="noStrike">
                <a:solidFill>
                  <a:srgbClr val="ffffff"/>
                </a:solidFill>
                <a:latin typeface="Quattrocento Sans"/>
                <a:ea typeface="Quattrocento Sans"/>
              </a:rPr>
              <a:t>+ </a:t>
            </a:r>
            <a:r>
              <a:rPr b="0" lang="zh-CN" sz="1500" spc="-1" strike="noStrike">
                <a:solidFill>
                  <a:srgbClr val="ffffff"/>
                </a:solidFill>
                <a:latin typeface="Quattrocento Sans"/>
                <a:ea typeface="Quattrocento Sans"/>
              </a:rPr>
              <a:t>动作 </a:t>
            </a:r>
            <a:r>
              <a:rPr b="0" lang="en-US" sz="1500" spc="-1" strike="noStrike">
                <a:solidFill>
                  <a:srgbClr val="ffffff"/>
                </a:solidFill>
                <a:latin typeface="Quattrocento Sans"/>
                <a:ea typeface="Quattrocento Sans"/>
              </a:rPr>
              <a:t>+ </a:t>
            </a:r>
            <a:r>
              <a:rPr b="0" lang="zh-CN" sz="1500" spc="-1" strike="noStrike">
                <a:solidFill>
                  <a:srgbClr val="ffffff"/>
                </a:solidFill>
                <a:latin typeface="Quattrocento Sans"/>
                <a:ea typeface="Quattrocento Sans"/>
              </a:rPr>
              <a:t>本体感知</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输出：</a:t>
            </a:r>
            <a:r>
              <a:rPr b="0" lang="zh-CN" sz="1500" spc="-1" strike="noStrike">
                <a:solidFill>
                  <a:srgbClr val="ffffff"/>
                </a:solidFill>
                <a:latin typeface="Quattrocento Sans"/>
                <a:ea typeface="Quattrocento Sans"/>
              </a:rPr>
              <a:t>预测下一步潜在状态</a:t>
            </a:r>
            <a:endParaRPr b="0" lang="en-US" sz="1500" spc="-1" strike="noStrike">
              <a:latin typeface="Arial"/>
            </a:endParaRPr>
          </a:p>
          <a:p>
            <a:pPr>
              <a:lnSpc>
                <a:spcPct val="150000"/>
              </a:lnSpc>
              <a:buNone/>
            </a:pPr>
            <a:r>
              <a:rPr b="1" lang="zh-CN" sz="1500" spc="-1" strike="noStrike">
                <a:solidFill>
                  <a:srgbClr val="ffffff"/>
                </a:solidFill>
                <a:latin typeface="Quattrocento Sans"/>
                <a:ea typeface="Quattrocento Sans"/>
              </a:rPr>
              <a:t>损失：</a:t>
            </a:r>
            <a:r>
              <a:rPr b="0" lang="en-US" sz="1500" spc="-1" strike="noStrike">
                <a:solidFill>
                  <a:srgbClr val="ffffff"/>
                </a:solidFill>
                <a:latin typeface="Quattrocento Sans"/>
                <a:ea typeface="Quattrocento Sans"/>
              </a:rPr>
              <a:t>Teacher-forcing + Two-step rollout</a:t>
            </a:r>
            <a:endParaRPr b="0" lang="en-US" sz="1500" spc="-1" strike="noStrike">
              <a:latin typeface="Arial"/>
            </a:endParaRPr>
          </a:p>
        </p:txBody>
      </p:sp>
      <p:sp>
        <p:nvSpPr>
          <p:cNvPr id="451" name="Shape 20"/>
          <p:cNvSpPr/>
          <p:nvPr/>
        </p:nvSpPr>
        <p:spPr>
          <a:xfrm>
            <a:off x="8889840" y="2666880"/>
            <a:ext cx="253800" cy="253800"/>
          </a:xfrm>
          <a:prstGeom prst="rightArrow">
            <a:avLst>
              <a:gd name="adj1" fmla="val 50000"/>
              <a:gd name="adj2" fmla="val 50000"/>
            </a:avLst>
          </a:prstGeom>
          <a:solidFill>
            <a:srgbClr val="00acc1"/>
          </a:solidFill>
          <a:ln w="0">
            <a:noFill/>
          </a:ln>
        </p:spPr>
        <p:style>
          <a:lnRef idx="0"/>
          <a:fillRef idx="0"/>
          <a:effectRef idx="0"/>
          <a:fontRef idx="minor"/>
        </p:style>
      </p:sp>
      <p:sp>
        <p:nvSpPr>
          <p:cNvPr id="452" name="Shape 21"/>
          <p:cNvSpPr/>
          <p:nvPr/>
        </p:nvSpPr>
        <p:spPr>
          <a:xfrm>
            <a:off x="2540160" y="4826160"/>
            <a:ext cx="13207680" cy="88848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453" name="Text 22"/>
          <p:cNvSpPr/>
          <p:nvPr/>
        </p:nvSpPr>
        <p:spPr>
          <a:xfrm>
            <a:off x="2793960" y="4826160"/>
            <a:ext cx="12699720" cy="888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zh-CN" sz="1700" spc="-1" strike="noStrike">
                <a:solidFill>
                  <a:srgbClr val="333333"/>
                </a:solidFill>
                <a:latin typeface="Quattrocento Sans"/>
                <a:ea typeface="Quattrocento Sans"/>
              </a:rPr>
              <a:t>核心主张：</a:t>
            </a:r>
            <a:r>
              <a:rPr b="0" lang="zh-CN" sz="1700" spc="-1" strike="noStrike">
                <a:solidFill>
                  <a:srgbClr val="333333"/>
                </a:solidFill>
                <a:latin typeface="Quattrocento Sans"/>
                <a:ea typeface="Quattrocento Sans"/>
              </a:rPr>
              <a:t>一个好的视频世界模型可以从纯被动观察（互联网视频）中学到，然后极少量地适配到动作执行（机器人操控）——</a:t>
            </a:r>
            <a:r>
              <a:rPr b="1" lang="zh-CN" sz="1700" spc="-1" strike="noStrike">
                <a:solidFill>
                  <a:srgbClr val="333333"/>
                </a:solidFill>
                <a:latin typeface="Quattrocento Sans"/>
                <a:ea typeface="Quattrocento Sans"/>
              </a:rPr>
              <a:t>理解先于行动</a:t>
            </a:r>
            <a:r>
              <a:rPr b="0" lang="zh-CN" sz="1700" spc="-1" strike="noStrike">
                <a:solidFill>
                  <a:srgbClr val="333333"/>
                </a:solidFill>
                <a:latin typeface="Quattrocento Sans"/>
                <a:ea typeface="Quattrocento Sans"/>
              </a:rPr>
              <a:t>。</a:t>
            </a:r>
            <a:endParaRPr b="0" lang="en-US" sz="1700" spc="-1" strike="noStrike">
              <a:latin typeface="Arial"/>
            </a:endParaRPr>
          </a:p>
        </p:txBody>
      </p:sp>
      <p:sp>
        <p:nvSpPr>
          <p:cNvPr id="454" name="Text 23"/>
          <p:cNvSpPr/>
          <p:nvPr/>
        </p:nvSpPr>
        <p:spPr>
          <a:xfrm>
            <a:off x="2540160" y="594360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000" spc="-1" strike="noStrike">
                <a:solidFill>
                  <a:srgbClr val="005c82"/>
                </a:solidFill>
                <a:latin typeface="Quattrocento Sans"/>
                <a:ea typeface="Quattrocento Sans"/>
              </a:rPr>
              <a:t>JEPA</a:t>
            </a:r>
            <a:r>
              <a:rPr b="1" lang="zh-CN" sz="2000" spc="-1" strike="noStrike">
                <a:solidFill>
                  <a:srgbClr val="005c82"/>
                </a:solidFill>
                <a:latin typeface="Quattrocento Sans"/>
                <a:ea typeface="Quattrocento Sans"/>
              </a:rPr>
              <a:t>范式三要素</a:t>
            </a:r>
            <a:endParaRPr b="0" lang="en-US" sz="2000" spc="-1" strike="noStrike">
              <a:latin typeface="Arial"/>
            </a:endParaRPr>
          </a:p>
        </p:txBody>
      </p:sp>
      <p:sp>
        <p:nvSpPr>
          <p:cNvPr id="455" name="Shape 24"/>
          <p:cNvSpPr/>
          <p:nvPr/>
        </p:nvSpPr>
        <p:spPr>
          <a:xfrm>
            <a:off x="2540160" y="6400800"/>
            <a:ext cx="4063680" cy="1015560"/>
          </a:xfrm>
          <a:prstGeom prst="roundRect">
            <a:avLst>
              <a:gd name="adj" fmla="val 4000"/>
            </a:avLst>
          </a:prstGeom>
          <a:solidFill>
            <a:srgbClr val="e0f4fa"/>
          </a:solidFill>
          <a:ln w="0">
            <a:noFill/>
          </a:ln>
        </p:spPr>
        <p:style>
          <a:lnRef idx="0"/>
          <a:fillRef idx="0"/>
          <a:effectRef idx="0"/>
          <a:fontRef idx="minor"/>
        </p:style>
      </p:sp>
      <p:sp>
        <p:nvSpPr>
          <p:cNvPr id="456" name="Text 25"/>
          <p:cNvSpPr/>
          <p:nvPr/>
        </p:nvSpPr>
        <p:spPr>
          <a:xfrm>
            <a:off x="2692440" y="6477120"/>
            <a:ext cx="3758760" cy="863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333333"/>
                </a:solidFill>
                <a:latin typeface="Quattrocento Sans"/>
                <a:ea typeface="Quattrocento Sans"/>
              </a:rPr>
              <a:t>Embedding</a:t>
            </a:r>
            <a:endParaRPr b="0" lang="en-US" sz="1500" spc="-1" strike="noStrike">
              <a:latin typeface="Arial"/>
            </a:endParaRPr>
          </a:p>
          <a:p>
            <a:pPr algn="ctr">
              <a:lnSpc>
                <a:spcPct val="120000"/>
              </a:lnSpc>
              <a:buNone/>
            </a:pPr>
            <a:r>
              <a:rPr b="0" lang="zh-CN" sz="1500" spc="-1" strike="noStrike">
                <a:solidFill>
                  <a:srgbClr val="333333"/>
                </a:solidFill>
                <a:latin typeface="Quattrocento Sans"/>
                <a:ea typeface="Quattrocento Sans"/>
              </a:rPr>
              <a:t>放弃像素，拥抱抽象特征</a:t>
            </a:r>
            <a:endParaRPr b="0" lang="en-US" sz="1500" spc="-1" strike="noStrike">
              <a:latin typeface="Arial"/>
            </a:endParaRPr>
          </a:p>
        </p:txBody>
      </p:sp>
      <p:sp>
        <p:nvSpPr>
          <p:cNvPr id="457" name="Shape 26"/>
          <p:cNvSpPr/>
          <p:nvPr/>
        </p:nvSpPr>
        <p:spPr>
          <a:xfrm>
            <a:off x="6858000" y="6400800"/>
            <a:ext cx="4063680" cy="1015560"/>
          </a:xfrm>
          <a:prstGeom prst="roundRect">
            <a:avLst>
              <a:gd name="adj" fmla="val 4000"/>
            </a:avLst>
          </a:prstGeom>
          <a:solidFill>
            <a:srgbClr val="e0f4fa"/>
          </a:solidFill>
          <a:ln w="0">
            <a:noFill/>
          </a:ln>
        </p:spPr>
        <p:style>
          <a:lnRef idx="0"/>
          <a:fillRef idx="0"/>
          <a:effectRef idx="0"/>
          <a:fontRef idx="minor"/>
        </p:style>
      </p:sp>
      <p:sp>
        <p:nvSpPr>
          <p:cNvPr id="458" name="Text 27"/>
          <p:cNvSpPr/>
          <p:nvPr/>
        </p:nvSpPr>
        <p:spPr>
          <a:xfrm>
            <a:off x="7010280" y="6477120"/>
            <a:ext cx="3758760" cy="863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333333"/>
                </a:solidFill>
                <a:latin typeface="Quattrocento Sans"/>
                <a:ea typeface="Quattrocento Sans"/>
              </a:rPr>
              <a:t>Predictive</a:t>
            </a:r>
            <a:endParaRPr b="0" lang="en-US" sz="1500" spc="-1" strike="noStrike">
              <a:latin typeface="Arial"/>
            </a:endParaRPr>
          </a:p>
          <a:p>
            <a:pPr algn="ctr">
              <a:lnSpc>
                <a:spcPct val="120000"/>
              </a:lnSpc>
              <a:buNone/>
            </a:pPr>
            <a:r>
              <a:rPr b="0" lang="zh-CN" sz="1500" spc="-1" strike="noStrike">
                <a:solidFill>
                  <a:srgbClr val="333333"/>
                </a:solidFill>
                <a:latin typeface="Quattrocento Sans"/>
                <a:ea typeface="Quattrocento Sans"/>
              </a:rPr>
              <a:t>完形填空：预测被遮挡部分</a:t>
            </a:r>
            <a:endParaRPr b="0" lang="en-US" sz="1500" spc="-1" strike="noStrike">
              <a:latin typeface="Arial"/>
            </a:endParaRPr>
          </a:p>
        </p:txBody>
      </p:sp>
      <p:sp>
        <p:nvSpPr>
          <p:cNvPr id="459" name="Shape 28"/>
          <p:cNvSpPr/>
          <p:nvPr/>
        </p:nvSpPr>
        <p:spPr>
          <a:xfrm>
            <a:off x="11175840" y="6400800"/>
            <a:ext cx="4571640" cy="1015560"/>
          </a:xfrm>
          <a:prstGeom prst="roundRect">
            <a:avLst>
              <a:gd name="adj" fmla="val 4000"/>
            </a:avLst>
          </a:prstGeom>
          <a:solidFill>
            <a:srgbClr val="e0f4fa"/>
          </a:solidFill>
          <a:ln w="0">
            <a:noFill/>
          </a:ln>
        </p:spPr>
        <p:style>
          <a:lnRef idx="0"/>
          <a:fillRef idx="0"/>
          <a:effectRef idx="0"/>
          <a:fontRef idx="minor"/>
        </p:style>
      </p:sp>
      <p:sp>
        <p:nvSpPr>
          <p:cNvPr id="460" name="Text 29"/>
          <p:cNvSpPr/>
          <p:nvPr/>
        </p:nvSpPr>
        <p:spPr>
          <a:xfrm>
            <a:off x="11328480" y="6477120"/>
            <a:ext cx="4266720" cy="863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333333"/>
                </a:solidFill>
                <a:latin typeface="Quattrocento Sans"/>
                <a:ea typeface="Quattrocento Sans"/>
              </a:rPr>
              <a:t>Joint</a:t>
            </a:r>
            <a:endParaRPr b="0" lang="en-US" sz="1500" spc="-1" strike="noStrike">
              <a:latin typeface="Arial"/>
            </a:endParaRPr>
          </a:p>
          <a:p>
            <a:pPr algn="ctr">
              <a:lnSpc>
                <a:spcPct val="120000"/>
              </a:lnSpc>
              <a:buNone/>
            </a:pPr>
            <a:r>
              <a:rPr b="0" lang="zh-CN" sz="1500" spc="-1" strike="noStrike">
                <a:solidFill>
                  <a:srgbClr val="333333"/>
                </a:solidFill>
                <a:latin typeface="Quattrocento Sans"/>
                <a:ea typeface="Quattrocento Sans"/>
              </a:rPr>
              <a:t>双路交汇：</a:t>
            </a:r>
            <a:r>
              <a:rPr b="0" lang="en-US" sz="1500" spc="-1" strike="noStrike">
                <a:solidFill>
                  <a:srgbClr val="333333"/>
                </a:solidFill>
                <a:latin typeface="Quattrocento Sans"/>
                <a:ea typeface="Quattrocento Sans"/>
              </a:rPr>
              <a:t>Context + Target</a:t>
            </a:r>
            <a:endParaRPr b="0" lang="en-US" sz="1500" spc="-1" strike="noStrike">
              <a:latin typeface="Arial"/>
            </a:endParaRPr>
          </a:p>
        </p:txBody>
      </p:sp>
      <p:sp>
        <p:nvSpPr>
          <p:cNvPr id="461" name="Shape 30"/>
          <p:cNvSpPr/>
          <p:nvPr/>
        </p:nvSpPr>
        <p:spPr>
          <a:xfrm>
            <a:off x="2540160" y="7670880"/>
            <a:ext cx="13207680" cy="761760"/>
          </a:xfrm>
          <a:prstGeom prst="rect">
            <a:avLst/>
          </a:prstGeom>
          <a:solidFill>
            <a:srgbClr val="005c82"/>
          </a:solidFill>
          <a:ln w="0">
            <a:noFill/>
          </a:ln>
        </p:spPr>
        <p:style>
          <a:lnRef idx="0"/>
          <a:fillRef idx="0"/>
          <a:effectRef idx="0"/>
          <a:fontRef idx="minor"/>
        </p:style>
      </p:sp>
      <p:sp>
        <p:nvSpPr>
          <p:cNvPr id="462" name="Shape 31"/>
          <p:cNvSpPr/>
          <p:nvPr/>
        </p:nvSpPr>
        <p:spPr>
          <a:xfrm>
            <a:off x="2717640" y="7937640"/>
            <a:ext cx="151920" cy="151920"/>
          </a:xfrm>
          <a:prstGeom prst="diamond">
            <a:avLst/>
          </a:prstGeom>
          <a:solidFill>
            <a:srgbClr val="00acc1"/>
          </a:solidFill>
          <a:ln w="0">
            <a:noFill/>
          </a:ln>
        </p:spPr>
        <p:style>
          <a:lnRef idx="0"/>
          <a:fillRef idx="0"/>
          <a:effectRef idx="0"/>
          <a:fontRef idx="minor"/>
        </p:style>
      </p:sp>
      <p:sp>
        <p:nvSpPr>
          <p:cNvPr id="463" name="Text 32"/>
          <p:cNvSpPr/>
          <p:nvPr/>
        </p:nvSpPr>
        <p:spPr>
          <a:xfrm>
            <a:off x="3022560" y="7772400"/>
            <a:ext cx="12521880" cy="304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600" spc="-1" strike="noStrike">
                <a:solidFill>
                  <a:srgbClr val="ffffff"/>
                </a:solidFill>
                <a:latin typeface="Quattrocento Sans"/>
                <a:ea typeface="Quattrocento Sans"/>
              </a:rPr>
              <a:t>WAM</a:t>
            </a:r>
            <a:r>
              <a:rPr b="0" lang="zh-CN" sz="1600" spc="-1" strike="noStrike">
                <a:solidFill>
                  <a:srgbClr val="ffffff"/>
                </a:solidFill>
                <a:latin typeface="Quattrocento Sans"/>
                <a:ea typeface="Quattrocento Sans"/>
              </a:rPr>
              <a:t>分类：</a:t>
            </a:r>
            <a:r>
              <a:rPr b="0" lang="en-US" sz="1600" spc="-1" strike="noStrike">
                <a:solidFill>
                  <a:srgbClr val="ffffff"/>
                </a:solidFill>
                <a:latin typeface="Quattrocento Sans"/>
                <a:ea typeface="Quattrocento Sans"/>
              </a:rPr>
              <a:t>Cascaded WAM / </a:t>
            </a:r>
            <a:r>
              <a:rPr b="0" lang="zh-CN" sz="1600" spc="-1" strike="noStrike">
                <a:solidFill>
                  <a:srgbClr val="ffffff"/>
                </a:solidFill>
                <a:latin typeface="Quattrocento Sans"/>
                <a:ea typeface="Quattrocento Sans"/>
              </a:rPr>
              <a:t>隐式潜在规划 </a:t>
            </a:r>
            <a:r>
              <a:rPr b="0" lang="en-US" sz="1600" spc="-1" strike="noStrike">
                <a:solidFill>
                  <a:srgbClr val="ffffff"/>
                </a:solidFill>
                <a:latin typeface="Quattrocento Sans"/>
                <a:ea typeface="Quattrocento Sans"/>
              </a:rPr>
              <a:t>/ </a:t>
            </a:r>
            <a:r>
              <a:rPr b="0" lang="zh-CN" sz="1600" spc="-1" strike="noStrike">
                <a:solidFill>
                  <a:srgbClr val="ffffff"/>
                </a:solidFill>
                <a:latin typeface="Quattrocento Sans"/>
                <a:ea typeface="Quattrocento Sans"/>
              </a:rPr>
              <a:t>纯世界模型 </a:t>
            </a:r>
            <a:r>
              <a:rPr b="0" lang="en-US" sz="1600" spc="-1" strike="noStrike">
                <a:solidFill>
                  <a:srgbClr val="ffffff"/>
                </a:solidFill>
                <a:latin typeface="Quattrocento Sans"/>
                <a:ea typeface="Quattrocento Sans"/>
              </a:rPr>
              <a:t>+ </a:t>
            </a:r>
            <a:r>
              <a:rPr b="0" lang="zh-CN" sz="1600" spc="-1" strike="noStrike">
                <a:solidFill>
                  <a:srgbClr val="ffffff"/>
                </a:solidFill>
                <a:latin typeface="Quattrocento Sans"/>
                <a:ea typeface="Quattrocento Sans"/>
              </a:rPr>
              <a:t>外圈</a:t>
            </a:r>
            <a:r>
              <a:rPr b="0" lang="en-US" sz="1600" spc="-1" strike="noStrike">
                <a:solidFill>
                  <a:srgbClr val="ffffff"/>
                </a:solidFill>
                <a:latin typeface="Quattrocento Sans"/>
                <a:ea typeface="Quattrocento Sans"/>
              </a:rPr>
              <a:t>MPC</a:t>
            </a:r>
            <a:r>
              <a:rPr b="0" lang="zh-CN" sz="1600" spc="-1" strike="noStrike">
                <a:solidFill>
                  <a:srgbClr val="ffffff"/>
                </a:solidFill>
                <a:latin typeface="Quattrocento Sans"/>
                <a:ea typeface="Quattrocento Sans"/>
              </a:rPr>
              <a:t>搜索动作（不直接输出动作）</a:t>
            </a:r>
            <a:endParaRPr b="0" lang="en-US" sz="1600" spc="-1" strike="noStrike">
              <a:latin typeface="Arial"/>
            </a:endParaRPr>
          </a:p>
        </p:txBody>
      </p:sp>
    </p:spTree>
  </p:cSld>
  <p:transition>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64" name="Shape 88"/>
          <p:cNvSpPr/>
          <p:nvPr/>
        </p:nvSpPr>
        <p:spPr>
          <a:xfrm>
            <a:off x="0" y="0"/>
            <a:ext cx="2285640" cy="9143640"/>
          </a:xfrm>
          <a:prstGeom prst="rect">
            <a:avLst/>
          </a:prstGeom>
          <a:solidFill>
            <a:srgbClr val="004060"/>
          </a:solidFill>
          <a:ln w="0">
            <a:noFill/>
          </a:ln>
        </p:spPr>
        <p:style>
          <a:lnRef idx="0"/>
          <a:fillRef idx="0"/>
          <a:effectRef idx="0"/>
          <a:fontRef idx="minor"/>
        </p:style>
      </p:sp>
      <p:sp>
        <p:nvSpPr>
          <p:cNvPr id="465" name="Shape 89"/>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466" name="Shape 90"/>
          <p:cNvSpPr/>
          <p:nvPr/>
        </p:nvSpPr>
        <p:spPr>
          <a:xfrm>
            <a:off x="0" y="4521240"/>
            <a:ext cx="2285640" cy="1168200"/>
          </a:xfrm>
          <a:prstGeom prst="rect">
            <a:avLst/>
          </a:prstGeom>
          <a:solidFill>
            <a:srgbClr val="005c82"/>
          </a:solidFill>
          <a:ln w="0">
            <a:noFill/>
          </a:ln>
        </p:spPr>
        <p:style>
          <a:lnRef idx="0"/>
          <a:fillRef idx="0"/>
          <a:effectRef idx="0"/>
          <a:fontRef idx="minor"/>
        </p:style>
      </p:sp>
      <p:sp>
        <p:nvSpPr>
          <p:cNvPr id="467" name="Text 109"/>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468" name="Text 110"/>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469" name="Text 111"/>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470" name="Text 112"/>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04 V-JEPA 2</a:t>
            </a:r>
            <a:endParaRPr b="0" lang="en-US" sz="1800" spc="-1" strike="noStrike">
              <a:latin typeface="Arial"/>
            </a:endParaRPr>
          </a:p>
        </p:txBody>
      </p:sp>
      <p:sp>
        <p:nvSpPr>
          <p:cNvPr id="471" name="Text 113"/>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472" name="Shape 91"/>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473" name="Shape 92"/>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474" name="Text 114"/>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04 V-JEPA 2</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4.1 </a:t>
            </a:r>
            <a:r>
              <a:rPr b="0" lang="zh-CN" sz="1400" spc="-1" strike="noStrike">
                <a:solidFill>
                  <a:srgbClr val="005c82"/>
                </a:solidFill>
                <a:latin typeface="Quattrocento Sans"/>
                <a:ea typeface="Quattrocento Sans"/>
              </a:rPr>
              <a:t>两阶段训练架构</a:t>
            </a:r>
            <a:endParaRPr b="0" lang="en-US" sz="1400" spc="-1" strike="noStrike">
              <a:latin typeface="Arial"/>
            </a:endParaRPr>
          </a:p>
        </p:txBody>
      </p:sp>
      <p:sp>
        <p:nvSpPr>
          <p:cNvPr id="475" name="Text 115"/>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13</a:t>
            </a:r>
            <a:endParaRPr b="0" lang="en-US" sz="1400" spc="-1" strike="noStrike">
              <a:latin typeface="Arial"/>
            </a:endParaRPr>
          </a:p>
        </p:txBody>
      </p:sp>
      <p:sp>
        <p:nvSpPr>
          <p:cNvPr id="476" name="Text 116"/>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V-JEPA 2</a:t>
            </a:r>
            <a:r>
              <a:rPr b="1" lang="zh-CN" sz="2400" spc="-1" strike="noStrike">
                <a:solidFill>
                  <a:srgbClr val="005c82"/>
                </a:solidFill>
                <a:latin typeface="Quattrocento Sans"/>
                <a:ea typeface="Quattrocento Sans"/>
              </a:rPr>
              <a:t>：两阶段训练架构</a:t>
            </a:r>
            <a:endParaRPr b="0" lang="en-US" sz="2400" spc="-1" strike="noStrike">
              <a:latin typeface="Arial"/>
            </a:endParaRPr>
          </a:p>
        </p:txBody>
      </p:sp>
      <p:sp>
        <p:nvSpPr>
          <p:cNvPr id="477" name="Shape 93"/>
          <p:cNvSpPr/>
          <p:nvPr/>
        </p:nvSpPr>
        <p:spPr>
          <a:xfrm>
            <a:off x="2540160" y="1397160"/>
            <a:ext cx="13207680" cy="12240"/>
          </a:xfrm>
          <a:prstGeom prst="rect">
            <a:avLst/>
          </a:prstGeom>
          <a:solidFill>
            <a:srgbClr val="b0bec5"/>
          </a:solidFill>
          <a:ln w="0">
            <a:noFill/>
          </a:ln>
        </p:spPr>
        <p:style>
          <a:lnRef idx="0"/>
          <a:fillRef idx="0"/>
          <a:effectRef idx="0"/>
          <a:fontRef idx="minor"/>
        </p:style>
      </p:sp>
      <p:pic>
        <p:nvPicPr>
          <p:cNvPr id="478" name="" descr=""/>
          <p:cNvPicPr/>
          <p:nvPr/>
        </p:nvPicPr>
        <p:blipFill>
          <a:blip r:embed="rId1"/>
          <a:stretch/>
        </p:blipFill>
        <p:spPr>
          <a:xfrm>
            <a:off x="2514960" y="1600200"/>
            <a:ext cx="13029840" cy="6876360"/>
          </a:xfrm>
          <a:prstGeom prst="rect">
            <a:avLst/>
          </a:prstGeom>
          <a:ln w="0">
            <a:noFill/>
          </a:ln>
        </p:spPr>
      </p:pic>
    </p:spTree>
  </p:cSld>
  <p:transition>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479"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480"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481" name="Shape 2"/>
          <p:cNvSpPr/>
          <p:nvPr/>
        </p:nvSpPr>
        <p:spPr>
          <a:xfrm>
            <a:off x="0" y="4521240"/>
            <a:ext cx="2285640" cy="1168200"/>
          </a:xfrm>
          <a:prstGeom prst="rect">
            <a:avLst/>
          </a:prstGeom>
          <a:solidFill>
            <a:srgbClr val="005c82"/>
          </a:solidFill>
          <a:ln w="0">
            <a:noFill/>
          </a:ln>
        </p:spPr>
        <p:style>
          <a:lnRef idx="0"/>
          <a:fillRef idx="0"/>
          <a:effectRef idx="0"/>
          <a:fontRef idx="minor"/>
        </p:style>
      </p:sp>
      <p:sp>
        <p:nvSpPr>
          <p:cNvPr id="482"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483"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484"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485"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04 V-JEPA 2</a:t>
            </a:r>
            <a:endParaRPr b="0" lang="en-US" sz="1800" spc="-1" strike="noStrike">
              <a:latin typeface="Arial"/>
            </a:endParaRPr>
          </a:p>
        </p:txBody>
      </p:sp>
      <p:sp>
        <p:nvSpPr>
          <p:cNvPr id="486"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487"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488"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489"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04 V-JEPA 2</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4.2 </a:t>
            </a:r>
            <a:r>
              <a:rPr b="0" lang="zh-CN" sz="1400" spc="-1" strike="noStrike">
                <a:solidFill>
                  <a:srgbClr val="005c82"/>
                </a:solidFill>
                <a:latin typeface="Quattrocento Sans"/>
                <a:ea typeface="Quattrocento Sans"/>
              </a:rPr>
              <a:t>机器人操控实验</a:t>
            </a:r>
            <a:endParaRPr b="0" lang="en-US" sz="1400" spc="-1" strike="noStrike">
              <a:latin typeface="Arial"/>
            </a:endParaRPr>
          </a:p>
        </p:txBody>
      </p:sp>
      <p:sp>
        <p:nvSpPr>
          <p:cNvPr id="490"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14</a:t>
            </a:r>
            <a:endParaRPr b="0" lang="en-US" sz="1400" spc="-1" strike="noStrike">
              <a:latin typeface="Arial"/>
            </a:endParaRPr>
          </a:p>
        </p:txBody>
      </p:sp>
      <p:sp>
        <p:nvSpPr>
          <p:cNvPr id="491"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2400" spc="-1" strike="noStrike">
                <a:solidFill>
                  <a:srgbClr val="005c82"/>
                </a:solidFill>
                <a:latin typeface="Quattrocento Sans"/>
                <a:ea typeface="Quattrocento Sans"/>
              </a:rPr>
              <a:t>V-JEPA 2</a:t>
            </a:r>
            <a:r>
              <a:rPr b="1" lang="zh-CN" sz="2400" spc="-1" strike="noStrike">
                <a:solidFill>
                  <a:srgbClr val="005c82"/>
                </a:solidFill>
                <a:latin typeface="Quattrocento Sans"/>
                <a:ea typeface="Quattrocento Sans"/>
              </a:rPr>
              <a:t>：机器人操控性能碾压</a:t>
            </a:r>
            <a:r>
              <a:rPr b="1" lang="en-US" sz="2400" spc="-1" strike="noStrike">
                <a:solidFill>
                  <a:srgbClr val="005c82"/>
                </a:solidFill>
                <a:latin typeface="Quattrocento Sans"/>
                <a:ea typeface="Quattrocento Sans"/>
              </a:rPr>
              <a:t>VLA</a:t>
            </a:r>
            <a:endParaRPr b="0" lang="en-US" sz="2400" spc="-1" strike="noStrike">
              <a:latin typeface="Arial"/>
            </a:endParaRPr>
          </a:p>
        </p:txBody>
      </p:sp>
      <p:sp>
        <p:nvSpPr>
          <p:cNvPr id="492"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493" name="Shape 14"/>
          <p:cNvSpPr/>
          <p:nvPr/>
        </p:nvSpPr>
        <p:spPr>
          <a:xfrm>
            <a:off x="2540160" y="1574640"/>
            <a:ext cx="3149280" cy="1523520"/>
          </a:xfrm>
          <a:prstGeom prst="rect">
            <a:avLst/>
          </a:prstGeom>
          <a:solidFill>
            <a:srgbClr val="005c82"/>
          </a:solidFill>
          <a:ln w="0">
            <a:noFill/>
          </a:ln>
        </p:spPr>
        <p:style>
          <a:lnRef idx="0"/>
          <a:fillRef idx="0"/>
          <a:effectRef idx="0"/>
          <a:fontRef idx="minor"/>
        </p:style>
      </p:sp>
      <p:sp>
        <p:nvSpPr>
          <p:cNvPr id="494" name="Text 15"/>
          <p:cNvSpPr/>
          <p:nvPr/>
        </p:nvSpPr>
        <p:spPr>
          <a:xfrm>
            <a:off x="2540160" y="1650960"/>
            <a:ext cx="3149280" cy="76176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4000" spc="-1" strike="noStrike">
                <a:solidFill>
                  <a:srgbClr val="ffffff"/>
                </a:solidFill>
                <a:latin typeface="Quattrocento Sans"/>
                <a:ea typeface="Quattrocento Sans"/>
              </a:rPr>
              <a:t>80%</a:t>
            </a:r>
            <a:endParaRPr b="0" lang="en-US" sz="4000" spc="-1" strike="noStrike">
              <a:latin typeface="Arial"/>
            </a:endParaRPr>
          </a:p>
        </p:txBody>
      </p:sp>
      <p:sp>
        <p:nvSpPr>
          <p:cNvPr id="495" name="Text 16"/>
          <p:cNvSpPr/>
          <p:nvPr/>
        </p:nvSpPr>
        <p:spPr>
          <a:xfrm>
            <a:off x="2540160" y="2489040"/>
            <a:ext cx="3149280" cy="45684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en-US" sz="1400" spc="-1" strike="noStrike">
                <a:solidFill>
                  <a:srgbClr val="e0f4fa"/>
                </a:solidFill>
                <a:latin typeface="Quattrocento Sans"/>
                <a:ea typeface="Quattrocento Sans"/>
              </a:rPr>
              <a:t>Pick&amp;Place Cup</a:t>
            </a:r>
            <a:endParaRPr b="0" lang="en-US" sz="1400" spc="-1" strike="noStrike">
              <a:latin typeface="Arial"/>
            </a:endParaRPr>
          </a:p>
          <a:p>
            <a:pPr algn="ctr">
              <a:lnSpc>
                <a:spcPct val="120000"/>
              </a:lnSpc>
              <a:buNone/>
            </a:pPr>
            <a:r>
              <a:rPr b="0" lang="zh-CN" sz="1400" spc="-1" strike="noStrike">
                <a:solidFill>
                  <a:srgbClr val="e0f4fa"/>
                </a:solidFill>
                <a:latin typeface="Quattrocento Sans"/>
                <a:ea typeface="Quattrocento Sans"/>
              </a:rPr>
              <a:t>（</a:t>
            </a:r>
            <a:r>
              <a:rPr b="0" lang="en-US" sz="1400" spc="-1" strike="noStrike">
                <a:solidFill>
                  <a:srgbClr val="e0f4fa"/>
                </a:solidFill>
                <a:latin typeface="Quattrocento Sans"/>
                <a:ea typeface="Quattrocento Sans"/>
              </a:rPr>
              <a:t>Octo: 10%</a:t>
            </a:r>
            <a:r>
              <a:rPr b="0" lang="zh-CN" sz="1400" spc="-1" strike="noStrike">
                <a:solidFill>
                  <a:srgbClr val="e0f4fa"/>
                </a:solidFill>
                <a:latin typeface="Quattrocento Sans"/>
                <a:ea typeface="Quattrocento Sans"/>
              </a:rPr>
              <a:t>）</a:t>
            </a:r>
            <a:endParaRPr b="0" lang="en-US" sz="1400" spc="-1" strike="noStrike">
              <a:latin typeface="Arial"/>
            </a:endParaRPr>
          </a:p>
        </p:txBody>
      </p:sp>
      <p:sp>
        <p:nvSpPr>
          <p:cNvPr id="496" name="Shape 17"/>
          <p:cNvSpPr/>
          <p:nvPr/>
        </p:nvSpPr>
        <p:spPr>
          <a:xfrm>
            <a:off x="5892840" y="1574640"/>
            <a:ext cx="3149280" cy="1523520"/>
          </a:xfrm>
          <a:prstGeom prst="rect">
            <a:avLst/>
          </a:prstGeom>
          <a:solidFill>
            <a:srgbClr val="007aa8"/>
          </a:solidFill>
          <a:ln w="0">
            <a:noFill/>
          </a:ln>
        </p:spPr>
        <p:style>
          <a:lnRef idx="0"/>
          <a:fillRef idx="0"/>
          <a:effectRef idx="0"/>
          <a:fontRef idx="minor"/>
        </p:style>
      </p:sp>
      <p:sp>
        <p:nvSpPr>
          <p:cNvPr id="497" name="Text 18"/>
          <p:cNvSpPr/>
          <p:nvPr/>
        </p:nvSpPr>
        <p:spPr>
          <a:xfrm>
            <a:off x="5892840" y="1650960"/>
            <a:ext cx="3149280" cy="76176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4000" spc="-1" strike="noStrike">
                <a:solidFill>
                  <a:srgbClr val="ffffff"/>
                </a:solidFill>
                <a:latin typeface="Quattrocento Sans"/>
                <a:ea typeface="Quattrocento Sans"/>
              </a:rPr>
              <a:t>60%</a:t>
            </a:r>
            <a:endParaRPr b="0" lang="en-US" sz="4000" spc="-1" strike="noStrike">
              <a:latin typeface="Arial"/>
            </a:endParaRPr>
          </a:p>
        </p:txBody>
      </p:sp>
      <p:sp>
        <p:nvSpPr>
          <p:cNvPr id="498" name="Text 19"/>
          <p:cNvSpPr/>
          <p:nvPr/>
        </p:nvSpPr>
        <p:spPr>
          <a:xfrm>
            <a:off x="5892840" y="2489040"/>
            <a:ext cx="3149280" cy="45684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zh-CN" sz="1400" spc="-1" strike="noStrike">
                <a:solidFill>
                  <a:srgbClr val="e0f4fa"/>
                </a:solidFill>
                <a:latin typeface="Quattrocento Sans"/>
                <a:ea typeface="Quattrocento Sans"/>
              </a:rPr>
              <a:t>抓取成功率</a:t>
            </a:r>
            <a:endParaRPr b="0" lang="en-US" sz="1400" spc="-1" strike="noStrike">
              <a:latin typeface="Arial"/>
            </a:endParaRPr>
          </a:p>
          <a:p>
            <a:pPr algn="ctr">
              <a:lnSpc>
                <a:spcPct val="120000"/>
              </a:lnSpc>
              <a:buNone/>
            </a:pPr>
            <a:r>
              <a:rPr b="0" lang="zh-CN" sz="1400" spc="-1" strike="noStrike">
                <a:solidFill>
                  <a:srgbClr val="e0f4fa"/>
                </a:solidFill>
                <a:latin typeface="Quattrocento Sans"/>
                <a:ea typeface="Quattrocento Sans"/>
              </a:rPr>
              <a:t>（</a:t>
            </a:r>
            <a:r>
              <a:rPr b="0" lang="en-US" sz="1400" spc="-1" strike="noStrike">
                <a:solidFill>
                  <a:srgbClr val="e0f4fa"/>
                </a:solidFill>
                <a:latin typeface="Quattrocento Sans"/>
                <a:ea typeface="Quattrocento Sans"/>
              </a:rPr>
              <a:t>Octo: 10%</a:t>
            </a:r>
            <a:r>
              <a:rPr b="0" lang="zh-CN" sz="1400" spc="-1" strike="noStrike">
                <a:solidFill>
                  <a:srgbClr val="e0f4fa"/>
                </a:solidFill>
                <a:latin typeface="Quattrocento Sans"/>
                <a:ea typeface="Quattrocento Sans"/>
              </a:rPr>
              <a:t>）</a:t>
            </a:r>
            <a:endParaRPr b="0" lang="en-US" sz="1400" spc="-1" strike="noStrike">
              <a:latin typeface="Arial"/>
            </a:endParaRPr>
          </a:p>
        </p:txBody>
      </p:sp>
      <p:sp>
        <p:nvSpPr>
          <p:cNvPr id="499" name="Shape 20"/>
          <p:cNvSpPr/>
          <p:nvPr/>
        </p:nvSpPr>
        <p:spPr>
          <a:xfrm>
            <a:off x="9245520" y="1574640"/>
            <a:ext cx="3149280" cy="1523520"/>
          </a:xfrm>
          <a:prstGeom prst="rect">
            <a:avLst/>
          </a:prstGeom>
          <a:solidFill>
            <a:srgbClr val="00acc1"/>
          </a:solidFill>
          <a:ln w="0">
            <a:noFill/>
          </a:ln>
        </p:spPr>
        <p:style>
          <a:lnRef idx="0"/>
          <a:fillRef idx="0"/>
          <a:effectRef idx="0"/>
          <a:fontRef idx="minor"/>
        </p:style>
      </p:sp>
      <p:sp>
        <p:nvSpPr>
          <p:cNvPr id="500" name="Text 21"/>
          <p:cNvSpPr/>
          <p:nvPr/>
        </p:nvSpPr>
        <p:spPr>
          <a:xfrm>
            <a:off x="9245520" y="1650960"/>
            <a:ext cx="3149280" cy="76176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4000" spc="-1" strike="noStrike">
                <a:solidFill>
                  <a:srgbClr val="ffffff"/>
                </a:solidFill>
                <a:latin typeface="Quattrocento Sans"/>
                <a:ea typeface="Quattrocento Sans"/>
              </a:rPr>
              <a:t>77.3%</a:t>
            </a:r>
            <a:endParaRPr b="0" lang="en-US" sz="4000" spc="-1" strike="noStrike">
              <a:latin typeface="Arial"/>
            </a:endParaRPr>
          </a:p>
        </p:txBody>
      </p:sp>
      <p:sp>
        <p:nvSpPr>
          <p:cNvPr id="501" name="Text 22"/>
          <p:cNvSpPr/>
          <p:nvPr/>
        </p:nvSpPr>
        <p:spPr>
          <a:xfrm>
            <a:off x="9245520" y="2489040"/>
            <a:ext cx="3149280" cy="45684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en-US" sz="1400" spc="-1" strike="noStrike">
                <a:solidFill>
                  <a:srgbClr val="e0f4fa"/>
                </a:solidFill>
                <a:latin typeface="Quattrocento Sans"/>
                <a:ea typeface="Quattrocento Sans"/>
              </a:rPr>
              <a:t>SSv2 </a:t>
            </a:r>
            <a:r>
              <a:rPr b="0" lang="zh-CN" sz="1400" spc="-1" strike="noStrike">
                <a:solidFill>
                  <a:srgbClr val="e0f4fa"/>
                </a:solidFill>
                <a:latin typeface="Quattrocento Sans"/>
                <a:ea typeface="Quattrocento Sans"/>
              </a:rPr>
              <a:t>运动理解</a:t>
            </a:r>
            <a:endParaRPr b="0" lang="en-US" sz="1400" spc="-1" strike="noStrike">
              <a:latin typeface="Arial"/>
            </a:endParaRPr>
          </a:p>
          <a:p>
            <a:pPr algn="ctr">
              <a:lnSpc>
                <a:spcPct val="120000"/>
              </a:lnSpc>
              <a:buNone/>
            </a:pPr>
            <a:r>
              <a:rPr b="0" lang="zh-CN" sz="1400" spc="-1" strike="noStrike">
                <a:solidFill>
                  <a:srgbClr val="e0f4fa"/>
                </a:solidFill>
                <a:latin typeface="Quattrocento Sans"/>
                <a:ea typeface="Quattrocento Sans"/>
              </a:rPr>
              <a:t>（</a:t>
            </a:r>
            <a:r>
              <a:rPr b="0" lang="en-US" sz="1400" spc="-1" strike="noStrike">
                <a:solidFill>
                  <a:srgbClr val="e0f4fa"/>
                </a:solidFill>
                <a:latin typeface="Quattrocento Sans"/>
                <a:ea typeface="Quattrocento Sans"/>
              </a:rPr>
              <a:t>SOTA</a:t>
            </a:r>
            <a:r>
              <a:rPr b="0" lang="zh-CN" sz="1400" spc="-1" strike="noStrike">
                <a:solidFill>
                  <a:srgbClr val="e0f4fa"/>
                </a:solidFill>
                <a:latin typeface="Quattrocento Sans"/>
                <a:ea typeface="Quattrocento Sans"/>
              </a:rPr>
              <a:t>）</a:t>
            </a:r>
            <a:endParaRPr b="0" lang="en-US" sz="1400" spc="-1" strike="noStrike">
              <a:latin typeface="Arial"/>
            </a:endParaRPr>
          </a:p>
        </p:txBody>
      </p:sp>
      <p:sp>
        <p:nvSpPr>
          <p:cNvPr id="502" name="Shape 23"/>
          <p:cNvSpPr/>
          <p:nvPr/>
        </p:nvSpPr>
        <p:spPr>
          <a:xfrm>
            <a:off x="12598560" y="1574640"/>
            <a:ext cx="3149280" cy="1523520"/>
          </a:xfrm>
          <a:prstGeom prst="rect">
            <a:avLst/>
          </a:prstGeom>
          <a:solidFill>
            <a:srgbClr val="e0f4fa"/>
          </a:solidFill>
          <a:ln w="12600">
            <a:solidFill>
              <a:srgbClr val="005c82"/>
            </a:solidFill>
            <a:round/>
          </a:ln>
        </p:spPr>
        <p:style>
          <a:lnRef idx="0"/>
          <a:fillRef idx="0"/>
          <a:effectRef idx="0"/>
          <a:fontRef idx="minor"/>
        </p:style>
      </p:sp>
      <p:sp>
        <p:nvSpPr>
          <p:cNvPr id="503" name="Text 24"/>
          <p:cNvSpPr/>
          <p:nvPr/>
        </p:nvSpPr>
        <p:spPr>
          <a:xfrm>
            <a:off x="12598560" y="1650960"/>
            <a:ext cx="3149280" cy="76176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4000" spc="-1" strike="noStrike">
                <a:solidFill>
                  <a:srgbClr val="005c82"/>
                </a:solidFill>
                <a:latin typeface="Quattrocento Sans"/>
                <a:ea typeface="Quattrocento Sans"/>
              </a:rPr>
              <a:t>62h</a:t>
            </a:r>
            <a:endParaRPr b="0" lang="en-US" sz="4000" spc="-1" strike="noStrike">
              <a:latin typeface="Arial"/>
            </a:endParaRPr>
          </a:p>
        </p:txBody>
      </p:sp>
      <p:sp>
        <p:nvSpPr>
          <p:cNvPr id="504" name="Text 25"/>
          <p:cNvSpPr/>
          <p:nvPr/>
        </p:nvSpPr>
        <p:spPr>
          <a:xfrm>
            <a:off x="12598560" y="2489040"/>
            <a:ext cx="3149280" cy="45684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0" lang="zh-CN" sz="1400" spc="-1" strike="noStrike">
                <a:solidFill>
                  <a:srgbClr val="005c82"/>
                </a:solidFill>
                <a:latin typeface="Quattrocento Sans"/>
                <a:ea typeface="Quattrocento Sans"/>
              </a:rPr>
              <a:t>机器人适配数据</a:t>
            </a:r>
            <a:endParaRPr b="0" lang="en-US" sz="1400" spc="-1" strike="noStrike">
              <a:latin typeface="Arial"/>
            </a:endParaRPr>
          </a:p>
          <a:p>
            <a:pPr algn="ctr">
              <a:lnSpc>
                <a:spcPct val="120000"/>
              </a:lnSpc>
              <a:buNone/>
            </a:pPr>
            <a:r>
              <a:rPr b="0" lang="zh-CN" sz="1400" spc="-1" strike="noStrike">
                <a:solidFill>
                  <a:srgbClr val="005c82"/>
                </a:solidFill>
                <a:latin typeface="Quattrocento Sans"/>
                <a:ea typeface="Quattrocento Sans"/>
              </a:rPr>
              <a:t>（</a:t>
            </a:r>
            <a:r>
              <a:rPr b="0" lang="en-US" sz="1400" spc="-1" strike="noStrike">
                <a:solidFill>
                  <a:srgbClr val="005c82"/>
                </a:solidFill>
                <a:latin typeface="Quattrocento Sans"/>
                <a:ea typeface="Quattrocento Sans"/>
              </a:rPr>
              <a:t>Octo: 1000+h</a:t>
            </a:r>
            <a:r>
              <a:rPr b="0" lang="zh-CN" sz="1400" spc="-1" strike="noStrike">
                <a:solidFill>
                  <a:srgbClr val="005c82"/>
                </a:solidFill>
                <a:latin typeface="Quattrocento Sans"/>
                <a:ea typeface="Quattrocento Sans"/>
              </a:rPr>
              <a:t>）</a:t>
            </a:r>
            <a:endParaRPr b="0" lang="en-US" sz="1400" spc="-1" strike="noStrike">
              <a:latin typeface="Arial"/>
            </a:endParaRPr>
          </a:p>
        </p:txBody>
      </p:sp>
      <p:graphicFrame>
        <p:nvGraphicFramePr>
          <p:cNvPr id="505" name="Table 0"/>
          <p:cNvGraphicFramePr/>
          <p:nvPr/>
        </p:nvGraphicFramePr>
        <p:xfrm>
          <a:off x="2540160" y="3327480"/>
          <a:ext cx="13207320" cy="2031480"/>
        </p:xfrm>
        <a:graphic>
          <a:graphicData uri="http://schemas.openxmlformats.org/drawingml/2006/table">
            <a:tbl>
              <a:tblPr/>
              <a:tblGrid>
                <a:gridCol w="3301920"/>
                <a:gridCol w="3301920"/>
                <a:gridCol w="3301920"/>
                <a:gridCol w="3301920"/>
              </a:tblGrid>
              <a:tr h="507960">
                <a:tc>
                  <a:txBody>
                    <a:bodyPr lIns="54720" rIns="54720" tIns="0" bIns="0" anchor="ctr">
                      <a:noAutofit/>
                    </a:bodyPr>
                    <a:p>
                      <a:pPr algn="ctr">
                        <a:lnSpc>
                          <a:spcPct val="100000"/>
                        </a:lnSpc>
                        <a:buNone/>
                      </a:pPr>
                      <a:r>
                        <a:rPr b="1" lang="zh-CN" sz="1600" spc="-1" strike="noStrike">
                          <a:solidFill>
                            <a:srgbClr val="ffffff"/>
                          </a:solidFill>
                          <a:latin typeface="Calibri"/>
                        </a:rPr>
                        <a:t>方法</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zh-CN" sz="1600" spc="-1" strike="noStrike">
                          <a:solidFill>
                            <a:srgbClr val="ffffff"/>
                          </a:solidFill>
                          <a:latin typeface="Calibri"/>
                        </a:rPr>
                        <a:t>预训练数据</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zh-CN" sz="1600" spc="-1" strike="noStrike">
                          <a:solidFill>
                            <a:srgbClr val="ffffff"/>
                          </a:solidFill>
                          <a:latin typeface="Calibri"/>
                        </a:rPr>
                        <a:t>机器人数据</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600" spc="-1" strike="noStrike">
                          <a:solidFill>
                            <a:srgbClr val="ffffff"/>
                          </a:solidFill>
                          <a:latin typeface="Calibri"/>
                        </a:rPr>
                        <a:t>Pick&amp;Place Cup</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r>
              <a:tr h="507960">
                <a:tc>
                  <a:txBody>
                    <a:bodyPr lIns="54720" rIns="54720" tIns="0" bIns="0" anchor="ctr">
                      <a:noAutofit/>
                    </a:bodyPr>
                    <a:p>
                      <a:pPr algn="ctr">
                        <a:lnSpc>
                          <a:spcPct val="100000"/>
                        </a:lnSpc>
                        <a:buNone/>
                      </a:pPr>
                      <a:r>
                        <a:rPr b="1" lang="en-US" sz="1600" spc="-1" strike="noStrike">
                          <a:solidFill>
                            <a:srgbClr val="333333"/>
                          </a:solidFill>
                          <a:latin typeface="Calibri"/>
                        </a:rPr>
                        <a:t>Octo (VLA SOTA)</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需动作标注</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1000+ hrs</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10%</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r h="507960">
                <a:tc>
                  <a:txBody>
                    <a:bodyPr lIns="54720" rIns="54720" tIns="0" bIns="0" anchor="ctr">
                      <a:noAutofit/>
                    </a:bodyPr>
                    <a:p>
                      <a:pPr algn="ctr">
                        <a:lnSpc>
                          <a:spcPct val="100000"/>
                        </a:lnSpc>
                        <a:buNone/>
                      </a:pPr>
                      <a:r>
                        <a:rPr b="1" lang="en-US" sz="1600" spc="-1" strike="noStrike">
                          <a:solidFill>
                            <a:srgbClr val="333333"/>
                          </a:solidFill>
                          <a:latin typeface="Calibri"/>
                        </a:rPr>
                        <a:t>Cosmos</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互联网视频</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大量微调</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en-US" sz="1600" spc="-1" strike="noStrike">
                          <a:solidFill>
                            <a:srgbClr val="333333"/>
                          </a:solidFill>
                          <a:latin typeface="Calibri"/>
                        </a:rPr>
                        <a:t>0%</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r>
              <a:tr h="507960">
                <a:tc>
                  <a:txBody>
                    <a:bodyPr lIns="54720" rIns="54720" tIns="0" bIns="0" anchor="ctr">
                      <a:noAutofit/>
                    </a:bodyPr>
                    <a:p>
                      <a:pPr algn="ctr">
                        <a:lnSpc>
                          <a:spcPct val="100000"/>
                        </a:lnSpc>
                        <a:buNone/>
                      </a:pPr>
                      <a:r>
                        <a:rPr b="1" lang="en-US" sz="1600" spc="-1" strike="noStrike">
                          <a:solidFill>
                            <a:srgbClr val="333333"/>
                          </a:solidFill>
                          <a:latin typeface="Calibri"/>
                        </a:rPr>
                        <a:t>V-JEPA 2-AC</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zh-CN" sz="1600" spc="-1" strike="noStrike">
                          <a:solidFill>
                            <a:srgbClr val="333333"/>
                          </a:solidFill>
                          <a:latin typeface="Calibri"/>
                        </a:rPr>
                        <a:t>互联网视频</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en-US" sz="1600" spc="-1" strike="noStrike">
                          <a:solidFill>
                            <a:srgbClr val="333333"/>
                          </a:solidFill>
                          <a:latin typeface="Calibri"/>
                        </a:rPr>
                        <a:t>62 hrs</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en-US" sz="1600" spc="-1" strike="noStrike">
                          <a:solidFill>
                            <a:srgbClr val="333333"/>
                          </a:solidFill>
                          <a:latin typeface="Calibri"/>
                        </a:rPr>
                        <a:t>80%</a:t>
                      </a:r>
                      <a:endParaRPr b="0" lang="en-US" sz="16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bl>
          </a:graphicData>
        </a:graphic>
      </p:graphicFrame>
      <p:sp>
        <p:nvSpPr>
          <p:cNvPr id="506" name="Shape 26"/>
          <p:cNvSpPr/>
          <p:nvPr/>
        </p:nvSpPr>
        <p:spPr>
          <a:xfrm>
            <a:off x="2540160" y="5587920"/>
            <a:ext cx="13207680" cy="2539800"/>
          </a:xfrm>
          <a:prstGeom prst="rect">
            <a:avLst/>
          </a:prstGeom>
          <a:solidFill>
            <a:srgbClr val="005c82"/>
          </a:solidFill>
          <a:ln w="0">
            <a:noFill/>
          </a:ln>
        </p:spPr>
        <p:style>
          <a:lnRef idx="0"/>
          <a:fillRef idx="0"/>
          <a:effectRef idx="0"/>
          <a:fontRef idx="minor"/>
        </p:style>
      </p:sp>
      <p:sp>
        <p:nvSpPr>
          <p:cNvPr id="507" name="Shape 27"/>
          <p:cNvSpPr/>
          <p:nvPr/>
        </p:nvSpPr>
        <p:spPr>
          <a:xfrm>
            <a:off x="2717640" y="5765760"/>
            <a:ext cx="177480" cy="177480"/>
          </a:xfrm>
          <a:prstGeom prst="diamond">
            <a:avLst/>
          </a:prstGeom>
          <a:solidFill>
            <a:srgbClr val="00acc1"/>
          </a:solidFill>
          <a:ln w="0">
            <a:noFill/>
          </a:ln>
        </p:spPr>
        <p:style>
          <a:lnRef idx="0"/>
          <a:fillRef idx="0"/>
          <a:effectRef idx="0"/>
          <a:fontRef idx="minor"/>
        </p:style>
      </p:sp>
      <p:sp>
        <p:nvSpPr>
          <p:cNvPr id="508" name="Text 28"/>
          <p:cNvSpPr/>
          <p:nvPr/>
        </p:nvSpPr>
        <p:spPr>
          <a:xfrm>
            <a:off x="3022560" y="5689440"/>
            <a:ext cx="380952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800" spc="-1" strike="noStrike">
                <a:solidFill>
                  <a:srgbClr val="00acc1"/>
                </a:solidFill>
                <a:latin typeface="Quattrocento Sans"/>
                <a:ea typeface="Quattrocento Sans"/>
              </a:rPr>
              <a:t>核心洞察</a:t>
            </a:r>
            <a:endParaRPr b="0" lang="en-US" sz="1800" spc="-1" strike="noStrike">
              <a:latin typeface="Arial"/>
            </a:endParaRPr>
          </a:p>
        </p:txBody>
      </p:sp>
      <p:sp>
        <p:nvSpPr>
          <p:cNvPr id="509" name="Text 29"/>
          <p:cNvSpPr/>
          <p:nvPr/>
        </p:nvSpPr>
        <p:spPr>
          <a:xfrm>
            <a:off x="3022560" y="6045120"/>
            <a:ext cx="12521880" cy="198072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0" lang="en-US" sz="1600" spc="-1" strike="noStrike">
                <a:solidFill>
                  <a:srgbClr val="ffffff"/>
                </a:solidFill>
                <a:latin typeface="Quattrocento Sans"/>
                <a:ea typeface="Quattrocento Sans"/>
              </a:rPr>
              <a:t>① </a:t>
            </a:r>
            <a:r>
              <a:rPr b="1" lang="zh-CN" sz="1600" spc="-1" strike="noStrike">
                <a:solidFill>
                  <a:srgbClr val="ffffff"/>
                </a:solidFill>
                <a:latin typeface="Quattrocento Sans"/>
                <a:ea typeface="Quattrocento Sans"/>
              </a:rPr>
              <a:t>世界模型质量 </a:t>
            </a:r>
            <a:r>
              <a:rPr b="1" lang="en-US" sz="1600" spc="-1" strike="noStrike">
                <a:solidFill>
                  <a:srgbClr val="ffffff"/>
                </a:solidFill>
                <a:latin typeface="Quattrocento Sans"/>
                <a:ea typeface="Quattrocento Sans"/>
              </a:rPr>
              <a:t>&gt; </a:t>
            </a:r>
            <a:r>
              <a:rPr b="1" lang="zh-CN" sz="1600" spc="-1" strike="noStrike">
                <a:solidFill>
                  <a:srgbClr val="ffffff"/>
                </a:solidFill>
                <a:latin typeface="Quattrocento Sans"/>
                <a:ea typeface="Quattrocento Sans"/>
              </a:rPr>
              <a:t>动作数据数量</a:t>
            </a:r>
            <a:r>
              <a:rPr b="0" lang="zh-CN" sz="1600" spc="-1" strike="noStrike">
                <a:solidFill>
                  <a:srgbClr val="ffffff"/>
                </a:solidFill>
                <a:latin typeface="Quattrocento Sans"/>
                <a:ea typeface="Quattrocento Sans"/>
              </a:rPr>
              <a:t>：冻结预训练编码器 </a:t>
            </a:r>
            <a:r>
              <a:rPr b="0" lang="en-US" sz="1600" spc="-1" strike="noStrike">
                <a:solidFill>
                  <a:srgbClr val="ffffff"/>
                </a:solidFill>
                <a:latin typeface="Quattrocento Sans"/>
                <a:ea typeface="Quattrocento Sans"/>
              </a:rPr>
              <a:t>+ 62</a:t>
            </a:r>
            <a:r>
              <a:rPr b="0" lang="zh-CN" sz="1600" spc="-1" strike="noStrike">
                <a:solidFill>
                  <a:srgbClr val="ffffff"/>
                </a:solidFill>
                <a:latin typeface="Quattrocento Sans"/>
                <a:ea typeface="Quattrocento Sans"/>
              </a:rPr>
              <a:t>小时无标注数据 </a:t>
            </a:r>
            <a:r>
              <a:rPr b="0" lang="en-US" sz="1600" spc="-1" strike="noStrike">
                <a:solidFill>
                  <a:srgbClr val="ffffff"/>
                </a:solidFill>
                <a:latin typeface="Quattrocento Sans"/>
                <a:ea typeface="Quattrocento Sans"/>
              </a:rPr>
              <a:t>&gt; </a:t>
            </a:r>
            <a:r>
              <a:rPr b="0" lang="zh-CN" sz="1600" spc="-1" strike="noStrike">
                <a:solidFill>
                  <a:srgbClr val="ffffff"/>
                </a:solidFill>
                <a:latin typeface="Quattrocento Sans"/>
                <a:ea typeface="Quattrocento Sans"/>
              </a:rPr>
              <a:t>从头训练</a:t>
            </a:r>
            <a:r>
              <a:rPr b="0" lang="en-US" sz="1600" spc="-1" strike="noStrike">
                <a:solidFill>
                  <a:srgbClr val="ffffff"/>
                </a:solidFill>
                <a:latin typeface="Quattrocento Sans"/>
                <a:ea typeface="Quattrocento Sans"/>
              </a:rPr>
              <a:t>VLA + 1000+</a:t>
            </a:r>
            <a:r>
              <a:rPr b="0" lang="zh-CN" sz="1600" spc="-1" strike="noStrike">
                <a:solidFill>
                  <a:srgbClr val="ffffff"/>
                </a:solidFill>
                <a:latin typeface="Quattrocento Sans"/>
                <a:ea typeface="Quattrocento Sans"/>
              </a:rPr>
              <a:t>小时遥操作数据</a:t>
            </a:r>
            <a:endParaRPr b="0" lang="en-US" sz="1600" spc="-1" strike="noStrike">
              <a:latin typeface="Arial"/>
            </a:endParaRPr>
          </a:p>
          <a:p>
            <a:pPr>
              <a:lnSpc>
                <a:spcPct val="160000"/>
              </a:lnSpc>
              <a:buNone/>
            </a:pPr>
            <a:r>
              <a:rPr b="0" lang="en-US" sz="1600" spc="-1" strike="noStrike">
                <a:solidFill>
                  <a:srgbClr val="ffffff"/>
                </a:solidFill>
                <a:latin typeface="Quattrocento Sans"/>
                <a:ea typeface="Quattrocento Sans"/>
              </a:rPr>
              <a:t>② </a:t>
            </a:r>
            <a:r>
              <a:rPr b="1" lang="en-US" sz="1600" spc="-1" strike="noStrike">
                <a:solidFill>
                  <a:srgbClr val="ffffff"/>
                </a:solidFill>
                <a:latin typeface="Quattrocento Sans"/>
                <a:ea typeface="Quattrocento Sans"/>
              </a:rPr>
              <a:t>"</a:t>
            </a:r>
            <a:r>
              <a:rPr b="1" lang="zh-CN" sz="1600" spc="-1" strike="noStrike">
                <a:solidFill>
                  <a:srgbClr val="ffffff"/>
                </a:solidFill>
                <a:latin typeface="Quattrocento Sans"/>
                <a:ea typeface="Quattrocento Sans"/>
              </a:rPr>
              <a:t>学习物理</a:t>
            </a:r>
            <a:r>
              <a:rPr b="1" lang="en-US" sz="1600" spc="-1" strike="noStrike">
                <a:solidFill>
                  <a:srgbClr val="ffffff"/>
                </a:solidFill>
                <a:latin typeface="Quattrocento Sans"/>
                <a:ea typeface="Quattrocento Sans"/>
              </a:rPr>
              <a:t>"</a:t>
            </a:r>
            <a:r>
              <a:rPr b="1" lang="zh-CN" sz="1600" spc="-1" strike="noStrike">
                <a:solidFill>
                  <a:srgbClr val="ffffff"/>
                </a:solidFill>
                <a:latin typeface="Quattrocento Sans"/>
                <a:ea typeface="Quattrocento Sans"/>
              </a:rPr>
              <a:t>和</a:t>
            </a:r>
            <a:r>
              <a:rPr b="1" lang="en-US" sz="1600" spc="-1" strike="noStrike">
                <a:solidFill>
                  <a:srgbClr val="ffffff"/>
                </a:solidFill>
                <a:latin typeface="Quattrocento Sans"/>
                <a:ea typeface="Quattrocento Sans"/>
              </a:rPr>
              <a:t>"</a:t>
            </a:r>
            <a:r>
              <a:rPr b="1" lang="zh-CN" sz="1600" spc="-1" strike="noStrike">
                <a:solidFill>
                  <a:srgbClr val="ffffff"/>
                </a:solidFill>
                <a:latin typeface="Quattrocento Sans"/>
                <a:ea typeface="Quattrocento Sans"/>
              </a:rPr>
              <a:t>学习动作</a:t>
            </a:r>
            <a:r>
              <a:rPr b="1" lang="en-US" sz="1600" spc="-1" strike="noStrike">
                <a:solidFill>
                  <a:srgbClr val="ffffff"/>
                </a:solidFill>
                <a:latin typeface="Quattrocento Sans"/>
                <a:ea typeface="Quattrocento Sans"/>
              </a:rPr>
              <a:t>"</a:t>
            </a:r>
            <a:r>
              <a:rPr b="1" lang="zh-CN" sz="1600" spc="-1" strike="noStrike">
                <a:solidFill>
                  <a:srgbClr val="ffffff"/>
                </a:solidFill>
                <a:latin typeface="Quattrocento Sans"/>
                <a:ea typeface="Quattrocento Sans"/>
              </a:rPr>
              <a:t>可以分开</a:t>
            </a:r>
            <a:r>
              <a:rPr b="0" lang="zh-CN" sz="1600" spc="-1" strike="noStrike">
                <a:solidFill>
                  <a:srgbClr val="ffffff"/>
                </a:solidFill>
                <a:latin typeface="Quattrocento Sans"/>
                <a:ea typeface="Quattrocento Sans"/>
              </a:rPr>
              <a:t>：好的世界模型从纯视频中学到，动作控制只需极少量数据</a:t>
            </a:r>
            <a:endParaRPr b="0" lang="en-US" sz="1600" spc="-1" strike="noStrike">
              <a:latin typeface="Arial"/>
            </a:endParaRPr>
          </a:p>
          <a:p>
            <a:pPr>
              <a:lnSpc>
                <a:spcPct val="160000"/>
              </a:lnSpc>
              <a:buNone/>
            </a:pPr>
            <a:r>
              <a:rPr b="0" lang="en-US" sz="1600" spc="-1" strike="noStrike">
                <a:solidFill>
                  <a:srgbClr val="ffffff"/>
                </a:solidFill>
                <a:latin typeface="Quattrocento Sans"/>
                <a:ea typeface="Quattrocento Sans"/>
              </a:rPr>
              <a:t>③ </a:t>
            </a:r>
            <a:r>
              <a:rPr b="1" lang="zh-CN" sz="1600" spc="-1" strike="noStrike">
                <a:solidFill>
                  <a:srgbClr val="ffffff"/>
                </a:solidFill>
                <a:latin typeface="Quattrocento Sans"/>
                <a:ea typeface="Quattrocento Sans"/>
              </a:rPr>
              <a:t>验证了</a:t>
            </a:r>
            <a:r>
              <a:rPr b="1" lang="en-US" sz="1600" spc="-1" strike="noStrike">
                <a:solidFill>
                  <a:srgbClr val="ffffff"/>
                </a:solidFill>
                <a:latin typeface="Quattrocento Sans"/>
                <a:ea typeface="Quattrocento Sans"/>
              </a:rPr>
              <a:t>LeCun</a:t>
            </a:r>
            <a:r>
              <a:rPr b="1" lang="zh-CN" sz="1600" spc="-1" strike="noStrike">
                <a:solidFill>
                  <a:srgbClr val="ffffff"/>
                </a:solidFill>
                <a:latin typeface="Quattrocento Sans"/>
                <a:ea typeface="Quattrocento Sans"/>
              </a:rPr>
              <a:t>的蓝图</a:t>
            </a:r>
            <a:r>
              <a:rPr b="0" lang="zh-CN" sz="1600" spc="-1" strike="noStrike">
                <a:solidFill>
                  <a:srgbClr val="ffffff"/>
                </a:solidFill>
                <a:latin typeface="Quattrocento Sans"/>
                <a:ea typeface="Quattrocento Sans"/>
              </a:rPr>
              <a:t>：</a:t>
            </a:r>
            <a:r>
              <a:rPr b="0" lang="en-US" sz="1600" spc="-1" strike="noStrike">
                <a:solidFill>
                  <a:srgbClr val="ffffff"/>
                </a:solidFill>
                <a:latin typeface="Quattrocento Sans"/>
                <a:ea typeface="Quattrocento Sans"/>
              </a:rPr>
              <a:t>SSL</a:t>
            </a:r>
            <a:r>
              <a:rPr b="0" lang="zh-CN" sz="1600" spc="-1" strike="noStrike">
                <a:solidFill>
                  <a:srgbClr val="ffffff"/>
                </a:solidFill>
                <a:latin typeface="Quattrocento Sans"/>
                <a:ea typeface="Quattrocento Sans"/>
              </a:rPr>
              <a:t>是蛋糕本体</a:t>
            </a:r>
            <a:r>
              <a:rPr b="0" lang="en-US" sz="1600" spc="-1" strike="noStrike">
                <a:solidFill>
                  <a:srgbClr val="ffffff"/>
                </a:solidFill>
                <a:latin typeface="Quattrocento Sans"/>
                <a:ea typeface="Quattrocento Sans"/>
              </a:rPr>
              <a:t>(100</a:t>
            </a:r>
            <a:r>
              <a:rPr b="0" lang="zh-CN" sz="1600" spc="-1" strike="noStrike">
                <a:solidFill>
                  <a:srgbClr val="ffffff"/>
                </a:solidFill>
                <a:latin typeface="Quattrocento Sans"/>
                <a:ea typeface="Quattrocento Sans"/>
              </a:rPr>
              <a:t>万小时</a:t>
            </a:r>
            <a:r>
              <a:rPr b="0" lang="en-US" sz="1600" spc="-1" strike="noStrike">
                <a:solidFill>
                  <a:srgbClr val="ffffff"/>
                </a:solidFill>
                <a:latin typeface="Quattrocento Sans"/>
                <a:ea typeface="Quattrocento Sans"/>
              </a:rPr>
              <a:t>) + SL</a:t>
            </a:r>
            <a:r>
              <a:rPr b="0" lang="zh-CN" sz="1600" spc="-1" strike="noStrike">
                <a:solidFill>
                  <a:srgbClr val="ffffff"/>
                </a:solidFill>
                <a:latin typeface="Quattrocento Sans"/>
                <a:ea typeface="Quattrocento Sans"/>
              </a:rPr>
              <a:t>是糖霜</a:t>
            </a:r>
            <a:r>
              <a:rPr b="0" lang="en-US" sz="1600" spc="-1" strike="noStrike">
                <a:solidFill>
                  <a:srgbClr val="ffffff"/>
                </a:solidFill>
                <a:latin typeface="Quattrocento Sans"/>
                <a:ea typeface="Quattrocento Sans"/>
              </a:rPr>
              <a:t>(62</a:t>
            </a:r>
            <a:r>
              <a:rPr b="0" lang="zh-CN" sz="1600" spc="-1" strike="noStrike">
                <a:solidFill>
                  <a:srgbClr val="ffffff"/>
                </a:solidFill>
                <a:latin typeface="Quattrocento Sans"/>
                <a:ea typeface="Quattrocento Sans"/>
              </a:rPr>
              <a:t>小时</a:t>
            </a:r>
            <a:r>
              <a:rPr b="0" lang="en-US" sz="1600" spc="-1" strike="noStrike">
                <a:solidFill>
                  <a:srgbClr val="ffffff"/>
                </a:solidFill>
                <a:latin typeface="Quattrocento Sans"/>
                <a:ea typeface="Quattrocento Sans"/>
              </a:rPr>
              <a:t>) &gt; RL(1000+</a:t>
            </a:r>
            <a:r>
              <a:rPr b="0" lang="zh-CN" sz="1600" spc="-1" strike="noStrike">
                <a:solidFill>
                  <a:srgbClr val="ffffff"/>
                </a:solidFill>
                <a:latin typeface="Quattrocento Sans"/>
                <a:ea typeface="Quattrocento Sans"/>
              </a:rPr>
              <a:t>小时</a:t>
            </a:r>
            <a:r>
              <a:rPr b="0" lang="en-US" sz="1600" spc="-1" strike="noStrike">
                <a:solidFill>
                  <a:srgbClr val="ffffff"/>
                </a:solidFill>
                <a:latin typeface="Quattrocento Sans"/>
                <a:ea typeface="Quattrocento Sans"/>
              </a:rPr>
              <a:t>)</a:t>
            </a:r>
            <a:endParaRPr b="0" lang="en-US" sz="1600" spc="-1" strike="noStrike">
              <a:latin typeface="Arial"/>
            </a:endParaRPr>
          </a:p>
          <a:p>
            <a:pPr>
              <a:lnSpc>
                <a:spcPct val="160000"/>
              </a:lnSpc>
              <a:buNone/>
            </a:pPr>
            <a:r>
              <a:rPr b="0" lang="en-US" sz="1600" spc="-1" strike="noStrike">
                <a:solidFill>
                  <a:srgbClr val="ffffff"/>
                </a:solidFill>
                <a:latin typeface="Quattrocento Sans"/>
                <a:ea typeface="Quattrocento Sans"/>
              </a:rPr>
              <a:t>④ </a:t>
            </a:r>
            <a:r>
              <a:rPr b="1" lang="zh-CN" sz="1600" spc="-1" strike="noStrike">
                <a:solidFill>
                  <a:srgbClr val="ffffff"/>
                </a:solidFill>
                <a:latin typeface="Quattrocento Sans"/>
                <a:ea typeface="Quattrocento Sans"/>
              </a:rPr>
              <a:t>动作由</a:t>
            </a:r>
            <a:r>
              <a:rPr b="1" lang="en-US" sz="1600" spc="-1" strike="noStrike">
                <a:solidFill>
                  <a:srgbClr val="ffffff"/>
                </a:solidFill>
                <a:latin typeface="Quattrocento Sans"/>
                <a:ea typeface="Quattrocento Sans"/>
              </a:rPr>
              <a:t>MPC</a:t>
            </a:r>
            <a:r>
              <a:rPr b="1" lang="zh-CN" sz="1600" spc="-1" strike="noStrike">
                <a:solidFill>
                  <a:srgbClr val="ffffff"/>
                </a:solidFill>
                <a:latin typeface="Quattrocento Sans"/>
                <a:ea typeface="Quattrocento Sans"/>
              </a:rPr>
              <a:t>搜索决定</a:t>
            </a:r>
            <a:r>
              <a:rPr b="0" lang="zh-CN" sz="1600" spc="-1" strike="noStrike">
                <a:solidFill>
                  <a:srgbClr val="ffffff"/>
                </a:solidFill>
                <a:latin typeface="Quattrocento Sans"/>
                <a:ea typeface="Quattrocento Sans"/>
              </a:rPr>
              <a:t>：不直接输出动作，而是推演未来→搜索最优动作→只执行第一步</a:t>
            </a:r>
            <a:endParaRPr b="0" lang="en-US" sz="1600" spc="-1" strike="noStrike">
              <a:latin typeface="Arial"/>
            </a:endParaRPr>
          </a:p>
        </p:txBody>
      </p:sp>
    </p:spTree>
  </p:cSld>
  <p:transition>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510" name="Shape 0"/>
          <p:cNvSpPr/>
          <p:nvPr/>
        </p:nvSpPr>
        <p:spPr>
          <a:xfrm>
            <a:off x="2031840" y="1778040"/>
            <a:ext cx="4825800" cy="4825800"/>
          </a:xfrm>
          <a:prstGeom prst="rect">
            <a:avLst/>
          </a:prstGeom>
          <a:solidFill>
            <a:srgbClr val="005c82">
              <a:alpha val="4000"/>
            </a:srgbClr>
          </a:solidFill>
          <a:ln w="12600">
            <a:solidFill>
              <a:srgbClr val="005c82"/>
            </a:solidFill>
            <a:round/>
          </a:ln>
        </p:spPr>
        <p:style>
          <a:lnRef idx="0"/>
          <a:fillRef idx="0"/>
          <a:effectRef idx="0"/>
          <a:fontRef idx="minor"/>
        </p:style>
      </p:sp>
      <p:sp>
        <p:nvSpPr>
          <p:cNvPr id="511" name="Shape 1"/>
          <p:cNvSpPr/>
          <p:nvPr/>
        </p:nvSpPr>
        <p:spPr>
          <a:xfrm>
            <a:off x="2540160" y="2286000"/>
            <a:ext cx="3809520" cy="3809520"/>
          </a:xfrm>
          <a:prstGeom prst="rect">
            <a:avLst/>
          </a:prstGeom>
          <a:solidFill>
            <a:srgbClr val="005c82">
              <a:alpha val="4000"/>
            </a:srgbClr>
          </a:solidFill>
          <a:ln w="12600">
            <a:solidFill>
              <a:srgbClr val="005c82"/>
            </a:solidFill>
            <a:round/>
          </a:ln>
        </p:spPr>
        <p:style>
          <a:lnRef idx="0"/>
          <a:fillRef idx="0"/>
          <a:effectRef idx="0"/>
          <a:fontRef idx="minor"/>
        </p:style>
      </p:sp>
      <p:sp>
        <p:nvSpPr>
          <p:cNvPr id="512" name="Shape 2"/>
          <p:cNvSpPr/>
          <p:nvPr/>
        </p:nvSpPr>
        <p:spPr>
          <a:xfrm>
            <a:off x="3048120" y="2793960"/>
            <a:ext cx="2793600" cy="2793600"/>
          </a:xfrm>
          <a:prstGeom prst="rect">
            <a:avLst/>
          </a:prstGeom>
          <a:solidFill>
            <a:srgbClr val="ffffff"/>
          </a:solidFill>
          <a:ln w="12600">
            <a:solidFill>
              <a:srgbClr val="005c82"/>
            </a:solidFill>
            <a:round/>
          </a:ln>
        </p:spPr>
        <p:style>
          <a:lnRef idx="0"/>
          <a:fillRef idx="0"/>
          <a:effectRef idx="0"/>
          <a:fontRef idx="minor"/>
        </p:style>
      </p:sp>
      <p:sp>
        <p:nvSpPr>
          <p:cNvPr id="513" name="Text 3"/>
          <p:cNvSpPr/>
          <p:nvPr/>
        </p:nvSpPr>
        <p:spPr>
          <a:xfrm>
            <a:off x="3048120" y="2793960"/>
            <a:ext cx="2793600" cy="2793600"/>
          </a:xfrm>
          <a:prstGeom prst="rect">
            <a:avLst/>
          </a:prstGeom>
          <a:noFill/>
          <a:ln w="0">
            <a:noFill/>
          </a:ln>
        </p:spPr>
        <p:style>
          <a:lnRef idx="0"/>
          <a:fillRef idx="0"/>
          <a:effectRef idx="0"/>
          <a:fontRef idx="minor"/>
        </p:style>
        <p:txBody>
          <a:bodyPr wrap="none" lIns="0" rIns="0" tIns="0" bIns="0" anchor="ctr">
            <a:noAutofit/>
          </a:bodyPr>
          <a:p>
            <a:pPr algn="ctr">
              <a:lnSpc>
                <a:spcPct val="120000"/>
              </a:lnSpc>
              <a:buNone/>
            </a:pPr>
            <a:r>
              <a:rPr b="1" lang="en-US" sz="8000" spc="-1" strike="noStrike">
                <a:solidFill>
                  <a:srgbClr val="005c82"/>
                </a:solidFill>
                <a:latin typeface="Quattrocento Sans"/>
                <a:ea typeface="Quattrocento Sans"/>
              </a:rPr>
              <a:t>05</a:t>
            </a:r>
            <a:endParaRPr b="0" lang="en-US" sz="8000" spc="-1" strike="noStrike">
              <a:latin typeface="Arial"/>
            </a:endParaRPr>
          </a:p>
        </p:txBody>
      </p:sp>
      <p:sp>
        <p:nvSpPr>
          <p:cNvPr id="514" name="Shape 4"/>
          <p:cNvSpPr/>
          <p:nvPr/>
        </p:nvSpPr>
        <p:spPr>
          <a:xfrm>
            <a:off x="7620120" y="2793960"/>
            <a:ext cx="12240" cy="2793600"/>
          </a:xfrm>
          <a:prstGeom prst="rect">
            <a:avLst/>
          </a:prstGeom>
          <a:solidFill>
            <a:srgbClr val="b0bec5"/>
          </a:solidFill>
          <a:ln w="0">
            <a:noFill/>
          </a:ln>
        </p:spPr>
        <p:style>
          <a:lnRef idx="0"/>
          <a:fillRef idx="0"/>
          <a:effectRef idx="0"/>
          <a:fontRef idx="minor"/>
        </p:style>
      </p:sp>
      <p:sp>
        <p:nvSpPr>
          <p:cNvPr id="515" name="Text 5"/>
          <p:cNvSpPr/>
          <p:nvPr/>
        </p:nvSpPr>
        <p:spPr>
          <a:xfrm>
            <a:off x="8128080" y="2921040"/>
            <a:ext cx="711180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398" strike="noStrike">
                <a:solidFill>
                  <a:srgbClr val="00acc1"/>
                </a:solidFill>
                <a:latin typeface="Quattrocento Sans"/>
                <a:ea typeface="Quattrocento Sans"/>
              </a:rPr>
              <a:t>CHAPTER FIVE</a:t>
            </a:r>
            <a:endParaRPr b="0" lang="en-US" sz="1400" spc="-1" strike="noStrike">
              <a:latin typeface="Arial"/>
            </a:endParaRPr>
          </a:p>
        </p:txBody>
      </p:sp>
      <p:sp>
        <p:nvSpPr>
          <p:cNvPr id="516" name="Text 6"/>
          <p:cNvSpPr/>
          <p:nvPr/>
        </p:nvSpPr>
        <p:spPr>
          <a:xfrm>
            <a:off x="8128080" y="3403440"/>
            <a:ext cx="7365600" cy="8884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3600" spc="-1" strike="noStrike">
                <a:solidFill>
                  <a:srgbClr val="005c82"/>
                </a:solidFill>
                <a:latin typeface="Quattrocento Sans"/>
                <a:ea typeface="Quattrocento Sans"/>
              </a:rPr>
              <a:t>V-JEPA 2.1 </a:t>
            </a:r>
            <a:r>
              <a:rPr b="1" lang="zh-CN" sz="3600" spc="-1" strike="noStrike">
                <a:solidFill>
                  <a:srgbClr val="005c82"/>
                </a:solidFill>
                <a:latin typeface="Quattrocento Sans"/>
                <a:ea typeface="Quattrocento Sans"/>
              </a:rPr>
              <a:t>论文解析</a:t>
            </a:r>
            <a:endParaRPr b="0" lang="en-US" sz="3600" spc="-1" strike="noStrike">
              <a:latin typeface="Arial"/>
            </a:endParaRPr>
          </a:p>
        </p:txBody>
      </p:sp>
      <p:sp>
        <p:nvSpPr>
          <p:cNvPr id="517" name="Text 7"/>
          <p:cNvSpPr/>
          <p:nvPr/>
        </p:nvSpPr>
        <p:spPr>
          <a:xfrm>
            <a:off x="8128080" y="4419720"/>
            <a:ext cx="7365600" cy="634680"/>
          </a:xfrm>
          <a:prstGeom prst="rect">
            <a:avLst/>
          </a:prstGeom>
          <a:noFill/>
          <a:ln w="0">
            <a:noFill/>
          </a:ln>
        </p:spPr>
        <p:style>
          <a:lnRef idx="0"/>
          <a:fillRef idx="0"/>
          <a:effectRef idx="0"/>
          <a:fontRef idx="minor"/>
        </p:style>
        <p:txBody>
          <a:bodyPr lIns="0" rIns="0" tIns="0" bIns="0" anchor="t">
            <a:noAutofit/>
          </a:bodyPr>
          <a:p>
            <a:pPr>
              <a:lnSpc>
                <a:spcPct val="140000"/>
              </a:lnSpc>
              <a:buNone/>
            </a:pPr>
            <a:r>
              <a:rPr b="0" lang="en-US" sz="1400" spc="-1" strike="noStrike">
                <a:solidFill>
                  <a:srgbClr val="b0bec5"/>
                </a:solidFill>
                <a:latin typeface="Quattrocento Sans"/>
                <a:ea typeface="Quattrocento Sans"/>
              </a:rPr>
              <a:t>Unlocking Dense Features in Video SSL</a:t>
            </a:r>
            <a:endParaRPr b="0" lang="en-US" sz="1400" spc="-1" strike="noStrike">
              <a:latin typeface="Arial"/>
            </a:endParaRPr>
          </a:p>
          <a:p>
            <a:pPr>
              <a:lnSpc>
                <a:spcPct val="140000"/>
              </a:lnSpc>
              <a:buNone/>
            </a:pPr>
            <a:r>
              <a:rPr b="0" lang="en-US" sz="1400" spc="-1" strike="noStrike">
                <a:solidFill>
                  <a:srgbClr val="b0bec5"/>
                </a:solidFill>
                <a:latin typeface="Quattrocento Sans"/>
                <a:ea typeface="Quattrocento Sans"/>
              </a:rPr>
              <a:t>From "Seeing Trends" to "Seeing Every Pixel"</a:t>
            </a:r>
            <a:endParaRPr b="0" lang="en-US" sz="1400" spc="-1" strike="noStrike">
              <a:latin typeface="Arial"/>
            </a:endParaRPr>
          </a:p>
        </p:txBody>
      </p:sp>
      <p:sp>
        <p:nvSpPr>
          <p:cNvPr id="518" name="Shape 8"/>
          <p:cNvSpPr/>
          <p:nvPr/>
        </p:nvSpPr>
        <p:spPr>
          <a:xfrm>
            <a:off x="8128080" y="5207040"/>
            <a:ext cx="2539800" cy="25200"/>
          </a:xfrm>
          <a:prstGeom prst="rect">
            <a:avLst/>
          </a:prstGeom>
          <a:solidFill>
            <a:srgbClr val="00acc1"/>
          </a:solidFill>
          <a:ln w="0">
            <a:noFill/>
          </a:ln>
        </p:spPr>
        <p:style>
          <a:lnRef idx="0"/>
          <a:fillRef idx="0"/>
          <a:effectRef idx="0"/>
          <a:fontRef idx="minor"/>
        </p:style>
      </p:sp>
      <p:sp>
        <p:nvSpPr>
          <p:cNvPr id="519" name="Text 9"/>
          <p:cNvSpPr/>
          <p:nvPr/>
        </p:nvSpPr>
        <p:spPr>
          <a:xfrm>
            <a:off x="8128080" y="5460840"/>
            <a:ext cx="7365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500" spc="-1" strike="noStrike">
                <a:solidFill>
                  <a:srgbClr val="333333"/>
                </a:solidFill>
                <a:latin typeface="Quattrocento Sans"/>
                <a:ea typeface="Quattrocento Sans"/>
              </a:rPr>
              <a:t>5.1</a:t>
            </a:r>
            <a:r>
              <a:rPr b="0" lang="zh-CN" sz="1500" spc="-1" strike="noStrike">
                <a:solidFill>
                  <a:srgbClr val="333333"/>
                </a:solidFill>
                <a:latin typeface="Quattrocento Sans"/>
                <a:ea typeface="Quattrocento Sans"/>
              </a:rPr>
              <a:t>　</a:t>
            </a:r>
            <a:r>
              <a:rPr b="0" lang="en-US" sz="1500" spc="-1" strike="noStrike">
                <a:solidFill>
                  <a:srgbClr val="333333"/>
                </a:solidFill>
                <a:latin typeface="Quattrocento Sans"/>
                <a:ea typeface="Quattrocento Sans"/>
              </a:rPr>
              <a:t>V-JEPA 2</a:t>
            </a:r>
            <a:r>
              <a:rPr b="0" lang="zh-CN" sz="1500" spc="-1" strike="noStrike">
                <a:solidFill>
                  <a:srgbClr val="333333"/>
                </a:solidFill>
                <a:latin typeface="Quattrocento Sans"/>
                <a:ea typeface="Quattrocento Sans"/>
              </a:rPr>
              <a:t>的短板与四项升级</a:t>
            </a:r>
            <a:endParaRPr b="0" lang="en-US" sz="1500" spc="-1" strike="noStrike">
              <a:latin typeface="Arial"/>
            </a:endParaRPr>
          </a:p>
        </p:txBody>
      </p:sp>
      <p:sp>
        <p:nvSpPr>
          <p:cNvPr id="520" name="Text 10"/>
          <p:cNvSpPr/>
          <p:nvPr/>
        </p:nvSpPr>
        <p:spPr>
          <a:xfrm>
            <a:off x="15239880" y="8636040"/>
            <a:ext cx="634680" cy="30456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15</a:t>
            </a:r>
            <a:endParaRPr b="0" lang="en-US" sz="1400" spc="-1" strike="noStrike">
              <a:latin typeface="Arial"/>
            </a:endParaRPr>
          </a:p>
        </p:txBody>
      </p:sp>
    </p:spTree>
  </p:cSld>
  <p:transition>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521"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522"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523" name="Shape 2"/>
          <p:cNvSpPr/>
          <p:nvPr/>
        </p:nvSpPr>
        <p:spPr>
          <a:xfrm>
            <a:off x="0" y="5689440"/>
            <a:ext cx="2285640" cy="1168200"/>
          </a:xfrm>
          <a:prstGeom prst="rect">
            <a:avLst/>
          </a:prstGeom>
          <a:solidFill>
            <a:srgbClr val="005c82"/>
          </a:solidFill>
          <a:ln w="0">
            <a:noFill/>
          </a:ln>
        </p:spPr>
        <p:style>
          <a:lnRef idx="0"/>
          <a:fillRef idx="0"/>
          <a:effectRef idx="0"/>
          <a:fontRef idx="minor"/>
        </p:style>
      </p:sp>
      <p:sp>
        <p:nvSpPr>
          <p:cNvPr id="524"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525"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526"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527"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528"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05 V-JEPA 2.1</a:t>
            </a:r>
            <a:endParaRPr b="0" lang="en-US" sz="1800" spc="-1" strike="noStrike">
              <a:latin typeface="Arial"/>
            </a:endParaRPr>
          </a:p>
        </p:txBody>
      </p:sp>
      <p:sp>
        <p:nvSpPr>
          <p:cNvPr id="529"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530"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531"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05 V-JEPA 2.1</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5.1 </a:t>
            </a:r>
            <a:r>
              <a:rPr b="0" lang="zh-CN" sz="1400" spc="-1" strike="noStrike">
                <a:solidFill>
                  <a:srgbClr val="005c82"/>
                </a:solidFill>
                <a:latin typeface="Quattrocento Sans"/>
                <a:ea typeface="Quattrocento Sans"/>
              </a:rPr>
              <a:t>四项升级</a:t>
            </a:r>
            <a:endParaRPr b="0" lang="en-US" sz="1400" spc="-1" strike="noStrike">
              <a:latin typeface="Arial"/>
            </a:endParaRPr>
          </a:p>
        </p:txBody>
      </p:sp>
      <p:sp>
        <p:nvSpPr>
          <p:cNvPr id="532"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16</a:t>
            </a:r>
            <a:endParaRPr b="0" lang="en-US" sz="1400" spc="-1" strike="noStrike">
              <a:latin typeface="Arial"/>
            </a:endParaRPr>
          </a:p>
        </p:txBody>
      </p:sp>
      <p:sp>
        <p:nvSpPr>
          <p:cNvPr id="533"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四项升级：全局语义 → 密集特征</a:t>
            </a:r>
            <a:endParaRPr b="0" lang="en-US" sz="2400" spc="-1" strike="noStrike">
              <a:latin typeface="Arial"/>
            </a:endParaRPr>
          </a:p>
        </p:txBody>
      </p:sp>
      <p:sp>
        <p:nvSpPr>
          <p:cNvPr id="534"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535" name="Shape 14"/>
          <p:cNvSpPr/>
          <p:nvPr/>
        </p:nvSpPr>
        <p:spPr>
          <a:xfrm>
            <a:off x="2540160" y="1574640"/>
            <a:ext cx="13207680" cy="55836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536" name="Text 15"/>
          <p:cNvSpPr/>
          <p:nvPr/>
        </p:nvSpPr>
        <p:spPr>
          <a:xfrm>
            <a:off x="2793960" y="1574640"/>
            <a:ext cx="12699720" cy="558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333333"/>
                </a:solidFill>
                <a:latin typeface="Quattrocento Sans"/>
                <a:ea typeface="Quattrocento Sans"/>
              </a:rPr>
              <a:t>V-JEPA 2</a:t>
            </a:r>
            <a:r>
              <a:rPr b="1" lang="zh-CN" sz="1500" spc="-1" strike="noStrike">
                <a:solidFill>
                  <a:srgbClr val="333333"/>
                </a:solidFill>
                <a:latin typeface="Quattrocento Sans"/>
                <a:ea typeface="Quattrocento Sans"/>
              </a:rPr>
              <a:t>的短板：</a:t>
            </a:r>
            <a:r>
              <a:rPr b="0" lang="zh-CN" sz="1500" spc="-1" strike="noStrike">
                <a:solidFill>
                  <a:srgbClr val="333333"/>
                </a:solidFill>
                <a:latin typeface="Quattrocento Sans"/>
                <a:ea typeface="Quattrocento Sans"/>
              </a:rPr>
              <a:t>全局语义强但空间细节弱——可见</a:t>
            </a:r>
            <a:r>
              <a:rPr b="0" lang="en-US" sz="1500" spc="-1" strike="noStrike">
                <a:solidFill>
                  <a:srgbClr val="333333"/>
                </a:solidFill>
                <a:latin typeface="Quattrocento Sans"/>
                <a:ea typeface="Quattrocento Sans"/>
              </a:rPr>
              <a:t>token</a:t>
            </a:r>
            <a:r>
              <a:rPr b="0" lang="zh-CN" sz="1500" spc="-1" strike="noStrike">
                <a:solidFill>
                  <a:srgbClr val="333333"/>
                </a:solidFill>
                <a:latin typeface="Quattrocento Sans"/>
                <a:ea typeface="Quattrocento Sans"/>
              </a:rPr>
              <a:t>不参与损失计算，退化为</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全局摘要器</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，缺乏精细空间结构。</a:t>
            </a:r>
            <a:endParaRPr b="0" lang="en-US" sz="1500" spc="-1" strike="noStrike">
              <a:latin typeface="Arial"/>
            </a:endParaRPr>
          </a:p>
        </p:txBody>
      </p:sp>
      <p:sp>
        <p:nvSpPr>
          <p:cNvPr id="537" name="Shape 16"/>
          <p:cNvSpPr/>
          <p:nvPr/>
        </p:nvSpPr>
        <p:spPr>
          <a:xfrm>
            <a:off x="2540160" y="2336760"/>
            <a:ext cx="6349680" cy="1777680"/>
          </a:xfrm>
          <a:prstGeom prst="roundRect">
            <a:avLst>
              <a:gd name="adj" fmla="val 4000"/>
            </a:avLst>
          </a:prstGeom>
          <a:solidFill>
            <a:srgbClr val="005c82"/>
          </a:solidFill>
          <a:ln w="0">
            <a:noFill/>
          </a:ln>
        </p:spPr>
        <p:style>
          <a:lnRef idx="0"/>
          <a:fillRef idx="0"/>
          <a:effectRef idx="0"/>
          <a:fontRef idx="minor"/>
        </p:style>
      </p:sp>
      <p:sp>
        <p:nvSpPr>
          <p:cNvPr id="538" name="Text 17"/>
          <p:cNvSpPr/>
          <p:nvPr/>
        </p:nvSpPr>
        <p:spPr>
          <a:xfrm>
            <a:off x="2743200" y="2413080"/>
            <a:ext cx="594324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600" spc="-1" strike="noStrike">
                <a:solidFill>
                  <a:srgbClr val="00acc1"/>
                </a:solidFill>
                <a:latin typeface="Quattrocento Sans"/>
                <a:ea typeface="Quattrocento Sans"/>
              </a:rPr>
              <a:t>升级</a:t>
            </a:r>
            <a:r>
              <a:rPr b="1" lang="en-US" sz="1600" spc="-1" strike="noStrike">
                <a:solidFill>
                  <a:srgbClr val="00acc1"/>
                </a:solidFill>
                <a:latin typeface="Quattrocento Sans"/>
                <a:ea typeface="Quattrocento Sans"/>
              </a:rPr>
              <a:t>1</a:t>
            </a:r>
            <a:r>
              <a:rPr b="1" lang="zh-CN" sz="1600" spc="-1" strike="noStrike">
                <a:solidFill>
                  <a:srgbClr val="00acc1"/>
                </a:solidFill>
                <a:latin typeface="Quattrocento Sans"/>
                <a:ea typeface="Quattrocento Sans"/>
              </a:rPr>
              <a:t>：</a:t>
            </a:r>
            <a:r>
              <a:rPr b="1" lang="en-US" sz="1600" spc="-1" strike="noStrike">
                <a:solidFill>
                  <a:srgbClr val="00acc1"/>
                </a:solidFill>
                <a:latin typeface="Quattrocento Sans"/>
                <a:ea typeface="Quattrocento Sans"/>
              </a:rPr>
              <a:t>Dense Prediction Loss</a:t>
            </a:r>
            <a:endParaRPr b="0" lang="en-US" sz="1600" spc="-1" strike="noStrike">
              <a:latin typeface="Arial"/>
            </a:endParaRPr>
          </a:p>
        </p:txBody>
      </p:sp>
      <p:sp>
        <p:nvSpPr>
          <p:cNvPr id="539" name="Text 18"/>
          <p:cNvSpPr/>
          <p:nvPr/>
        </p:nvSpPr>
        <p:spPr>
          <a:xfrm>
            <a:off x="2743200" y="2768760"/>
            <a:ext cx="5943240" cy="12697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400" spc="-1" strike="noStrike">
                <a:solidFill>
                  <a:srgbClr val="ffffff"/>
                </a:solidFill>
                <a:latin typeface="Quattrocento Sans"/>
                <a:ea typeface="Quattrocento Sans"/>
              </a:rPr>
              <a:t>对可见</a:t>
            </a:r>
            <a:r>
              <a:rPr b="0" lang="en-US" sz="1400" spc="-1" strike="noStrike">
                <a:solidFill>
                  <a:srgbClr val="ffffff"/>
                </a:solidFill>
                <a:latin typeface="Quattrocento Sans"/>
                <a:ea typeface="Quattrocento Sans"/>
              </a:rPr>
              <a:t>token</a:t>
            </a:r>
            <a:r>
              <a:rPr b="0" lang="zh-CN" sz="1400" spc="-1" strike="noStrike">
                <a:solidFill>
                  <a:srgbClr val="ffffff"/>
                </a:solidFill>
                <a:latin typeface="Quattrocento Sans"/>
                <a:ea typeface="Quattrocento Sans"/>
              </a:rPr>
              <a:t>也施加预测损失，权重随距离被遮区域衰减。让</a:t>
            </a:r>
            <a:r>
              <a:rPr b="0" lang="en-US" sz="1400" spc="-1" strike="noStrike">
                <a:solidFill>
                  <a:srgbClr val="ffffff"/>
                </a:solidFill>
                <a:latin typeface="Quattrocento Sans"/>
                <a:ea typeface="Quattrocento Sans"/>
              </a:rPr>
              <a:t>context token</a:t>
            </a:r>
            <a:r>
              <a:rPr b="0" lang="zh-CN" sz="1400" spc="-1" strike="noStrike">
                <a:solidFill>
                  <a:srgbClr val="ffffff"/>
                </a:solidFill>
                <a:latin typeface="Quattrocento Sans"/>
                <a:ea typeface="Quattrocento Sans"/>
              </a:rPr>
              <a:t>从</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全局摘要器</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变成</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空间锚点</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保留精细空间位置信息。</a:t>
            </a:r>
            <a:endParaRPr b="0" lang="en-US" sz="1400" spc="-1" strike="noStrike">
              <a:latin typeface="Arial"/>
            </a:endParaRPr>
          </a:p>
        </p:txBody>
      </p:sp>
      <p:sp>
        <p:nvSpPr>
          <p:cNvPr id="540" name="Shape 19"/>
          <p:cNvSpPr/>
          <p:nvPr/>
        </p:nvSpPr>
        <p:spPr>
          <a:xfrm>
            <a:off x="9144000" y="2336760"/>
            <a:ext cx="6349680" cy="1777680"/>
          </a:xfrm>
          <a:prstGeom prst="roundRect">
            <a:avLst>
              <a:gd name="adj" fmla="val 4000"/>
            </a:avLst>
          </a:prstGeom>
          <a:solidFill>
            <a:srgbClr val="007aa8"/>
          </a:solidFill>
          <a:ln w="0">
            <a:noFill/>
          </a:ln>
        </p:spPr>
        <p:style>
          <a:lnRef idx="0"/>
          <a:fillRef idx="0"/>
          <a:effectRef idx="0"/>
          <a:fontRef idx="minor"/>
        </p:style>
      </p:sp>
      <p:sp>
        <p:nvSpPr>
          <p:cNvPr id="541" name="Text 20"/>
          <p:cNvSpPr/>
          <p:nvPr/>
        </p:nvSpPr>
        <p:spPr>
          <a:xfrm>
            <a:off x="9347040" y="2413080"/>
            <a:ext cx="594324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600" spc="-1" strike="noStrike">
                <a:solidFill>
                  <a:srgbClr val="ffffff"/>
                </a:solidFill>
                <a:latin typeface="Quattrocento Sans"/>
                <a:ea typeface="Quattrocento Sans"/>
              </a:rPr>
              <a:t>升级</a:t>
            </a:r>
            <a:r>
              <a:rPr b="1" lang="en-US" sz="1600" spc="-1" strike="noStrike">
                <a:solidFill>
                  <a:srgbClr val="ffffff"/>
                </a:solidFill>
                <a:latin typeface="Quattrocento Sans"/>
                <a:ea typeface="Quattrocento Sans"/>
              </a:rPr>
              <a:t>2</a:t>
            </a:r>
            <a:r>
              <a:rPr b="1" lang="zh-CN" sz="1600" spc="-1" strike="noStrike">
                <a:solidFill>
                  <a:srgbClr val="ffffff"/>
                </a:solidFill>
                <a:latin typeface="Quattrocento Sans"/>
                <a:ea typeface="Quattrocento Sans"/>
              </a:rPr>
              <a:t>：</a:t>
            </a:r>
            <a:r>
              <a:rPr b="1" lang="en-US" sz="1600" spc="-1" strike="noStrike">
                <a:solidFill>
                  <a:srgbClr val="ffffff"/>
                </a:solidFill>
                <a:latin typeface="Quattrocento Sans"/>
                <a:ea typeface="Quattrocento Sans"/>
              </a:rPr>
              <a:t>Deep Self-Supervision</a:t>
            </a:r>
            <a:endParaRPr b="0" lang="en-US" sz="1600" spc="-1" strike="noStrike">
              <a:latin typeface="Arial"/>
            </a:endParaRPr>
          </a:p>
        </p:txBody>
      </p:sp>
      <p:sp>
        <p:nvSpPr>
          <p:cNvPr id="542" name="Text 21"/>
          <p:cNvSpPr/>
          <p:nvPr/>
        </p:nvSpPr>
        <p:spPr>
          <a:xfrm>
            <a:off x="9347040" y="2768760"/>
            <a:ext cx="5943240" cy="12697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400" spc="-1" strike="noStrike">
                <a:solidFill>
                  <a:srgbClr val="ffffff"/>
                </a:solidFill>
                <a:latin typeface="Quattrocento Sans"/>
                <a:ea typeface="Quattrocento Sans"/>
              </a:rPr>
              <a:t>在编码器多个中间层（第</a:t>
            </a:r>
            <a:r>
              <a:rPr b="0" lang="en-US" sz="1400" spc="-1" strike="noStrike">
                <a:solidFill>
                  <a:srgbClr val="ffffff"/>
                </a:solidFill>
                <a:latin typeface="Quattrocento Sans"/>
                <a:ea typeface="Quattrocento Sans"/>
              </a:rPr>
              <a:t>12/24/36/48</a:t>
            </a:r>
            <a:r>
              <a:rPr b="0" lang="zh-CN" sz="1400" spc="-1" strike="noStrike">
                <a:solidFill>
                  <a:srgbClr val="ffffff"/>
                </a:solidFill>
                <a:latin typeface="Quattrocento Sans"/>
                <a:ea typeface="Quattrocento Sans"/>
              </a:rPr>
              <a:t>层）同时施加预测损失，</a:t>
            </a:r>
            <a:r>
              <a:rPr b="0" lang="en-US" sz="1400" spc="-1" strike="noStrike">
                <a:solidFill>
                  <a:srgbClr val="ffffff"/>
                </a:solidFill>
                <a:latin typeface="Quattrocento Sans"/>
                <a:ea typeface="Quattrocento Sans"/>
              </a:rPr>
              <a:t>concat→MLP</a:t>
            </a:r>
            <a:r>
              <a:rPr b="0" lang="zh-CN" sz="1400" spc="-1" strike="noStrike">
                <a:solidFill>
                  <a:srgbClr val="ffffff"/>
                </a:solidFill>
                <a:latin typeface="Quattrocento Sans"/>
                <a:ea typeface="Quattrocento Sans"/>
              </a:rPr>
              <a:t>融合。浅层学空间细节，深层学语义理解。</a:t>
            </a:r>
            <a:endParaRPr b="0" lang="en-US" sz="1400" spc="-1" strike="noStrike">
              <a:latin typeface="Arial"/>
            </a:endParaRPr>
          </a:p>
        </p:txBody>
      </p:sp>
      <p:sp>
        <p:nvSpPr>
          <p:cNvPr id="543" name="Shape 22"/>
          <p:cNvSpPr/>
          <p:nvPr/>
        </p:nvSpPr>
        <p:spPr>
          <a:xfrm>
            <a:off x="2540160" y="4317840"/>
            <a:ext cx="6349680" cy="1777680"/>
          </a:xfrm>
          <a:prstGeom prst="roundRect">
            <a:avLst>
              <a:gd name="adj" fmla="val 4000"/>
            </a:avLst>
          </a:prstGeom>
          <a:solidFill>
            <a:srgbClr val="00acc1"/>
          </a:solidFill>
          <a:ln w="0">
            <a:noFill/>
          </a:ln>
        </p:spPr>
        <p:style>
          <a:lnRef idx="0"/>
          <a:fillRef idx="0"/>
          <a:effectRef idx="0"/>
          <a:fontRef idx="minor"/>
        </p:style>
      </p:sp>
      <p:sp>
        <p:nvSpPr>
          <p:cNvPr id="544" name="Text 23"/>
          <p:cNvSpPr/>
          <p:nvPr/>
        </p:nvSpPr>
        <p:spPr>
          <a:xfrm>
            <a:off x="2743200" y="4394160"/>
            <a:ext cx="594324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600" spc="-1" strike="noStrike">
                <a:solidFill>
                  <a:srgbClr val="ffffff"/>
                </a:solidFill>
                <a:latin typeface="Quattrocento Sans"/>
                <a:ea typeface="Quattrocento Sans"/>
              </a:rPr>
              <a:t>升级</a:t>
            </a:r>
            <a:r>
              <a:rPr b="1" lang="en-US" sz="1600" spc="-1" strike="noStrike">
                <a:solidFill>
                  <a:srgbClr val="ffffff"/>
                </a:solidFill>
                <a:latin typeface="Quattrocento Sans"/>
                <a:ea typeface="Quattrocento Sans"/>
              </a:rPr>
              <a:t>3</a:t>
            </a:r>
            <a:r>
              <a:rPr b="1" lang="zh-CN" sz="1600" spc="-1" strike="noStrike">
                <a:solidFill>
                  <a:srgbClr val="ffffff"/>
                </a:solidFill>
                <a:latin typeface="Quattrocento Sans"/>
                <a:ea typeface="Quattrocento Sans"/>
              </a:rPr>
              <a:t>：</a:t>
            </a:r>
            <a:r>
              <a:rPr b="1" lang="en-US" sz="1600" spc="-1" strike="noStrike">
                <a:solidFill>
                  <a:srgbClr val="ffffff"/>
                </a:solidFill>
                <a:latin typeface="Quattrocento Sans"/>
                <a:ea typeface="Quattrocento Sans"/>
              </a:rPr>
              <a:t>Multi-Modal Tokenizers</a:t>
            </a:r>
            <a:endParaRPr b="0" lang="en-US" sz="1600" spc="-1" strike="noStrike">
              <a:latin typeface="Arial"/>
            </a:endParaRPr>
          </a:p>
        </p:txBody>
      </p:sp>
      <p:sp>
        <p:nvSpPr>
          <p:cNvPr id="545" name="Text 24"/>
          <p:cNvSpPr/>
          <p:nvPr/>
        </p:nvSpPr>
        <p:spPr>
          <a:xfrm>
            <a:off x="2743200" y="4749840"/>
            <a:ext cx="5943240" cy="12697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400" spc="-1" strike="noStrike">
                <a:solidFill>
                  <a:srgbClr val="ffffff"/>
                </a:solidFill>
                <a:latin typeface="Quattrocento Sans"/>
                <a:ea typeface="Quattrocento Sans"/>
              </a:rPr>
              <a:t>图像用</a:t>
            </a:r>
            <a:r>
              <a:rPr b="0" lang="en-US" sz="1400" spc="-1" strike="noStrike">
                <a:solidFill>
                  <a:srgbClr val="ffffff"/>
                </a:solidFill>
                <a:latin typeface="Quattrocento Sans"/>
                <a:ea typeface="Quattrocento Sans"/>
              </a:rPr>
              <a:t>2D</a:t>
            </a:r>
            <a:r>
              <a:rPr b="0" lang="zh-CN" sz="1400" spc="-1" strike="noStrike">
                <a:solidFill>
                  <a:srgbClr val="ffffff"/>
                </a:solidFill>
                <a:latin typeface="Quattrocento Sans"/>
                <a:ea typeface="Quattrocento Sans"/>
              </a:rPr>
              <a:t>卷积</a:t>
            </a:r>
            <a:r>
              <a:rPr b="0" lang="en-US" sz="1400" spc="-1" strike="noStrike">
                <a:solidFill>
                  <a:srgbClr val="ffffff"/>
                </a:solidFill>
                <a:latin typeface="Quattrocento Sans"/>
                <a:ea typeface="Quattrocento Sans"/>
              </a:rPr>
              <a:t>(16x16)</a:t>
            </a:r>
            <a:r>
              <a:rPr b="0" lang="zh-CN" sz="1400" spc="-1" strike="noStrike">
                <a:solidFill>
                  <a:srgbClr val="ffffff"/>
                </a:solidFill>
                <a:latin typeface="Quattrocento Sans"/>
                <a:ea typeface="Quattrocento Sans"/>
              </a:rPr>
              <a:t>，视频用</a:t>
            </a:r>
            <a:r>
              <a:rPr b="0" lang="en-US" sz="1400" spc="-1" strike="noStrike">
                <a:solidFill>
                  <a:srgbClr val="ffffff"/>
                </a:solidFill>
                <a:latin typeface="Quattrocento Sans"/>
                <a:ea typeface="Quattrocento Sans"/>
              </a:rPr>
              <a:t>3D</a:t>
            </a:r>
            <a:r>
              <a:rPr b="0" lang="zh-CN" sz="1400" spc="-1" strike="noStrike">
                <a:solidFill>
                  <a:srgbClr val="ffffff"/>
                </a:solidFill>
                <a:latin typeface="Quattrocento Sans"/>
                <a:ea typeface="Quattrocento Sans"/>
              </a:rPr>
              <a:t>卷积</a:t>
            </a:r>
            <a:r>
              <a:rPr b="0" lang="en-US" sz="1400" spc="-1" strike="noStrike">
                <a:solidFill>
                  <a:srgbClr val="ffffff"/>
                </a:solidFill>
                <a:latin typeface="Quattrocento Sans"/>
                <a:ea typeface="Quattrocento Sans"/>
              </a:rPr>
              <a:t>(16x16x2)</a:t>
            </a:r>
            <a:r>
              <a:rPr b="0" lang="zh-CN" sz="1400" spc="-1" strike="noStrike">
                <a:solidFill>
                  <a:srgbClr val="ffffff"/>
                </a:solidFill>
                <a:latin typeface="Quattrocento Sans"/>
                <a:ea typeface="Quattrocento Sans"/>
              </a:rPr>
              <a:t>，各走各路。加入模态嵌入标记区分图像</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视频。告别</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把图片复制成静态视频</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的偷懒做法。</a:t>
            </a:r>
            <a:endParaRPr b="0" lang="en-US" sz="1400" spc="-1" strike="noStrike">
              <a:latin typeface="Arial"/>
            </a:endParaRPr>
          </a:p>
        </p:txBody>
      </p:sp>
      <p:sp>
        <p:nvSpPr>
          <p:cNvPr id="546" name="Shape 25"/>
          <p:cNvSpPr/>
          <p:nvPr/>
        </p:nvSpPr>
        <p:spPr>
          <a:xfrm>
            <a:off x="9144000" y="4317840"/>
            <a:ext cx="6349680" cy="1777680"/>
          </a:xfrm>
          <a:prstGeom prst="roundRect">
            <a:avLst>
              <a:gd name="adj" fmla="val 4000"/>
            </a:avLst>
          </a:prstGeom>
          <a:solidFill>
            <a:srgbClr val="004060"/>
          </a:solidFill>
          <a:ln w="0">
            <a:noFill/>
          </a:ln>
        </p:spPr>
        <p:style>
          <a:lnRef idx="0"/>
          <a:fillRef idx="0"/>
          <a:effectRef idx="0"/>
          <a:fontRef idx="minor"/>
        </p:style>
      </p:sp>
      <p:sp>
        <p:nvSpPr>
          <p:cNvPr id="547" name="Text 26"/>
          <p:cNvSpPr/>
          <p:nvPr/>
        </p:nvSpPr>
        <p:spPr>
          <a:xfrm>
            <a:off x="9347040" y="4394160"/>
            <a:ext cx="5943240" cy="30456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1600" spc="-1" strike="noStrike">
                <a:solidFill>
                  <a:srgbClr val="00acc1"/>
                </a:solidFill>
                <a:latin typeface="Quattrocento Sans"/>
                <a:ea typeface="Quattrocento Sans"/>
              </a:rPr>
              <a:t>升级</a:t>
            </a:r>
            <a:r>
              <a:rPr b="1" lang="en-US" sz="1600" spc="-1" strike="noStrike">
                <a:solidFill>
                  <a:srgbClr val="00acc1"/>
                </a:solidFill>
                <a:latin typeface="Quattrocento Sans"/>
                <a:ea typeface="Quattrocento Sans"/>
              </a:rPr>
              <a:t>4</a:t>
            </a:r>
            <a:r>
              <a:rPr b="1" lang="zh-CN" sz="1600" spc="-1" strike="noStrike">
                <a:solidFill>
                  <a:srgbClr val="00acc1"/>
                </a:solidFill>
                <a:latin typeface="Quattrocento Sans"/>
                <a:ea typeface="Quattrocento Sans"/>
              </a:rPr>
              <a:t>：</a:t>
            </a:r>
            <a:r>
              <a:rPr b="1" lang="en-US" sz="1600" spc="-1" strike="noStrike">
                <a:solidFill>
                  <a:srgbClr val="00acc1"/>
                </a:solidFill>
                <a:latin typeface="Quattrocento Sans"/>
                <a:ea typeface="Quattrocento Sans"/>
              </a:rPr>
              <a:t>Scale to ViT-G 2B</a:t>
            </a:r>
            <a:endParaRPr b="0" lang="en-US" sz="1600" spc="-1" strike="noStrike">
              <a:latin typeface="Arial"/>
            </a:endParaRPr>
          </a:p>
        </p:txBody>
      </p:sp>
      <p:sp>
        <p:nvSpPr>
          <p:cNvPr id="548" name="Text 27"/>
          <p:cNvSpPr/>
          <p:nvPr/>
        </p:nvSpPr>
        <p:spPr>
          <a:xfrm>
            <a:off x="9347040" y="4749840"/>
            <a:ext cx="5943240" cy="126972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0" lang="zh-CN" sz="1400" spc="-1" strike="noStrike">
                <a:solidFill>
                  <a:srgbClr val="ffffff"/>
                </a:solidFill>
                <a:latin typeface="Quattrocento Sans"/>
                <a:ea typeface="Quattrocento Sans"/>
              </a:rPr>
              <a:t>从</a:t>
            </a:r>
            <a:r>
              <a:rPr b="0" lang="en-US" sz="1400" spc="-1" strike="noStrike">
                <a:solidFill>
                  <a:srgbClr val="ffffff"/>
                </a:solidFill>
                <a:latin typeface="Quattrocento Sans"/>
                <a:ea typeface="Quattrocento Sans"/>
              </a:rPr>
              <a:t>ViT-g(1B)</a:t>
            </a:r>
            <a:r>
              <a:rPr b="0" lang="zh-CN" sz="1400" spc="-1" strike="noStrike">
                <a:solidFill>
                  <a:srgbClr val="ffffff"/>
                </a:solidFill>
                <a:latin typeface="Quattrocento Sans"/>
                <a:ea typeface="Quattrocento Sans"/>
              </a:rPr>
              <a:t>扩展到</a:t>
            </a:r>
            <a:r>
              <a:rPr b="0" lang="en-US" sz="1400" spc="-1" strike="noStrike">
                <a:solidFill>
                  <a:srgbClr val="ffffff"/>
                </a:solidFill>
                <a:latin typeface="Quattrocento Sans"/>
                <a:ea typeface="Quattrocento Sans"/>
              </a:rPr>
              <a:t>ViT-G(2B)</a:t>
            </a:r>
            <a:r>
              <a:rPr b="0" lang="zh-CN" sz="1400" spc="-1" strike="noStrike">
                <a:solidFill>
                  <a:srgbClr val="ffffff"/>
                </a:solidFill>
                <a:latin typeface="Quattrocento Sans"/>
                <a:ea typeface="Quattrocento Sans"/>
              </a:rPr>
              <a:t>，数据集从</a:t>
            </a:r>
            <a:r>
              <a:rPr b="0" lang="en-US" sz="1400" spc="-1" strike="noStrike">
                <a:solidFill>
                  <a:srgbClr val="ffffff"/>
                </a:solidFill>
                <a:latin typeface="Quattrocento Sans"/>
                <a:ea typeface="Quattrocento Sans"/>
              </a:rPr>
              <a:t>VideoMix22M</a:t>
            </a:r>
            <a:r>
              <a:rPr b="0" lang="zh-CN" sz="1400" spc="-1" strike="noStrike">
                <a:solidFill>
                  <a:srgbClr val="ffffff"/>
                </a:solidFill>
                <a:latin typeface="Quattrocento Sans"/>
                <a:ea typeface="Quattrocento Sans"/>
              </a:rPr>
              <a:t>扩展到</a:t>
            </a:r>
            <a:r>
              <a:rPr b="0" lang="en-US" sz="1400" spc="-1" strike="noStrike">
                <a:solidFill>
                  <a:srgbClr val="ffffff"/>
                </a:solidFill>
                <a:latin typeface="Quattrocento Sans"/>
                <a:ea typeface="Quattrocento Sans"/>
              </a:rPr>
              <a:t>VisionMix-163M(142M</a:t>
            </a:r>
            <a:r>
              <a:rPr b="0" lang="zh-CN" sz="1400" spc="-1" strike="noStrike">
                <a:solidFill>
                  <a:srgbClr val="ffffff"/>
                </a:solidFill>
                <a:latin typeface="Quattrocento Sans"/>
                <a:ea typeface="Quattrocento Sans"/>
              </a:rPr>
              <a:t>图像</a:t>
            </a:r>
            <a:r>
              <a:rPr b="0" lang="en-US" sz="1400" spc="-1" strike="noStrike">
                <a:solidFill>
                  <a:srgbClr val="ffffff"/>
                </a:solidFill>
                <a:latin typeface="Quattrocento Sans"/>
                <a:ea typeface="Quattrocento Sans"/>
              </a:rPr>
              <a:t>+19M</a:t>
            </a:r>
            <a:r>
              <a:rPr b="0" lang="zh-CN" sz="1400" spc="-1" strike="noStrike">
                <a:solidFill>
                  <a:srgbClr val="ffffff"/>
                </a:solidFill>
                <a:latin typeface="Quattrocento Sans"/>
                <a:ea typeface="Quattrocento Sans"/>
              </a:rPr>
              <a:t>视频</a:t>
            </a:r>
            <a:r>
              <a:rPr b="0" lang="en-US" sz="1400" spc="-1" strike="noStrike">
                <a:solidFill>
                  <a:srgbClr val="ffffff"/>
                </a:solidFill>
                <a:latin typeface="Quattrocento Sans"/>
                <a:ea typeface="Quattrocento Sans"/>
              </a:rPr>
              <a:t>)</a:t>
            </a:r>
            <a:r>
              <a:rPr b="0" lang="zh-CN" sz="1400" spc="-1" strike="noStrike">
                <a:solidFill>
                  <a:srgbClr val="ffffff"/>
                </a:solidFill>
                <a:latin typeface="Quattrocento Sans"/>
                <a:ea typeface="Quattrocento Sans"/>
              </a:rPr>
              <a:t>。高分辨率降温策略。</a:t>
            </a:r>
            <a:endParaRPr b="0" lang="en-US" sz="1400" spc="-1" strike="noStrike">
              <a:latin typeface="Arial"/>
            </a:endParaRPr>
          </a:p>
        </p:txBody>
      </p:sp>
      <p:sp>
        <p:nvSpPr>
          <p:cNvPr id="549" name="Text 28"/>
          <p:cNvSpPr/>
          <p:nvPr/>
        </p:nvSpPr>
        <p:spPr>
          <a:xfrm>
            <a:off x="2540160" y="635004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关键结果对比</a:t>
            </a:r>
            <a:endParaRPr b="0" lang="en-US" sz="2000" spc="-1" strike="noStrike">
              <a:latin typeface="Arial"/>
            </a:endParaRPr>
          </a:p>
        </p:txBody>
      </p:sp>
      <p:graphicFrame>
        <p:nvGraphicFramePr>
          <p:cNvPr id="550" name="Table 0"/>
          <p:cNvGraphicFramePr/>
          <p:nvPr/>
        </p:nvGraphicFramePr>
        <p:xfrm>
          <a:off x="2540160" y="6781680"/>
          <a:ext cx="13207320" cy="1523160"/>
        </p:xfrm>
        <a:graphic>
          <a:graphicData uri="http://schemas.openxmlformats.org/drawingml/2006/table">
            <a:tbl>
              <a:tblPr/>
              <a:tblGrid>
                <a:gridCol w="3697920"/>
                <a:gridCol w="3169800"/>
                <a:gridCol w="3169800"/>
                <a:gridCol w="3170160"/>
              </a:tblGrid>
              <a:tr h="380880">
                <a:tc>
                  <a:txBody>
                    <a:bodyPr lIns="54720" rIns="54720" tIns="0" bIns="0" anchor="ctr">
                      <a:noAutofit/>
                    </a:bodyPr>
                    <a:p>
                      <a:pPr algn="ctr">
                        <a:lnSpc>
                          <a:spcPct val="100000"/>
                        </a:lnSpc>
                        <a:buNone/>
                      </a:pPr>
                      <a:r>
                        <a:rPr b="1" lang="zh-CN" sz="1500" spc="-1" strike="noStrike">
                          <a:solidFill>
                            <a:srgbClr val="ffffff"/>
                          </a:solidFill>
                          <a:latin typeface="Calibri"/>
                        </a:rPr>
                        <a:t>指标</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500" spc="-1" strike="noStrike">
                          <a:solidFill>
                            <a:srgbClr val="ffffff"/>
                          </a:solidFill>
                          <a:latin typeface="Calibri"/>
                        </a:rPr>
                        <a:t>V-JEPA 2</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en-US" sz="1500" spc="-1" strike="noStrike">
                          <a:solidFill>
                            <a:srgbClr val="ffffff"/>
                          </a:solidFill>
                          <a:latin typeface="Calibri"/>
                        </a:rPr>
                        <a:t>V-JEPA 2.1</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c>
                  <a:txBody>
                    <a:bodyPr lIns="54720" rIns="54720" tIns="0" bIns="0" anchor="ctr">
                      <a:noAutofit/>
                    </a:bodyPr>
                    <a:p>
                      <a:pPr algn="ctr">
                        <a:lnSpc>
                          <a:spcPct val="100000"/>
                        </a:lnSpc>
                        <a:buNone/>
                      </a:pPr>
                      <a:r>
                        <a:rPr b="1" lang="zh-CN" sz="1500" spc="-1" strike="noStrike">
                          <a:solidFill>
                            <a:srgbClr val="ffffff"/>
                          </a:solidFill>
                          <a:latin typeface="Calibri"/>
                        </a:rPr>
                        <a:t>提升</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005c82"/>
                    </a:solidFill>
                  </a:tcPr>
                </a:tc>
              </a:tr>
              <a:tr h="380880">
                <a:tc>
                  <a:txBody>
                    <a:bodyPr lIns="54720" rIns="54720" tIns="0" bIns="0" anchor="ctr">
                      <a:noAutofit/>
                    </a:bodyPr>
                    <a:p>
                      <a:pPr algn="ctr">
                        <a:lnSpc>
                          <a:spcPct val="100000"/>
                        </a:lnSpc>
                        <a:buNone/>
                      </a:pPr>
                      <a:r>
                        <a:rPr b="0" lang="en-US" sz="1500" spc="-1" strike="noStrike">
                          <a:solidFill>
                            <a:srgbClr val="333333"/>
                          </a:solidFill>
                          <a:latin typeface="Calibri"/>
                        </a:rPr>
                        <a:t>NYUv2 </a:t>
                      </a:r>
                      <a:r>
                        <a:rPr b="0" lang="zh-CN" sz="1500" spc="-1" strike="noStrike">
                          <a:solidFill>
                            <a:srgbClr val="333333"/>
                          </a:solidFill>
                          <a:latin typeface="Calibri"/>
                        </a:rPr>
                        <a:t>深度 </a:t>
                      </a:r>
                      <a:r>
                        <a:rPr b="0" lang="en-US" sz="1500" spc="-1" strike="noStrike">
                          <a:solidFill>
                            <a:srgbClr val="333333"/>
                          </a:solidFill>
                          <a:latin typeface="Calibri"/>
                        </a:rPr>
                        <a:t>RMSE</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500" spc="-1" strike="noStrike">
                          <a:solidFill>
                            <a:srgbClr val="333333"/>
                          </a:solidFill>
                          <a:latin typeface="Calibri"/>
                        </a:rPr>
                        <a:t>0.642</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en-US" sz="1500" spc="-1" strike="noStrike">
                          <a:solidFill>
                            <a:srgbClr val="333333"/>
                          </a:solidFill>
                          <a:latin typeface="Calibri"/>
                        </a:rPr>
                        <a:t>0.307</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en-US" sz="1500" spc="-1" strike="noStrike">
                          <a:solidFill>
                            <a:srgbClr val="333333"/>
                          </a:solidFill>
                          <a:latin typeface="Calibri"/>
                        </a:rPr>
                        <a:t>2.1× </a:t>
                      </a:r>
                      <a:r>
                        <a:rPr b="1" lang="zh-CN" sz="1500" spc="-1" strike="noStrike">
                          <a:solidFill>
                            <a:srgbClr val="333333"/>
                          </a:solidFill>
                          <a:latin typeface="Calibri"/>
                        </a:rPr>
                        <a:t>更好</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r h="380880">
                <a:tc>
                  <a:txBody>
                    <a:bodyPr lIns="54720" rIns="54720" tIns="0" bIns="0" anchor="ctr">
                      <a:noAutofit/>
                    </a:bodyPr>
                    <a:p>
                      <a:pPr algn="ctr">
                        <a:lnSpc>
                          <a:spcPct val="100000"/>
                        </a:lnSpc>
                        <a:buNone/>
                      </a:pPr>
                      <a:r>
                        <a:rPr b="0" lang="en-US" sz="1500" spc="-1" strike="noStrike">
                          <a:solidFill>
                            <a:srgbClr val="333333"/>
                          </a:solidFill>
                          <a:latin typeface="Calibri"/>
                        </a:rPr>
                        <a:t>ADE20K </a:t>
                      </a:r>
                      <a:r>
                        <a:rPr b="0" lang="zh-CN" sz="1500" spc="-1" strike="noStrike">
                          <a:solidFill>
                            <a:srgbClr val="333333"/>
                          </a:solidFill>
                          <a:latin typeface="Calibri"/>
                        </a:rPr>
                        <a:t>分割 </a:t>
                      </a:r>
                      <a:r>
                        <a:rPr b="0" lang="en-US" sz="1500" spc="-1" strike="noStrike">
                          <a:solidFill>
                            <a:srgbClr val="333333"/>
                          </a:solidFill>
                          <a:latin typeface="Calibri"/>
                        </a:rPr>
                        <a:t>mIoU</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0" lang="en-US" sz="1500" spc="-1" strike="noStrike">
                          <a:solidFill>
                            <a:srgbClr val="333333"/>
                          </a:solidFill>
                          <a:latin typeface="Calibri"/>
                        </a:rPr>
                        <a:t>22.2</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1" lang="en-US" sz="1500" spc="-1" strike="noStrike">
                          <a:solidFill>
                            <a:srgbClr val="333333"/>
                          </a:solidFill>
                          <a:latin typeface="Calibri"/>
                        </a:rPr>
                        <a:t>47.9</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c>
                  <a:txBody>
                    <a:bodyPr lIns="54720" rIns="54720" tIns="0" bIns="0" anchor="ctr">
                      <a:noAutofit/>
                    </a:bodyPr>
                    <a:p>
                      <a:pPr algn="ctr">
                        <a:lnSpc>
                          <a:spcPct val="100000"/>
                        </a:lnSpc>
                        <a:buNone/>
                      </a:pPr>
                      <a:r>
                        <a:rPr b="1" lang="en-US" sz="1500" spc="-1" strike="noStrike">
                          <a:solidFill>
                            <a:srgbClr val="333333"/>
                          </a:solidFill>
                          <a:latin typeface="Calibri"/>
                        </a:rPr>
                        <a:t>2.2× </a:t>
                      </a:r>
                      <a:r>
                        <a:rPr b="1" lang="zh-CN" sz="1500" spc="-1" strike="noStrike">
                          <a:solidFill>
                            <a:srgbClr val="333333"/>
                          </a:solidFill>
                          <a:latin typeface="Calibri"/>
                        </a:rPr>
                        <a:t>更好</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e0f4fa"/>
                    </a:solidFill>
                  </a:tcPr>
                </a:tc>
              </a:tr>
              <a:tr h="380880">
                <a:tc>
                  <a:txBody>
                    <a:bodyPr lIns="54720" rIns="54720" tIns="0" bIns="0" anchor="ctr">
                      <a:noAutofit/>
                    </a:bodyPr>
                    <a:p>
                      <a:pPr algn="ctr">
                        <a:lnSpc>
                          <a:spcPct val="100000"/>
                        </a:lnSpc>
                        <a:buNone/>
                      </a:pPr>
                      <a:r>
                        <a:rPr b="0" lang="zh-CN" sz="1500" spc="-1" strike="noStrike">
                          <a:solidFill>
                            <a:srgbClr val="333333"/>
                          </a:solidFill>
                          <a:latin typeface="Calibri"/>
                        </a:rPr>
                        <a:t>机器人抓取</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0" lang="en-US" sz="1500" spc="-1" strike="noStrike">
                          <a:solidFill>
                            <a:srgbClr val="333333"/>
                          </a:solidFill>
                          <a:latin typeface="Calibri"/>
                        </a:rPr>
                        <a:t>baseline</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en-US" sz="1500" spc="-1" strike="noStrike">
                          <a:solidFill>
                            <a:srgbClr val="333333"/>
                          </a:solidFill>
                          <a:latin typeface="Calibri"/>
                        </a:rPr>
                        <a:t>+20 </a:t>
                      </a:r>
                      <a:r>
                        <a:rPr b="1" lang="zh-CN" sz="1500" spc="-1" strike="noStrike">
                          <a:solidFill>
                            <a:srgbClr val="333333"/>
                          </a:solidFill>
                          <a:latin typeface="Calibri"/>
                        </a:rPr>
                        <a:t>个百分点</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c>
                  <a:txBody>
                    <a:bodyPr lIns="54720" rIns="54720" tIns="0" bIns="0" anchor="ctr">
                      <a:noAutofit/>
                    </a:bodyPr>
                    <a:p>
                      <a:pPr algn="ctr">
                        <a:lnSpc>
                          <a:spcPct val="100000"/>
                        </a:lnSpc>
                        <a:buNone/>
                      </a:pPr>
                      <a:r>
                        <a:rPr b="1" lang="zh-CN" sz="1500" spc="-1" strike="noStrike">
                          <a:solidFill>
                            <a:srgbClr val="333333"/>
                          </a:solidFill>
                          <a:latin typeface="Calibri"/>
                        </a:rPr>
                        <a:t>质的飞跃</a:t>
                      </a:r>
                      <a:endParaRPr b="0" lang="en-US" sz="1500" spc="-1" strike="noStrike">
                        <a:latin typeface="Arial"/>
                      </a:endParaRPr>
                    </a:p>
                  </a:txBody>
                  <a:tcPr anchor="ctr" marL="54720" marR="54720">
                    <a:lnL w="12240">
                      <a:solidFill>
                        <a:srgbClr val="b0bec5"/>
                      </a:solidFill>
                    </a:lnL>
                    <a:lnR w="12240">
                      <a:solidFill>
                        <a:srgbClr val="b0bec5"/>
                      </a:solidFill>
                    </a:lnR>
                    <a:lnT w="12240">
                      <a:solidFill>
                        <a:srgbClr val="b0bec5"/>
                      </a:solidFill>
                    </a:lnT>
                    <a:lnB w="12240">
                      <a:solidFill>
                        <a:srgbClr val="b0bec5"/>
                      </a:solidFill>
                    </a:lnB>
                    <a:solidFill>
                      <a:srgbClr val="ffffff"/>
                    </a:solidFill>
                  </a:tcPr>
                </a:tc>
              </a:tr>
            </a:tbl>
          </a:graphicData>
        </a:graphic>
      </p:graphicFrame>
      <p:sp>
        <p:nvSpPr>
          <p:cNvPr id="551" name="Shape 29"/>
          <p:cNvSpPr/>
          <p:nvPr/>
        </p:nvSpPr>
        <p:spPr>
          <a:xfrm>
            <a:off x="2540160" y="8483760"/>
            <a:ext cx="13207680" cy="507600"/>
          </a:xfrm>
          <a:prstGeom prst="rect">
            <a:avLst/>
          </a:prstGeom>
          <a:solidFill>
            <a:srgbClr val="005c82"/>
          </a:solidFill>
          <a:ln w="0">
            <a:noFill/>
          </a:ln>
        </p:spPr>
        <p:style>
          <a:lnRef idx="0"/>
          <a:fillRef idx="0"/>
          <a:effectRef idx="0"/>
          <a:fontRef idx="minor"/>
        </p:style>
      </p:sp>
      <p:sp>
        <p:nvSpPr>
          <p:cNvPr id="552" name="Text 30"/>
          <p:cNvSpPr/>
          <p:nvPr/>
        </p:nvSpPr>
        <p:spPr>
          <a:xfrm>
            <a:off x="2793960" y="8483760"/>
            <a:ext cx="12699720" cy="507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zh-CN" sz="1500" spc="-1" strike="noStrike">
                <a:solidFill>
                  <a:srgbClr val="ffffff"/>
                </a:solidFill>
                <a:latin typeface="Quattrocento Sans"/>
                <a:ea typeface="Quattrocento Sans"/>
              </a:rPr>
              <a:t>核心洞察：密集特征让</a:t>
            </a:r>
            <a:r>
              <a:rPr b="0" lang="en-US" sz="1500" spc="-1" strike="noStrike">
                <a:solidFill>
                  <a:srgbClr val="ffffff"/>
                </a:solidFill>
                <a:latin typeface="Quattrocento Sans"/>
                <a:ea typeface="Quattrocento Sans"/>
              </a:rPr>
              <a:t>WM</a:t>
            </a:r>
            <a:r>
              <a:rPr b="0" lang="zh-CN" sz="1500" spc="-1" strike="noStrike">
                <a:solidFill>
                  <a:srgbClr val="ffffff"/>
                </a:solidFill>
                <a:latin typeface="Quattrocento Sans"/>
                <a:ea typeface="Quattrocento Sans"/>
              </a:rPr>
              <a:t>能区分</a:t>
            </a:r>
            <a:r>
              <a:rPr b="0" lang="en-US" sz="1500" spc="-1" strike="noStrike">
                <a:solidFill>
                  <a:srgbClr val="ffffff"/>
                </a:solidFill>
                <a:latin typeface="Quattrocento Sans"/>
                <a:ea typeface="Quattrocento Sans"/>
              </a:rPr>
              <a:t>"</a:t>
            </a:r>
            <a:r>
              <a:rPr b="0" lang="zh-CN" sz="1500" spc="-1" strike="noStrike">
                <a:solidFill>
                  <a:srgbClr val="ffffff"/>
                </a:solidFill>
                <a:latin typeface="Quattrocento Sans"/>
                <a:ea typeface="Quattrocento Sans"/>
              </a:rPr>
              <a:t>物体在目标位置</a:t>
            </a:r>
            <a:r>
              <a:rPr b="0" lang="en-US" sz="1500" spc="-1" strike="noStrike">
                <a:solidFill>
                  <a:srgbClr val="ffffff"/>
                </a:solidFill>
                <a:latin typeface="Quattrocento Sans"/>
                <a:ea typeface="Quattrocento Sans"/>
              </a:rPr>
              <a:t>"</a:t>
            </a:r>
            <a:r>
              <a:rPr b="0" lang="zh-CN" sz="1500" spc="-1" strike="noStrike">
                <a:solidFill>
                  <a:srgbClr val="ffffff"/>
                </a:solidFill>
                <a:latin typeface="Quattrocento Sans"/>
                <a:ea typeface="Quattrocento Sans"/>
              </a:rPr>
              <a:t>和</a:t>
            </a:r>
            <a:r>
              <a:rPr b="0" lang="en-US" sz="1500" spc="-1" strike="noStrike">
                <a:solidFill>
                  <a:srgbClr val="ffffff"/>
                </a:solidFill>
                <a:latin typeface="Quattrocento Sans"/>
                <a:ea typeface="Quattrocento Sans"/>
              </a:rPr>
              <a:t>"</a:t>
            </a:r>
            <a:r>
              <a:rPr b="0" lang="zh-CN" sz="1500" spc="-1" strike="noStrike">
                <a:solidFill>
                  <a:srgbClr val="ffffff"/>
                </a:solidFill>
                <a:latin typeface="Quattrocento Sans"/>
                <a:ea typeface="Quattrocento Sans"/>
              </a:rPr>
              <a:t>偏了</a:t>
            </a:r>
            <a:r>
              <a:rPr b="0" lang="en-US" sz="1500" spc="-1" strike="noStrike">
                <a:solidFill>
                  <a:srgbClr val="ffffff"/>
                </a:solidFill>
                <a:latin typeface="Quattrocento Sans"/>
                <a:ea typeface="Quattrocento Sans"/>
              </a:rPr>
              <a:t>2cm"——</a:t>
            </a:r>
            <a:r>
              <a:rPr b="0" lang="zh-CN" sz="1500" spc="-1" strike="noStrike">
                <a:solidFill>
                  <a:srgbClr val="ffffff"/>
                </a:solidFill>
                <a:latin typeface="Quattrocento Sans"/>
                <a:ea typeface="Quattrocento Sans"/>
              </a:rPr>
              <a:t>对精细操作（插销、倒水）至关重要。</a:t>
            </a:r>
            <a:endParaRPr b="0" lang="en-US" sz="1500" spc="-1" strike="noStrike">
              <a:latin typeface="Arial"/>
            </a:endParaRPr>
          </a:p>
        </p:txBody>
      </p:sp>
    </p:spTree>
  </p:cSld>
  <p:transition>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553" name="Shape 82"/>
          <p:cNvSpPr/>
          <p:nvPr/>
        </p:nvSpPr>
        <p:spPr>
          <a:xfrm>
            <a:off x="0" y="0"/>
            <a:ext cx="2285640" cy="9143640"/>
          </a:xfrm>
          <a:prstGeom prst="rect">
            <a:avLst/>
          </a:prstGeom>
          <a:solidFill>
            <a:srgbClr val="004060"/>
          </a:solidFill>
          <a:ln w="0">
            <a:noFill/>
          </a:ln>
        </p:spPr>
        <p:style>
          <a:lnRef idx="0"/>
          <a:fillRef idx="0"/>
          <a:effectRef idx="0"/>
          <a:fontRef idx="minor"/>
        </p:style>
      </p:sp>
      <p:sp>
        <p:nvSpPr>
          <p:cNvPr id="554" name="Shape 83"/>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555" name="Shape 84"/>
          <p:cNvSpPr/>
          <p:nvPr/>
        </p:nvSpPr>
        <p:spPr>
          <a:xfrm>
            <a:off x="0" y="5689440"/>
            <a:ext cx="2285640" cy="1168200"/>
          </a:xfrm>
          <a:prstGeom prst="rect">
            <a:avLst/>
          </a:prstGeom>
          <a:solidFill>
            <a:srgbClr val="005c82"/>
          </a:solidFill>
          <a:ln w="0">
            <a:noFill/>
          </a:ln>
        </p:spPr>
        <p:style>
          <a:lnRef idx="0"/>
          <a:fillRef idx="0"/>
          <a:effectRef idx="0"/>
          <a:fontRef idx="minor"/>
        </p:style>
      </p:sp>
      <p:sp>
        <p:nvSpPr>
          <p:cNvPr id="556" name="Text 101"/>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557" name="Text 102"/>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558" name="Text 103"/>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559" name="Text 104"/>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560" name="Text 105"/>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800" spc="-1" strike="noStrike">
                <a:solidFill>
                  <a:srgbClr val="ffffff"/>
                </a:solidFill>
                <a:latin typeface="Quattrocento Sans"/>
                <a:ea typeface="Quattrocento Sans"/>
              </a:rPr>
              <a:t>05 V-JEPA 2.1</a:t>
            </a:r>
            <a:endParaRPr b="0" lang="en-US" sz="1800" spc="-1" strike="noStrike">
              <a:latin typeface="Arial"/>
            </a:endParaRPr>
          </a:p>
        </p:txBody>
      </p:sp>
      <p:sp>
        <p:nvSpPr>
          <p:cNvPr id="561" name="Shape 85"/>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562" name="Shape 86"/>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563" name="Text 106"/>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en-US" sz="1400" spc="-1" strike="noStrike">
                <a:solidFill>
                  <a:srgbClr val="005c82"/>
                </a:solidFill>
                <a:latin typeface="Quattrocento Sans"/>
                <a:ea typeface="Quattrocento Sans"/>
              </a:rPr>
              <a:t>05 V-JEPA 2.1</a:t>
            </a:r>
            <a:r>
              <a:rPr b="0" lang="zh-CN" sz="1400" spc="-1" strike="noStrike">
                <a:solidFill>
                  <a:srgbClr val="005c82"/>
                </a:solidFill>
                <a:latin typeface="Quattrocento Sans"/>
                <a:ea typeface="Quattrocento Sans"/>
              </a:rPr>
              <a:t>　›　</a:t>
            </a:r>
            <a:r>
              <a:rPr b="0" lang="en-US" sz="1400" spc="-1" strike="noStrike">
                <a:solidFill>
                  <a:srgbClr val="005c82"/>
                </a:solidFill>
                <a:latin typeface="Quattrocento Sans"/>
                <a:ea typeface="Quattrocento Sans"/>
              </a:rPr>
              <a:t>5.1 </a:t>
            </a:r>
            <a:r>
              <a:rPr b="0" lang="zh-CN" sz="1400" spc="-1" strike="noStrike">
                <a:solidFill>
                  <a:srgbClr val="005c82"/>
                </a:solidFill>
                <a:latin typeface="Quattrocento Sans"/>
                <a:ea typeface="Quattrocento Sans"/>
              </a:rPr>
              <a:t>四项升级</a:t>
            </a:r>
            <a:endParaRPr b="0" lang="en-US" sz="1400" spc="-1" strike="noStrike">
              <a:latin typeface="Arial"/>
            </a:endParaRPr>
          </a:p>
        </p:txBody>
      </p:sp>
      <p:sp>
        <p:nvSpPr>
          <p:cNvPr id="564" name="Text 107"/>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16</a:t>
            </a:r>
            <a:endParaRPr b="0" lang="en-US" sz="1400" spc="-1" strike="noStrike">
              <a:latin typeface="Arial"/>
            </a:endParaRPr>
          </a:p>
        </p:txBody>
      </p:sp>
      <p:sp>
        <p:nvSpPr>
          <p:cNvPr id="565" name="Text 108"/>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四项升级：全局语义 → </a:t>
            </a:r>
            <a:r>
              <a:rPr b="1" lang="zh-CN" sz="2400" spc="-1" strike="noStrike">
                <a:solidFill>
                  <a:srgbClr val="005c82"/>
                </a:solidFill>
                <a:latin typeface="Quattrocento Sans"/>
                <a:ea typeface="Quattrocento Sans"/>
              </a:rPr>
              <a:t>密集特征</a:t>
            </a:r>
            <a:endParaRPr b="0" lang="en-US" sz="2400" spc="-1" strike="noStrike">
              <a:latin typeface="Arial"/>
            </a:endParaRPr>
          </a:p>
        </p:txBody>
      </p:sp>
      <p:sp>
        <p:nvSpPr>
          <p:cNvPr id="566" name="Shape 87"/>
          <p:cNvSpPr/>
          <p:nvPr/>
        </p:nvSpPr>
        <p:spPr>
          <a:xfrm>
            <a:off x="2540160" y="1397160"/>
            <a:ext cx="13207680" cy="12240"/>
          </a:xfrm>
          <a:prstGeom prst="rect">
            <a:avLst/>
          </a:prstGeom>
          <a:solidFill>
            <a:srgbClr val="b0bec5"/>
          </a:solidFill>
          <a:ln w="0">
            <a:noFill/>
          </a:ln>
        </p:spPr>
        <p:style>
          <a:lnRef idx="0"/>
          <a:fillRef idx="0"/>
          <a:effectRef idx="0"/>
          <a:fontRef idx="minor"/>
        </p:style>
      </p:sp>
      <p:pic>
        <p:nvPicPr>
          <p:cNvPr id="567" name="" descr=""/>
          <p:cNvPicPr/>
          <p:nvPr/>
        </p:nvPicPr>
        <p:blipFill>
          <a:blip r:embed="rId1"/>
          <a:stretch/>
        </p:blipFill>
        <p:spPr>
          <a:xfrm>
            <a:off x="2743200" y="1600200"/>
            <a:ext cx="13196160" cy="5715000"/>
          </a:xfrm>
          <a:prstGeom prst="rect">
            <a:avLst/>
          </a:prstGeom>
          <a:ln w="0">
            <a:noFill/>
          </a:ln>
        </p:spPr>
      </p:pic>
      <p:pic>
        <p:nvPicPr>
          <p:cNvPr id="568" name="" descr=""/>
          <p:cNvPicPr/>
          <p:nvPr/>
        </p:nvPicPr>
        <p:blipFill>
          <a:blip r:embed="rId2"/>
          <a:stretch/>
        </p:blipFill>
        <p:spPr>
          <a:xfrm>
            <a:off x="2886480" y="7344000"/>
            <a:ext cx="5858640" cy="1800000"/>
          </a:xfrm>
          <a:prstGeom prst="rect">
            <a:avLst/>
          </a:prstGeom>
          <a:ln w="0">
            <a:noFill/>
          </a:ln>
        </p:spPr>
      </p:pic>
    </p:spTree>
  </p:cSld>
  <p:transition>
    <p:fad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569" name="Shape 0"/>
          <p:cNvSpPr/>
          <p:nvPr/>
        </p:nvSpPr>
        <p:spPr>
          <a:xfrm>
            <a:off x="0" y="0"/>
            <a:ext cx="2285640" cy="9143640"/>
          </a:xfrm>
          <a:prstGeom prst="rect">
            <a:avLst/>
          </a:prstGeom>
          <a:solidFill>
            <a:srgbClr val="004060"/>
          </a:solidFill>
          <a:ln w="0">
            <a:noFill/>
          </a:ln>
        </p:spPr>
        <p:style>
          <a:lnRef idx="0"/>
          <a:fillRef idx="0"/>
          <a:effectRef idx="0"/>
          <a:fontRef idx="minor"/>
        </p:style>
      </p:sp>
      <p:sp>
        <p:nvSpPr>
          <p:cNvPr id="570" name="Shape 1"/>
          <p:cNvSpPr/>
          <p:nvPr/>
        </p:nvSpPr>
        <p:spPr>
          <a:xfrm>
            <a:off x="177840" y="177840"/>
            <a:ext cx="456840" cy="456840"/>
          </a:xfrm>
          <a:prstGeom prst="ellipse">
            <a:avLst/>
          </a:prstGeom>
          <a:solidFill>
            <a:srgbClr val="ffffff">
              <a:alpha val="13000"/>
            </a:srgbClr>
          </a:solidFill>
          <a:ln w="12600">
            <a:solidFill>
              <a:srgbClr val="00acc1"/>
            </a:solidFill>
            <a:round/>
          </a:ln>
        </p:spPr>
        <p:style>
          <a:lnRef idx="0"/>
          <a:fillRef idx="0"/>
          <a:effectRef idx="0"/>
          <a:fontRef idx="minor"/>
        </p:style>
      </p:sp>
      <p:sp>
        <p:nvSpPr>
          <p:cNvPr id="571" name="Shape 2"/>
          <p:cNvSpPr/>
          <p:nvPr/>
        </p:nvSpPr>
        <p:spPr>
          <a:xfrm>
            <a:off x="0" y="6858000"/>
            <a:ext cx="2285640" cy="1168200"/>
          </a:xfrm>
          <a:prstGeom prst="rect">
            <a:avLst/>
          </a:prstGeom>
          <a:solidFill>
            <a:srgbClr val="005c82"/>
          </a:solidFill>
          <a:ln w="0">
            <a:noFill/>
          </a:ln>
        </p:spPr>
        <p:style>
          <a:lnRef idx="0"/>
          <a:fillRef idx="0"/>
          <a:effectRef idx="0"/>
          <a:fontRef idx="minor"/>
        </p:style>
      </p:sp>
      <p:sp>
        <p:nvSpPr>
          <p:cNvPr id="572" name="Text 3"/>
          <p:cNvSpPr/>
          <p:nvPr/>
        </p:nvSpPr>
        <p:spPr>
          <a:xfrm>
            <a:off x="101520" y="101592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01 WAM</a:t>
            </a:r>
            <a:r>
              <a:rPr b="0" lang="zh-CN" sz="1600" spc="-1" strike="noStrike">
                <a:solidFill>
                  <a:srgbClr val="ffffff"/>
                </a:solidFill>
                <a:latin typeface="Quattrocento Sans"/>
                <a:ea typeface="Quattrocento Sans"/>
              </a:rPr>
              <a:t>概述</a:t>
            </a:r>
            <a:endParaRPr b="0" lang="en-US" sz="1600" spc="-1" strike="noStrike">
              <a:latin typeface="Arial"/>
            </a:endParaRPr>
          </a:p>
        </p:txBody>
      </p:sp>
      <p:sp>
        <p:nvSpPr>
          <p:cNvPr id="573" name="Text 4"/>
          <p:cNvSpPr/>
          <p:nvPr/>
        </p:nvSpPr>
        <p:spPr>
          <a:xfrm>
            <a:off x="101520" y="21844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02 JEPA</a:t>
            </a:r>
            <a:r>
              <a:rPr b="0" lang="zh-CN" sz="1600" spc="-1" strike="noStrike">
                <a:solidFill>
                  <a:srgbClr val="ffffff"/>
                </a:solidFill>
                <a:latin typeface="Quattrocento Sans"/>
                <a:ea typeface="Quattrocento Sans"/>
              </a:rPr>
              <a:t>蓝图</a:t>
            </a:r>
            <a:endParaRPr b="0" lang="en-US" sz="1600" spc="-1" strike="noStrike">
              <a:latin typeface="Arial"/>
            </a:endParaRPr>
          </a:p>
        </p:txBody>
      </p:sp>
      <p:sp>
        <p:nvSpPr>
          <p:cNvPr id="574" name="Text 5"/>
          <p:cNvSpPr/>
          <p:nvPr/>
        </p:nvSpPr>
        <p:spPr>
          <a:xfrm>
            <a:off x="101520" y="335268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03 LeJEPA</a:t>
            </a:r>
            <a:endParaRPr b="0" lang="en-US" sz="1600" spc="-1" strike="noStrike">
              <a:latin typeface="Arial"/>
            </a:endParaRPr>
          </a:p>
        </p:txBody>
      </p:sp>
      <p:sp>
        <p:nvSpPr>
          <p:cNvPr id="575" name="Text 6"/>
          <p:cNvSpPr/>
          <p:nvPr/>
        </p:nvSpPr>
        <p:spPr>
          <a:xfrm>
            <a:off x="101520" y="45212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04 V-JEPA 2</a:t>
            </a:r>
            <a:endParaRPr b="0" lang="en-US" sz="1600" spc="-1" strike="noStrike">
              <a:latin typeface="Arial"/>
            </a:endParaRPr>
          </a:p>
        </p:txBody>
      </p:sp>
      <p:sp>
        <p:nvSpPr>
          <p:cNvPr id="576" name="Text 7"/>
          <p:cNvSpPr/>
          <p:nvPr/>
        </p:nvSpPr>
        <p:spPr>
          <a:xfrm>
            <a:off x="101520" y="5689440"/>
            <a:ext cx="2082600" cy="116820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0" lang="en-US" sz="1600" spc="-1" strike="noStrike">
                <a:solidFill>
                  <a:srgbClr val="ffffff"/>
                </a:solidFill>
                <a:latin typeface="Quattrocento Sans"/>
                <a:ea typeface="Quattrocento Sans"/>
              </a:rPr>
              <a:t>05 V-JEPA 2.1</a:t>
            </a:r>
            <a:endParaRPr b="0" lang="en-US" sz="1600" spc="-1" strike="noStrike">
              <a:latin typeface="Arial"/>
            </a:endParaRPr>
          </a:p>
        </p:txBody>
      </p:sp>
      <p:sp>
        <p:nvSpPr>
          <p:cNvPr id="577" name="Shape 8"/>
          <p:cNvSpPr/>
          <p:nvPr/>
        </p:nvSpPr>
        <p:spPr>
          <a:xfrm>
            <a:off x="1066680" y="7493040"/>
            <a:ext cx="151920" cy="151920"/>
          </a:xfrm>
          <a:prstGeom prst="diamond">
            <a:avLst/>
          </a:prstGeom>
          <a:solidFill>
            <a:srgbClr val="00acc1"/>
          </a:solidFill>
          <a:ln w="0">
            <a:noFill/>
          </a:ln>
        </p:spPr>
        <p:style>
          <a:lnRef idx="0"/>
          <a:fillRef idx="0"/>
          <a:effectRef idx="0"/>
          <a:fontRef idx="minor"/>
        </p:style>
      </p:sp>
      <p:sp>
        <p:nvSpPr>
          <p:cNvPr id="578" name="Shape 9"/>
          <p:cNvSpPr/>
          <p:nvPr/>
        </p:nvSpPr>
        <p:spPr>
          <a:xfrm>
            <a:off x="2286000" y="0"/>
            <a:ext cx="13969800" cy="634680"/>
          </a:xfrm>
          <a:prstGeom prst="rect">
            <a:avLst/>
          </a:prstGeom>
          <a:solidFill>
            <a:srgbClr val="e0f4fa"/>
          </a:solidFill>
          <a:ln w="0">
            <a:noFill/>
          </a:ln>
        </p:spPr>
        <p:style>
          <a:lnRef idx="0"/>
          <a:fillRef idx="0"/>
          <a:effectRef idx="0"/>
          <a:fontRef idx="minor"/>
        </p:style>
      </p:sp>
      <p:sp>
        <p:nvSpPr>
          <p:cNvPr id="579" name="Text 10"/>
          <p:cNvSpPr/>
          <p:nvPr/>
        </p:nvSpPr>
        <p:spPr>
          <a:xfrm>
            <a:off x="2540160" y="0"/>
            <a:ext cx="12826800" cy="63468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zh-CN" sz="1400" spc="-1" strike="noStrike">
                <a:solidFill>
                  <a:srgbClr val="005c82"/>
                </a:solidFill>
                <a:latin typeface="Quattrocento Sans"/>
                <a:ea typeface="Quattrocento Sans"/>
              </a:rPr>
              <a:t>总结</a:t>
            </a:r>
            <a:r>
              <a:rPr b="0" lang="zh-CN" sz="1400" spc="-1" strike="noStrike">
                <a:solidFill>
                  <a:srgbClr val="005c82"/>
                </a:solidFill>
                <a:latin typeface="Quattrocento Sans"/>
                <a:ea typeface="Quattrocento Sans"/>
              </a:rPr>
              <a:t>　›　第一周预研总结与后续路线</a:t>
            </a:r>
            <a:endParaRPr b="0" lang="en-US" sz="1400" spc="-1" strike="noStrike">
              <a:latin typeface="Arial"/>
            </a:endParaRPr>
          </a:p>
        </p:txBody>
      </p:sp>
      <p:sp>
        <p:nvSpPr>
          <p:cNvPr id="580" name="Text 11"/>
          <p:cNvSpPr/>
          <p:nvPr/>
        </p:nvSpPr>
        <p:spPr>
          <a:xfrm>
            <a:off x="15621120" y="0"/>
            <a:ext cx="634680" cy="634680"/>
          </a:xfrm>
          <a:prstGeom prst="rect">
            <a:avLst/>
          </a:prstGeom>
          <a:noFill/>
          <a:ln w="0">
            <a:noFill/>
          </a:ln>
        </p:spPr>
        <p:style>
          <a:lnRef idx="0"/>
          <a:fillRef idx="0"/>
          <a:effectRef idx="0"/>
          <a:fontRef idx="minor"/>
        </p:style>
        <p:txBody>
          <a:bodyPr wrap="none" lIns="0" rIns="0" tIns="0" bIns="0" anchor="ctr">
            <a:noAutofit/>
          </a:bodyPr>
          <a:p>
            <a:pPr algn="r">
              <a:lnSpc>
                <a:spcPct val="120000"/>
              </a:lnSpc>
              <a:buNone/>
            </a:pPr>
            <a:r>
              <a:rPr b="0" lang="en-US" sz="1400" spc="-1" strike="noStrike">
                <a:solidFill>
                  <a:srgbClr val="005c82"/>
                </a:solidFill>
                <a:latin typeface="Quattrocento Sans"/>
                <a:ea typeface="Quattrocento Sans"/>
              </a:rPr>
              <a:t>17</a:t>
            </a:r>
            <a:endParaRPr b="0" lang="en-US" sz="1400" spc="-1" strike="noStrike">
              <a:latin typeface="Arial"/>
            </a:endParaRPr>
          </a:p>
        </p:txBody>
      </p:sp>
      <p:sp>
        <p:nvSpPr>
          <p:cNvPr id="581" name="Text 12"/>
          <p:cNvSpPr/>
          <p:nvPr/>
        </p:nvSpPr>
        <p:spPr>
          <a:xfrm>
            <a:off x="2540160" y="863640"/>
            <a:ext cx="1320768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400" spc="-1" strike="noStrike">
                <a:solidFill>
                  <a:srgbClr val="005c82"/>
                </a:solidFill>
                <a:latin typeface="Quattrocento Sans"/>
                <a:ea typeface="Quattrocento Sans"/>
              </a:rPr>
              <a:t>第一周预研总结与后续路线</a:t>
            </a:r>
            <a:endParaRPr b="0" lang="en-US" sz="2400" spc="-1" strike="noStrike">
              <a:latin typeface="Arial"/>
            </a:endParaRPr>
          </a:p>
        </p:txBody>
      </p:sp>
      <p:sp>
        <p:nvSpPr>
          <p:cNvPr id="582" name="Shape 13"/>
          <p:cNvSpPr/>
          <p:nvPr/>
        </p:nvSpPr>
        <p:spPr>
          <a:xfrm>
            <a:off x="2540160" y="1397160"/>
            <a:ext cx="13207680" cy="12240"/>
          </a:xfrm>
          <a:prstGeom prst="rect">
            <a:avLst/>
          </a:prstGeom>
          <a:solidFill>
            <a:srgbClr val="b0bec5"/>
          </a:solidFill>
          <a:ln w="0">
            <a:noFill/>
          </a:ln>
        </p:spPr>
        <p:style>
          <a:lnRef idx="0"/>
          <a:fillRef idx="0"/>
          <a:effectRef idx="0"/>
          <a:fontRef idx="minor"/>
        </p:style>
      </p:sp>
      <p:sp>
        <p:nvSpPr>
          <p:cNvPr id="583" name="Text 14"/>
          <p:cNvSpPr/>
          <p:nvPr/>
        </p:nvSpPr>
        <p:spPr>
          <a:xfrm>
            <a:off x="2540160" y="152388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五篇论文的核心脉络</a:t>
            </a:r>
            <a:endParaRPr b="0" lang="en-US" sz="2000" spc="-1" strike="noStrike">
              <a:latin typeface="Arial"/>
            </a:endParaRPr>
          </a:p>
        </p:txBody>
      </p:sp>
      <p:sp>
        <p:nvSpPr>
          <p:cNvPr id="584" name="Shape 15"/>
          <p:cNvSpPr/>
          <p:nvPr/>
        </p:nvSpPr>
        <p:spPr>
          <a:xfrm>
            <a:off x="2540160" y="1981080"/>
            <a:ext cx="2285640" cy="761760"/>
          </a:xfrm>
          <a:prstGeom prst="roundRect">
            <a:avLst>
              <a:gd name="adj" fmla="val 8000"/>
            </a:avLst>
          </a:prstGeom>
          <a:solidFill>
            <a:srgbClr val="005c82"/>
          </a:solidFill>
          <a:ln w="0">
            <a:noFill/>
          </a:ln>
        </p:spPr>
        <p:style>
          <a:lnRef idx="0"/>
          <a:fillRef idx="0"/>
          <a:effectRef idx="0"/>
          <a:fontRef idx="minor"/>
        </p:style>
      </p:sp>
      <p:sp>
        <p:nvSpPr>
          <p:cNvPr id="585" name="Text 16"/>
          <p:cNvSpPr/>
          <p:nvPr/>
        </p:nvSpPr>
        <p:spPr>
          <a:xfrm>
            <a:off x="2540160" y="1981080"/>
            <a:ext cx="228564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WAM</a:t>
            </a:r>
            <a:r>
              <a:rPr b="1" lang="zh-CN" sz="1300" spc="-1" strike="noStrike">
                <a:solidFill>
                  <a:srgbClr val="ffffff"/>
                </a:solidFill>
                <a:latin typeface="Quattrocento Sans"/>
                <a:ea typeface="Quattrocento Sans"/>
              </a:rPr>
              <a:t>综述</a:t>
            </a:r>
            <a:endParaRPr b="0" lang="en-US" sz="1300" spc="-1" strike="noStrike">
              <a:latin typeface="Arial"/>
            </a:endParaRPr>
          </a:p>
          <a:p>
            <a:pPr algn="ctr">
              <a:lnSpc>
                <a:spcPct val="120000"/>
              </a:lnSpc>
              <a:buNone/>
            </a:pPr>
            <a:r>
              <a:rPr b="0" lang="zh-CN" sz="1300" spc="-1" strike="noStrike">
                <a:solidFill>
                  <a:srgbClr val="ffffff"/>
                </a:solidFill>
                <a:latin typeface="Quattrocento Sans"/>
                <a:ea typeface="Quattrocento Sans"/>
              </a:rPr>
              <a:t>方向地图</a:t>
            </a:r>
            <a:endParaRPr b="0" lang="en-US" sz="1300" spc="-1" strike="noStrike">
              <a:latin typeface="Arial"/>
            </a:endParaRPr>
          </a:p>
        </p:txBody>
      </p:sp>
      <p:sp>
        <p:nvSpPr>
          <p:cNvPr id="586" name="Shape 17"/>
          <p:cNvSpPr/>
          <p:nvPr/>
        </p:nvSpPr>
        <p:spPr>
          <a:xfrm>
            <a:off x="4927680" y="2235240"/>
            <a:ext cx="253800" cy="202680"/>
          </a:xfrm>
          <a:prstGeom prst="rightArrow">
            <a:avLst>
              <a:gd name="adj1" fmla="val 50000"/>
              <a:gd name="adj2" fmla="val 50000"/>
            </a:avLst>
          </a:prstGeom>
          <a:solidFill>
            <a:srgbClr val="005c82"/>
          </a:solidFill>
          <a:ln w="0">
            <a:noFill/>
          </a:ln>
        </p:spPr>
        <p:style>
          <a:lnRef idx="0"/>
          <a:fillRef idx="0"/>
          <a:effectRef idx="0"/>
          <a:fontRef idx="minor"/>
        </p:style>
      </p:sp>
      <p:sp>
        <p:nvSpPr>
          <p:cNvPr id="587" name="Shape 18"/>
          <p:cNvSpPr/>
          <p:nvPr/>
        </p:nvSpPr>
        <p:spPr>
          <a:xfrm>
            <a:off x="5283360" y="1981080"/>
            <a:ext cx="2285640" cy="761760"/>
          </a:xfrm>
          <a:prstGeom prst="roundRect">
            <a:avLst>
              <a:gd name="adj" fmla="val 8000"/>
            </a:avLst>
          </a:prstGeom>
          <a:solidFill>
            <a:srgbClr val="007aa8"/>
          </a:solidFill>
          <a:ln w="0">
            <a:noFill/>
          </a:ln>
        </p:spPr>
        <p:style>
          <a:lnRef idx="0"/>
          <a:fillRef idx="0"/>
          <a:effectRef idx="0"/>
          <a:fontRef idx="minor"/>
        </p:style>
      </p:sp>
      <p:sp>
        <p:nvSpPr>
          <p:cNvPr id="588" name="Text 19"/>
          <p:cNvSpPr/>
          <p:nvPr/>
        </p:nvSpPr>
        <p:spPr>
          <a:xfrm>
            <a:off x="5283360" y="1981080"/>
            <a:ext cx="228564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PathToAMI</a:t>
            </a:r>
            <a:endParaRPr b="0" lang="en-US" sz="1300" spc="-1" strike="noStrike">
              <a:latin typeface="Arial"/>
            </a:endParaRPr>
          </a:p>
          <a:p>
            <a:pPr algn="ctr">
              <a:lnSpc>
                <a:spcPct val="120000"/>
              </a:lnSpc>
              <a:buNone/>
            </a:pPr>
            <a:r>
              <a:rPr b="0" lang="zh-CN" sz="1300" spc="-1" strike="noStrike">
                <a:solidFill>
                  <a:srgbClr val="ffffff"/>
                </a:solidFill>
                <a:latin typeface="Quattrocento Sans"/>
                <a:ea typeface="Quattrocento Sans"/>
              </a:rPr>
              <a:t>认知架构蓝图</a:t>
            </a:r>
            <a:endParaRPr b="0" lang="en-US" sz="1300" spc="-1" strike="noStrike">
              <a:latin typeface="Arial"/>
            </a:endParaRPr>
          </a:p>
        </p:txBody>
      </p:sp>
      <p:sp>
        <p:nvSpPr>
          <p:cNvPr id="589" name="Shape 20"/>
          <p:cNvSpPr/>
          <p:nvPr/>
        </p:nvSpPr>
        <p:spPr>
          <a:xfrm>
            <a:off x="7670880" y="2235240"/>
            <a:ext cx="253800" cy="202680"/>
          </a:xfrm>
          <a:prstGeom prst="rightArrow">
            <a:avLst>
              <a:gd name="adj1" fmla="val 50000"/>
              <a:gd name="adj2" fmla="val 50000"/>
            </a:avLst>
          </a:prstGeom>
          <a:solidFill>
            <a:srgbClr val="007aa8"/>
          </a:solidFill>
          <a:ln w="0">
            <a:noFill/>
          </a:ln>
        </p:spPr>
        <p:style>
          <a:lnRef idx="0"/>
          <a:fillRef idx="0"/>
          <a:effectRef idx="0"/>
          <a:fontRef idx="minor"/>
        </p:style>
      </p:sp>
      <p:sp>
        <p:nvSpPr>
          <p:cNvPr id="590" name="Shape 21"/>
          <p:cNvSpPr/>
          <p:nvPr/>
        </p:nvSpPr>
        <p:spPr>
          <a:xfrm>
            <a:off x="8026560" y="1981080"/>
            <a:ext cx="2285640" cy="761760"/>
          </a:xfrm>
          <a:prstGeom prst="roundRect">
            <a:avLst>
              <a:gd name="adj" fmla="val 8000"/>
            </a:avLst>
          </a:prstGeom>
          <a:solidFill>
            <a:srgbClr val="00acc1"/>
          </a:solidFill>
          <a:ln w="0">
            <a:noFill/>
          </a:ln>
        </p:spPr>
        <p:style>
          <a:lnRef idx="0"/>
          <a:fillRef idx="0"/>
          <a:effectRef idx="0"/>
          <a:fontRef idx="minor"/>
        </p:style>
      </p:sp>
      <p:sp>
        <p:nvSpPr>
          <p:cNvPr id="591" name="Text 22"/>
          <p:cNvSpPr/>
          <p:nvPr/>
        </p:nvSpPr>
        <p:spPr>
          <a:xfrm>
            <a:off x="8026560" y="1981080"/>
            <a:ext cx="228564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LeJEPA</a:t>
            </a:r>
            <a:endParaRPr b="0" lang="en-US" sz="1300" spc="-1" strike="noStrike">
              <a:latin typeface="Arial"/>
            </a:endParaRPr>
          </a:p>
          <a:p>
            <a:pPr algn="ctr">
              <a:lnSpc>
                <a:spcPct val="120000"/>
              </a:lnSpc>
              <a:buNone/>
            </a:pPr>
            <a:r>
              <a:rPr b="0" lang="zh-CN" sz="1300" spc="-1" strike="noStrike">
                <a:solidFill>
                  <a:srgbClr val="ffffff"/>
                </a:solidFill>
                <a:latin typeface="Quattrocento Sans"/>
                <a:ea typeface="Quattrocento Sans"/>
              </a:rPr>
              <a:t>训练理论基础</a:t>
            </a:r>
            <a:endParaRPr b="0" lang="en-US" sz="1300" spc="-1" strike="noStrike">
              <a:latin typeface="Arial"/>
            </a:endParaRPr>
          </a:p>
        </p:txBody>
      </p:sp>
      <p:sp>
        <p:nvSpPr>
          <p:cNvPr id="592" name="Shape 23"/>
          <p:cNvSpPr/>
          <p:nvPr/>
        </p:nvSpPr>
        <p:spPr>
          <a:xfrm>
            <a:off x="10414080" y="2235240"/>
            <a:ext cx="253800" cy="202680"/>
          </a:xfrm>
          <a:prstGeom prst="rightArrow">
            <a:avLst>
              <a:gd name="adj1" fmla="val 50000"/>
              <a:gd name="adj2" fmla="val 50000"/>
            </a:avLst>
          </a:prstGeom>
          <a:solidFill>
            <a:srgbClr val="00acc1"/>
          </a:solidFill>
          <a:ln w="0">
            <a:noFill/>
          </a:ln>
        </p:spPr>
        <p:style>
          <a:lnRef idx="0"/>
          <a:fillRef idx="0"/>
          <a:effectRef idx="0"/>
          <a:fontRef idx="minor"/>
        </p:style>
      </p:sp>
      <p:sp>
        <p:nvSpPr>
          <p:cNvPr id="593" name="Shape 24"/>
          <p:cNvSpPr/>
          <p:nvPr/>
        </p:nvSpPr>
        <p:spPr>
          <a:xfrm>
            <a:off x="10769760" y="1981080"/>
            <a:ext cx="2285640" cy="761760"/>
          </a:xfrm>
          <a:prstGeom prst="roundRect">
            <a:avLst>
              <a:gd name="adj" fmla="val 8000"/>
            </a:avLst>
          </a:prstGeom>
          <a:solidFill>
            <a:srgbClr val="007aa8"/>
          </a:solidFill>
          <a:ln w="0">
            <a:noFill/>
          </a:ln>
        </p:spPr>
        <p:style>
          <a:lnRef idx="0"/>
          <a:fillRef idx="0"/>
          <a:effectRef idx="0"/>
          <a:fontRef idx="minor"/>
        </p:style>
      </p:sp>
      <p:sp>
        <p:nvSpPr>
          <p:cNvPr id="594" name="Text 25"/>
          <p:cNvSpPr/>
          <p:nvPr/>
        </p:nvSpPr>
        <p:spPr>
          <a:xfrm>
            <a:off x="10769760" y="1981080"/>
            <a:ext cx="228564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V-JEPA 2</a:t>
            </a:r>
            <a:endParaRPr b="0" lang="en-US" sz="1300" spc="-1" strike="noStrike">
              <a:latin typeface="Arial"/>
            </a:endParaRPr>
          </a:p>
          <a:p>
            <a:pPr algn="ctr">
              <a:lnSpc>
                <a:spcPct val="120000"/>
              </a:lnSpc>
              <a:buNone/>
            </a:pPr>
            <a:r>
              <a:rPr b="0" lang="zh-CN" sz="1300" spc="-1" strike="noStrike">
                <a:solidFill>
                  <a:srgbClr val="ffffff"/>
                </a:solidFill>
                <a:latin typeface="Quattrocento Sans"/>
                <a:ea typeface="Quattrocento Sans"/>
              </a:rPr>
              <a:t>视频→机器人</a:t>
            </a:r>
            <a:endParaRPr b="0" lang="en-US" sz="1300" spc="-1" strike="noStrike">
              <a:latin typeface="Arial"/>
            </a:endParaRPr>
          </a:p>
        </p:txBody>
      </p:sp>
      <p:sp>
        <p:nvSpPr>
          <p:cNvPr id="595" name="Shape 26"/>
          <p:cNvSpPr/>
          <p:nvPr/>
        </p:nvSpPr>
        <p:spPr>
          <a:xfrm>
            <a:off x="13157280" y="2235240"/>
            <a:ext cx="253800" cy="202680"/>
          </a:xfrm>
          <a:prstGeom prst="rightArrow">
            <a:avLst>
              <a:gd name="adj1" fmla="val 50000"/>
              <a:gd name="adj2" fmla="val 50000"/>
            </a:avLst>
          </a:prstGeom>
          <a:solidFill>
            <a:srgbClr val="007aa8"/>
          </a:solidFill>
          <a:ln w="0">
            <a:noFill/>
          </a:ln>
        </p:spPr>
        <p:style>
          <a:lnRef idx="0"/>
          <a:fillRef idx="0"/>
          <a:effectRef idx="0"/>
          <a:fontRef idx="minor"/>
        </p:style>
      </p:sp>
      <p:sp>
        <p:nvSpPr>
          <p:cNvPr id="596" name="Shape 27"/>
          <p:cNvSpPr/>
          <p:nvPr/>
        </p:nvSpPr>
        <p:spPr>
          <a:xfrm>
            <a:off x="13512960" y="1981080"/>
            <a:ext cx="2234880" cy="761760"/>
          </a:xfrm>
          <a:prstGeom prst="roundRect">
            <a:avLst>
              <a:gd name="adj" fmla="val 8000"/>
            </a:avLst>
          </a:prstGeom>
          <a:solidFill>
            <a:srgbClr val="004060"/>
          </a:solidFill>
          <a:ln w="0">
            <a:noFill/>
          </a:ln>
        </p:spPr>
        <p:style>
          <a:lnRef idx="0"/>
          <a:fillRef idx="0"/>
          <a:effectRef idx="0"/>
          <a:fontRef idx="minor"/>
        </p:style>
      </p:sp>
      <p:sp>
        <p:nvSpPr>
          <p:cNvPr id="597" name="Text 28"/>
          <p:cNvSpPr/>
          <p:nvPr/>
        </p:nvSpPr>
        <p:spPr>
          <a:xfrm>
            <a:off x="13512960" y="1981080"/>
            <a:ext cx="2234880" cy="76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00" spc="-1" strike="noStrike">
                <a:solidFill>
                  <a:srgbClr val="ffffff"/>
                </a:solidFill>
                <a:latin typeface="Quattrocento Sans"/>
                <a:ea typeface="Quattrocento Sans"/>
              </a:rPr>
              <a:t>V-JEPA 2.1</a:t>
            </a:r>
            <a:endParaRPr b="0" lang="en-US" sz="1300" spc="-1" strike="noStrike">
              <a:latin typeface="Arial"/>
            </a:endParaRPr>
          </a:p>
          <a:p>
            <a:pPr algn="ctr">
              <a:lnSpc>
                <a:spcPct val="120000"/>
              </a:lnSpc>
              <a:buNone/>
            </a:pPr>
            <a:r>
              <a:rPr b="0" lang="zh-CN" sz="1300" spc="-1" strike="noStrike">
                <a:solidFill>
                  <a:srgbClr val="ffffff"/>
                </a:solidFill>
                <a:latin typeface="Quattrocento Sans"/>
                <a:ea typeface="Quattrocento Sans"/>
              </a:rPr>
              <a:t>密集特征升级</a:t>
            </a:r>
            <a:endParaRPr b="0" lang="en-US" sz="1300" spc="-1" strike="noStrike">
              <a:latin typeface="Arial"/>
            </a:endParaRPr>
          </a:p>
        </p:txBody>
      </p:sp>
      <p:sp>
        <p:nvSpPr>
          <p:cNvPr id="598" name="Text 29"/>
          <p:cNvSpPr/>
          <p:nvPr/>
        </p:nvSpPr>
        <p:spPr>
          <a:xfrm>
            <a:off x="2540160" y="299736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三个关键结论</a:t>
            </a:r>
            <a:endParaRPr b="0" lang="en-US" sz="2000" spc="-1" strike="noStrike">
              <a:latin typeface="Arial"/>
            </a:endParaRPr>
          </a:p>
        </p:txBody>
      </p:sp>
      <p:sp>
        <p:nvSpPr>
          <p:cNvPr id="599" name="Shape 30"/>
          <p:cNvSpPr/>
          <p:nvPr/>
        </p:nvSpPr>
        <p:spPr>
          <a:xfrm>
            <a:off x="2540160" y="3479760"/>
            <a:ext cx="177480" cy="177480"/>
          </a:xfrm>
          <a:prstGeom prst="diamond">
            <a:avLst/>
          </a:prstGeom>
          <a:solidFill>
            <a:srgbClr val="005c82"/>
          </a:solidFill>
          <a:ln w="0">
            <a:noFill/>
          </a:ln>
        </p:spPr>
        <p:style>
          <a:lnRef idx="0"/>
          <a:fillRef idx="0"/>
          <a:effectRef idx="0"/>
          <a:fontRef idx="minor"/>
        </p:style>
      </p:sp>
      <p:sp>
        <p:nvSpPr>
          <p:cNvPr id="600" name="Text 31"/>
          <p:cNvSpPr/>
          <p:nvPr/>
        </p:nvSpPr>
        <p:spPr>
          <a:xfrm>
            <a:off x="2870280" y="3403440"/>
            <a:ext cx="12877560" cy="78696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en-US" sz="1700" spc="-1" strike="noStrike">
                <a:solidFill>
                  <a:srgbClr val="333333"/>
                </a:solidFill>
                <a:latin typeface="Quattrocento Sans"/>
                <a:ea typeface="Quattrocento Sans"/>
              </a:rPr>
              <a:t>JEPA</a:t>
            </a:r>
            <a:r>
              <a:rPr b="1" lang="zh-CN" sz="1700" spc="-1" strike="noStrike">
                <a:solidFill>
                  <a:srgbClr val="333333"/>
                </a:solidFill>
                <a:latin typeface="Quattrocento Sans"/>
                <a:ea typeface="Quattrocento Sans"/>
              </a:rPr>
              <a:t>路线在</a:t>
            </a:r>
            <a:r>
              <a:rPr b="1" lang="en-US" sz="1700" spc="-1" strike="noStrike">
                <a:solidFill>
                  <a:srgbClr val="333333"/>
                </a:solidFill>
                <a:latin typeface="Quattrocento Sans"/>
                <a:ea typeface="Quattrocento Sans"/>
              </a:rPr>
              <a:t>WAM</a:t>
            </a:r>
            <a:r>
              <a:rPr b="1" lang="zh-CN" sz="1700" spc="-1" strike="noStrike">
                <a:solidFill>
                  <a:srgbClr val="333333"/>
                </a:solidFill>
                <a:latin typeface="Quattrocento Sans"/>
                <a:ea typeface="Quattrocento Sans"/>
              </a:rPr>
              <a:t>中天然占优</a:t>
            </a:r>
            <a:r>
              <a:rPr b="0" lang="zh-CN" sz="1700" spc="-1" strike="noStrike">
                <a:solidFill>
                  <a:srgbClr val="333333"/>
                </a:solidFill>
                <a:latin typeface="Quattrocento Sans"/>
                <a:ea typeface="Quattrocento Sans"/>
              </a:rPr>
              <a:t>：不生成像素的</a:t>
            </a:r>
            <a:r>
              <a:rPr b="0" lang="en-US" sz="1700" spc="-1" strike="noStrike">
                <a:solidFill>
                  <a:srgbClr val="333333"/>
                </a:solidFill>
                <a:latin typeface="Quattrocento Sans"/>
                <a:ea typeface="Quattrocento Sans"/>
              </a:rPr>
              <a:t>WAM</a:t>
            </a:r>
            <a:r>
              <a:rPr b="0" lang="zh-CN" sz="1700" spc="-1" strike="noStrike">
                <a:solidFill>
                  <a:srgbClr val="333333"/>
                </a:solidFill>
                <a:latin typeface="Quattrocento Sans"/>
                <a:ea typeface="Quattrocento Sans"/>
              </a:rPr>
              <a:t>在延迟和效率上天然有优势——</a:t>
            </a:r>
            <a:r>
              <a:rPr b="0" lang="en-US" sz="1700" spc="-1" strike="noStrike">
                <a:solidFill>
                  <a:srgbClr val="333333"/>
                </a:solidFill>
                <a:latin typeface="Quattrocento Sans"/>
                <a:ea typeface="Quattrocento Sans"/>
              </a:rPr>
              <a:t>LeCun 2022</a:t>
            </a:r>
            <a:r>
              <a:rPr b="0" lang="zh-CN" sz="1700" spc="-1" strike="noStrike">
                <a:solidFill>
                  <a:srgbClr val="333333"/>
                </a:solidFill>
                <a:latin typeface="Quattrocento Sans"/>
                <a:ea typeface="Quattrocento Sans"/>
              </a:rPr>
              <a:t>年就预见了这一点。</a:t>
            </a:r>
            <a:r>
              <a:rPr b="0" lang="en-US" sz="1700" spc="-1" strike="noStrike">
                <a:solidFill>
                  <a:srgbClr val="333333"/>
                </a:solidFill>
                <a:latin typeface="Quattrocento Sans"/>
                <a:ea typeface="Quattrocento Sans"/>
              </a:rPr>
              <a:t>V-JEPA 2-AC</a:t>
            </a:r>
            <a:r>
              <a:rPr b="0" lang="zh-CN" sz="1700" spc="-1" strike="noStrike">
                <a:solidFill>
                  <a:srgbClr val="333333"/>
                </a:solidFill>
                <a:latin typeface="Quattrocento Sans"/>
                <a:ea typeface="Quattrocento Sans"/>
              </a:rPr>
              <a:t>的</a:t>
            </a:r>
            <a:r>
              <a:rPr b="0" lang="en-US" sz="1700" spc="-1" strike="noStrike">
                <a:solidFill>
                  <a:srgbClr val="333333"/>
                </a:solidFill>
                <a:latin typeface="Quattrocento Sans"/>
                <a:ea typeface="Quattrocento Sans"/>
              </a:rPr>
              <a:t>MPC</a:t>
            </a:r>
            <a:r>
              <a:rPr b="0" lang="zh-CN" sz="1700" spc="-1" strike="noStrike">
                <a:solidFill>
                  <a:srgbClr val="333333"/>
                </a:solidFill>
                <a:latin typeface="Quattrocento Sans"/>
                <a:ea typeface="Quattrocento Sans"/>
              </a:rPr>
              <a:t>规划证明了这一点。</a:t>
            </a:r>
            <a:endParaRPr b="0" lang="en-US" sz="1700" spc="-1" strike="noStrike">
              <a:latin typeface="Arial"/>
            </a:endParaRPr>
          </a:p>
        </p:txBody>
      </p:sp>
      <p:sp>
        <p:nvSpPr>
          <p:cNvPr id="601" name="Shape 32"/>
          <p:cNvSpPr/>
          <p:nvPr/>
        </p:nvSpPr>
        <p:spPr>
          <a:xfrm>
            <a:off x="2540160" y="4241880"/>
            <a:ext cx="13207680" cy="12240"/>
          </a:xfrm>
          <a:prstGeom prst="rect">
            <a:avLst/>
          </a:prstGeom>
          <a:solidFill>
            <a:srgbClr val="e0f4fa"/>
          </a:solidFill>
          <a:ln w="0">
            <a:noFill/>
          </a:ln>
        </p:spPr>
        <p:style>
          <a:lnRef idx="0"/>
          <a:fillRef idx="0"/>
          <a:effectRef idx="0"/>
          <a:fontRef idx="minor"/>
        </p:style>
      </p:sp>
      <p:sp>
        <p:nvSpPr>
          <p:cNvPr id="602" name="Shape 33"/>
          <p:cNvSpPr/>
          <p:nvPr/>
        </p:nvSpPr>
        <p:spPr>
          <a:xfrm>
            <a:off x="2540160" y="4419720"/>
            <a:ext cx="177480" cy="177480"/>
          </a:xfrm>
          <a:prstGeom prst="diamond">
            <a:avLst/>
          </a:prstGeom>
          <a:solidFill>
            <a:srgbClr val="007aa8"/>
          </a:solidFill>
          <a:ln w="0">
            <a:noFill/>
          </a:ln>
        </p:spPr>
        <p:style>
          <a:lnRef idx="0"/>
          <a:fillRef idx="0"/>
          <a:effectRef idx="0"/>
          <a:fontRef idx="minor"/>
        </p:style>
      </p:sp>
      <p:sp>
        <p:nvSpPr>
          <p:cNvPr id="603" name="Text 34"/>
          <p:cNvSpPr/>
          <p:nvPr/>
        </p:nvSpPr>
        <p:spPr>
          <a:xfrm>
            <a:off x="2870280" y="4343400"/>
            <a:ext cx="12877560" cy="63468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700" spc="-1" strike="noStrike">
                <a:solidFill>
                  <a:srgbClr val="333333"/>
                </a:solidFill>
                <a:latin typeface="Quattrocento Sans"/>
                <a:ea typeface="Quattrocento Sans"/>
              </a:rPr>
              <a:t>世界模型质量比动作数据数量更重要</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V-JEPA 2</a:t>
            </a:r>
            <a:r>
              <a:rPr b="0" lang="zh-CN" sz="1700" spc="-1" strike="noStrike">
                <a:solidFill>
                  <a:srgbClr val="333333"/>
                </a:solidFill>
                <a:latin typeface="Quattrocento Sans"/>
                <a:ea typeface="Quattrocento Sans"/>
              </a:rPr>
              <a:t>用</a:t>
            </a:r>
            <a:r>
              <a:rPr b="0" lang="en-US" sz="1700" spc="-1" strike="noStrike">
                <a:solidFill>
                  <a:srgbClr val="333333"/>
                </a:solidFill>
                <a:latin typeface="Quattrocento Sans"/>
                <a:ea typeface="Quattrocento Sans"/>
              </a:rPr>
              <a:t>62</a:t>
            </a:r>
            <a:r>
              <a:rPr b="0" lang="zh-CN" sz="1700" spc="-1" strike="noStrike">
                <a:solidFill>
                  <a:srgbClr val="333333"/>
                </a:solidFill>
                <a:latin typeface="Quattrocento Sans"/>
                <a:ea typeface="Quattrocento Sans"/>
              </a:rPr>
              <a:t>小时机器人数据碾压了</a:t>
            </a:r>
            <a:r>
              <a:rPr b="0" lang="en-US" sz="1700" spc="-1" strike="noStrike">
                <a:solidFill>
                  <a:srgbClr val="333333"/>
                </a:solidFill>
                <a:latin typeface="Quattrocento Sans"/>
                <a:ea typeface="Quattrocento Sans"/>
              </a:rPr>
              <a:t>Octo</a:t>
            </a:r>
            <a:r>
              <a:rPr b="0" lang="zh-CN" sz="1700" spc="-1" strike="noStrike">
                <a:solidFill>
                  <a:srgbClr val="333333"/>
                </a:solidFill>
                <a:latin typeface="Quattrocento Sans"/>
                <a:ea typeface="Quattrocento Sans"/>
              </a:rPr>
              <a:t>的</a:t>
            </a:r>
            <a:r>
              <a:rPr b="0" lang="en-US" sz="1700" spc="-1" strike="noStrike">
                <a:solidFill>
                  <a:srgbClr val="333333"/>
                </a:solidFill>
                <a:latin typeface="Quattrocento Sans"/>
                <a:ea typeface="Quattrocento Sans"/>
              </a:rPr>
              <a:t>1000+</a:t>
            </a:r>
            <a:r>
              <a:rPr b="0" lang="zh-CN" sz="1700" spc="-1" strike="noStrike">
                <a:solidFill>
                  <a:srgbClr val="333333"/>
                </a:solidFill>
                <a:latin typeface="Quattrocento Sans"/>
                <a:ea typeface="Quattrocento Sans"/>
              </a:rPr>
              <a:t>小时——关键是先有一个好的世界模型。</a:t>
            </a:r>
            <a:endParaRPr b="0" lang="en-US" sz="1700" spc="-1" strike="noStrike">
              <a:latin typeface="Arial"/>
            </a:endParaRPr>
          </a:p>
        </p:txBody>
      </p:sp>
      <p:sp>
        <p:nvSpPr>
          <p:cNvPr id="604" name="Shape 35"/>
          <p:cNvSpPr/>
          <p:nvPr/>
        </p:nvSpPr>
        <p:spPr>
          <a:xfrm>
            <a:off x="2540160" y="5054760"/>
            <a:ext cx="13207680" cy="12240"/>
          </a:xfrm>
          <a:prstGeom prst="rect">
            <a:avLst/>
          </a:prstGeom>
          <a:solidFill>
            <a:srgbClr val="e0f4fa"/>
          </a:solidFill>
          <a:ln w="0">
            <a:noFill/>
          </a:ln>
        </p:spPr>
        <p:style>
          <a:lnRef idx="0"/>
          <a:fillRef idx="0"/>
          <a:effectRef idx="0"/>
          <a:fontRef idx="minor"/>
        </p:style>
      </p:sp>
      <p:sp>
        <p:nvSpPr>
          <p:cNvPr id="605" name="Shape 36"/>
          <p:cNvSpPr/>
          <p:nvPr/>
        </p:nvSpPr>
        <p:spPr>
          <a:xfrm>
            <a:off x="2540160" y="5232240"/>
            <a:ext cx="177480" cy="177480"/>
          </a:xfrm>
          <a:prstGeom prst="diamond">
            <a:avLst/>
          </a:prstGeom>
          <a:solidFill>
            <a:srgbClr val="00acc1"/>
          </a:solidFill>
          <a:ln w="0">
            <a:noFill/>
          </a:ln>
        </p:spPr>
        <p:style>
          <a:lnRef idx="0"/>
          <a:fillRef idx="0"/>
          <a:effectRef idx="0"/>
          <a:fontRef idx="minor"/>
        </p:style>
      </p:sp>
      <p:sp>
        <p:nvSpPr>
          <p:cNvPr id="606" name="Text 37"/>
          <p:cNvSpPr/>
          <p:nvPr/>
        </p:nvSpPr>
        <p:spPr>
          <a:xfrm>
            <a:off x="2870280" y="5156280"/>
            <a:ext cx="12877560" cy="786960"/>
          </a:xfrm>
          <a:prstGeom prst="rect">
            <a:avLst/>
          </a:prstGeom>
          <a:noFill/>
          <a:ln w="0">
            <a:noFill/>
          </a:ln>
        </p:spPr>
        <p:style>
          <a:lnRef idx="0"/>
          <a:fillRef idx="0"/>
          <a:effectRef idx="0"/>
          <a:fontRef idx="minor"/>
        </p:style>
        <p:txBody>
          <a:bodyPr lIns="0" rIns="0" tIns="0" bIns="0" anchor="t">
            <a:noAutofit/>
          </a:bodyPr>
          <a:p>
            <a:pPr>
              <a:lnSpc>
                <a:spcPct val="150000"/>
              </a:lnSpc>
              <a:buNone/>
            </a:pPr>
            <a:r>
              <a:rPr b="1" lang="zh-CN" sz="1700" spc="-1" strike="noStrike">
                <a:solidFill>
                  <a:srgbClr val="333333"/>
                </a:solidFill>
                <a:latin typeface="Quattrocento Sans"/>
                <a:ea typeface="Quattrocento Sans"/>
              </a:rPr>
              <a:t>领域内</a:t>
            </a:r>
            <a:r>
              <a:rPr b="1" lang="en-US" sz="1700" spc="-1" strike="noStrike">
                <a:solidFill>
                  <a:srgbClr val="333333"/>
                </a:solidFill>
                <a:latin typeface="Quattrocento Sans"/>
                <a:ea typeface="Quattrocento Sans"/>
              </a:rPr>
              <a:t>SSL</a:t>
            </a:r>
            <a:r>
              <a:rPr b="1" lang="zh-CN" sz="1700" spc="-1" strike="noStrike">
                <a:solidFill>
                  <a:srgbClr val="333333"/>
                </a:solidFill>
                <a:latin typeface="Quattrocento Sans"/>
                <a:ea typeface="Quattrocento Sans"/>
              </a:rPr>
              <a:t>可替代大模型迁移</a:t>
            </a:r>
            <a:r>
              <a:rPr b="0" lang="zh-CN" sz="1700" spc="-1" strike="noStrike">
                <a:solidFill>
                  <a:srgbClr val="333333"/>
                </a:solidFill>
                <a:latin typeface="Quattrocento Sans"/>
                <a:ea typeface="Quattrocento Sans"/>
              </a:rPr>
              <a:t>：</a:t>
            </a:r>
            <a:r>
              <a:rPr b="0" lang="en-US" sz="1700" spc="-1" strike="noStrike">
                <a:solidFill>
                  <a:srgbClr val="333333"/>
                </a:solidFill>
                <a:latin typeface="Quattrocento Sans"/>
                <a:ea typeface="Quattrocento Sans"/>
              </a:rPr>
              <a:t>LeJEPA</a:t>
            </a:r>
            <a:r>
              <a:rPr b="0" lang="zh-CN" sz="1700" spc="-1" strike="noStrike">
                <a:solidFill>
                  <a:srgbClr val="333333"/>
                </a:solidFill>
                <a:latin typeface="Quattrocento Sans"/>
                <a:ea typeface="Quattrocento Sans"/>
              </a:rPr>
              <a:t>证明了在目标环境中从头预训练可以优于拿别人训好的大模型来迁移——对机器人平台至关重要。</a:t>
            </a:r>
            <a:endParaRPr b="0" lang="en-US" sz="1700" spc="-1" strike="noStrike">
              <a:latin typeface="Arial"/>
            </a:endParaRPr>
          </a:p>
        </p:txBody>
      </p:sp>
      <p:sp>
        <p:nvSpPr>
          <p:cNvPr id="607" name="Text 38"/>
          <p:cNvSpPr/>
          <p:nvPr/>
        </p:nvSpPr>
        <p:spPr>
          <a:xfrm>
            <a:off x="2540160" y="6019920"/>
            <a:ext cx="63496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zh-CN" sz="2000" spc="-1" strike="noStrike">
                <a:solidFill>
                  <a:srgbClr val="005c82"/>
                </a:solidFill>
                <a:latin typeface="Quattrocento Sans"/>
                <a:ea typeface="Quattrocento Sans"/>
              </a:rPr>
              <a:t>后续研读路线</a:t>
            </a:r>
            <a:endParaRPr b="0" lang="en-US" sz="2000" spc="-1" strike="noStrike">
              <a:latin typeface="Arial"/>
            </a:endParaRPr>
          </a:p>
        </p:txBody>
      </p:sp>
      <p:sp>
        <p:nvSpPr>
          <p:cNvPr id="608" name="Shape 39"/>
          <p:cNvSpPr/>
          <p:nvPr/>
        </p:nvSpPr>
        <p:spPr>
          <a:xfrm>
            <a:off x="2540160" y="6451560"/>
            <a:ext cx="13207680" cy="2031480"/>
          </a:xfrm>
          <a:prstGeom prst="roundRect">
            <a:avLst>
              <a:gd name="adj" fmla="val 4000"/>
            </a:avLst>
          </a:prstGeom>
          <a:solidFill>
            <a:srgbClr val="e0f4fa"/>
          </a:solidFill>
          <a:ln w="12600">
            <a:solidFill>
              <a:srgbClr val="b0bec5"/>
            </a:solidFill>
            <a:round/>
          </a:ln>
        </p:spPr>
        <p:style>
          <a:lnRef idx="0"/>
          <a:fillRef idx="0"/>
          <a:effectRef idx="0"/>
          <a:fontRef idx="minor"/>
        </p:style>
      </p:sp>
      <p:sp>
        <p:nvSpPr>
          <p:cNvPr id="609" name="Text 40"/>
          <p:cNvSpPr/>
          <p:nvPr/>
        </p:nvSpPr>
        <p:spPr>
          <a:xfrm>
            <a:off x="2768760" y="6553080"/>
            <a:ext cx="12750480" cy="1879200"/>
          </a:xfrm>
          <a:prstGeom prst="rect">
            <a:avLst/>
          </a:prstGeom>
          <a:noFill/>
          <a:ln w="0">
            <a:noFill/>
          </a:ln>
        </p:spPr>
        <p:style>
          <a:lnRef idx="0"/>
          <a:fillRef idx="0"/>
          <a:effectRef idx="0"/>
          <a:fontRef idx="minor"/>
        </p:style>
        <p:txBody>
          <a:bodyPr lIns="0" rIns="0" tIns="0" bIns="0" anchor="t">
            <a:noAutofit/>
          </a:bodyPr>
          <a:p>
            <a:pPr>
              <a:lnSpc>
                <a:spcPct val="160000"/>
              </a:lnSpc>
              <a:buNone/>
            </a:pPr>
            <a:r>
              <a:rPr b="1" lang="en-US" sz="1500" spc="-1" strike="noStrike">
                <a:solidFill>
                  <a:srgbClr val="333333"/>
                </a:solidFill>
                <a:latin typeface="Quattrocento Sans"/>
                <a:ea typeface="Quattrocento Sans"/>
              </a:rPr>
              <a:t>Joint WAM / </a:t>
            </a:r>
            <a:r>
              <a:rPr b="1" lang="zh-CN" sz="1500" spc="-1" strike="noStrike">
                <a:solidFill>
                  <a:srgbClr val="333333"/>
                </a:solidFill>
                <a:latin typeface="Quattrocento Sans"/>
                <a:ea typeface="Quattrocento Sans"/>
              </a:rPr>
              <a:t>扩散 </a:t>
            </a:r>
            <a:r>
              <a:rPr b="1" lang="en-US" sz="1500" spc="-1" strike="noStrike">
                <a:solidFill>
                  <a:srgbClr val="333333"/>
                </a:solidFill>
                <a:latin typeface="Quattrocento Sans"/>
                <a:ea typeface="Quattrocento Sans"/>
              </a:rPr>
              <a:t>/ </a:t>
            </a:r>
            <a:r>
              <a:rPr b="1" lang="zh-CN" sz="1500" spc="-1" strike="noStrike">
                <a:solidFill>
                  <a:srgbClr val="333333"/>
                </a:solidFill>
                <a:latin typeface="Quattrocento Sans"/>
                <a:ea typeface="Quattrocento Sans"/>
              </a:rPr>
              <a:t>统一流：</a:t>
            </a:r>
            <a:r>
              <a:rPr b="0" lang="en-US" sz="1500" spc="-1" strike="noStrike">
                <a:solidFill>
                  <a:srgbClr val="333333"/>
                </a:solidFill>
                <a:latin typeface="Quattrocento Sans"/>
                <a:ea typeface="Quattrocento Sans"/>
              </a:rPr>
              <a:t>DreamZero, Cosmos Policy — </a:t>
            </a:r>
            <a:r>
              <a:rPr b="0" lang="zh-CN" sz="1500" spc="-1" strike="noStrike">
                <a:solidFill>
                  <a:srgbClr val="333333"/>
                </a:solidFill>
                <a:latin typeface="Quattrocento Sans"/>
                <a:ea typeface="Quattrocento Sans"/>
              </a:rPr>
              <a:t>端到端同时生成未来帧</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动作</a:t>
            </a:r>
            <a:endParaRPr b="0" lang="en-US" sz="1500" spc="-1" strike="noStrike">
              <a:latin typeface="Arial"/>
            </a:endParaRPr>
          </a:p>
          <a:p>
            <a:pPr>
              <a:lnSpc>
                <a:spcPct val="160000"/>
              </a:lnSpc>
              <a:buNone/>
            </a:pPr>
            <a:r>
              <a:rPr b="1" lang="en-US" sz="1500" spc="-1" strike="noStrike">
                <a:solidFill>
                  <a:srgbClr val="333333"/>
                </a:solidFill>
                <a:latin typeface="Quattrocento Sans"/>
                <a:ea typeface="Quattrocento Sans"/>
              </a:rPr>
              <a:t>Joint WAM / </a:t>
            </a:r>
            <a:r>
              <a:rPr b="1" lang="zh-CN" sz="1500" spc="-1" strike="noStrike">
                <a:solidFill>
                  <a:srgbClr val="333333"/>
                </a:solidFill>
                <a:latin typeface="Quattrocento Sans"/>
                <a:ea typeface="Quattrocento Sans"/>
              </a:rPr>
              <a:t>自回归 </a:t>
            </a:r>
            <a:r>
              <a:rPr b="1" lang="en-US" sz="1500" spc="-1" strike="noStrike">
                <a:solidFill>
                  <a:srgbClr val="333333"/>
                </a:solidFill>
                <a:latin typeface="Quattrocento Sans"/>
                <a:ea typeface="Quattrocento Sans"/>
              </a:rPr>
              <a:t>/ </a:t>
            </a:r>
            <a:r>
              <a:rPr b="1" lang="zh-CN" sz="1500" spc="-1" strike="noStrike">
                <a:solidFill>
                  <a:srgbClr val="333333"/>
                </a:solidFill>
                <a:latin typeface="Quattrocento Sans"/>
                <a:ea typeface="Quattrocento Sans"/>
              </a:rPr>
              <a:t>预测潜在：</a:t>
            </a:r>
            <a:r>
              <a:rPr b="0" lang="en-US" sz="1500" spc="-1" strike="noStrike">
                <a:solidFill>
                  <a:srgbClr val="333333"/>
                </a:solidFill>
                <a:latin typeface="Quattrocento Sans"/>
                <a:ea typeface="Quattrocento Sans"/>
              </a:rPr>
              <a:t>VLA-JEPA — JEPA</a:t>
            </a:r>
            <a:r>
              <a:rPr b="0" lang="zh-CN" sz="1500" spc="-1" strike="noStrike">
                <a:solidFill>
                  <a:srgbClr val="333333"/>
                </a:solidFill>
                <a:latin typeface="Quattrocento Sans"/>
                <a:ea typeface="Quattrocento Sans"/>
              </a:rPr>
              <a:t>范式</a:t>
            </a:r>
            <a:r>
              <a:rPr b="0" lang="en-US" sz="1500" spc="-1" strike="noStrike">
                <a:solidFill>
                  <a:srgbClr val="333333"/>
                </a:solidFill>
                <a:latin typeface="Quattrocento Sans"/>
                <a:ea typeface="Quattrocento Sans"/>
              </a:rPr>
              <a:t>+</a:t>
            </a:r>
            <a:r>
              <a:rPr b="0" lang="zh-CN" sz="1500" spc="-1" strike="noStrike">
                <a:solidFill>
                  <a:srgbClr val="333333"/>
                </a:solidFill>
                <a:latin typeface="Quattrocento Sans"/>
                <a:ea typeface="Quattrocento Sans"/>
              </a:rPr>
              <a:t>动作条件</a:t>
            </a:r>
            <a:endParaRPr b="0" lang="en-US" sz="1500" spc="-1" strike="noStrike">
              <a:latin typeface="Arial"/>
            </a:endParaRPr>
          </a:p>
          <a:p>
            <a:pPr>
              <a:lnSpc>
                <a:spcPct val="160000"/>
              </a:lnSpc>
              <a:buNone/>
            </a:pPr>
            <a:r>
              <a:rPr b="1" lang="en-US" sz="1500" spc="-1" strike="noStrike">
                <a:solidFill>
                  <a:srgbClr val="333333"/>
                </a:solidFill>
                <a:latin typeface="Quattrocento Sans"/>
                <a:ea typeface="Quattrocento Sans"/>
              </a:rPr>
              <a:t>Joint WAM / </a:t>
            </a:r>
            <a:r>
              <a:rPr b="1" lang="zh-CN" sz="1500" spc="-1" strike="noStrike">
                <a:solidFill>
                  <a:srgbClr val="333333"/>
                </a:solidFill>
                <a:latin typeface="Quattrocento Sans"/>
                <a:ea typeface="Quattrocento Sans"/>
              </a:rPr>
              <a:t>扩散 </a:t>
            </a:r>
            <a:r>
              <a:rPr b="1" lang="en-US" sz="1500" spc="-1" strike="noStrike">
                <a:solidFill>
                  <a:srgbClr val="333333"/>
                </a:solidFill>
                <a:latin typeface="Quattrocento Sans"/>
                <a:ea typeface="Quattrocento Sans"/>
              </a:rPr>
              <a:t>/ </a:t>
            </a:r>
            <a:r>
              <a:rPr b="1" lang="zh-CN" sz="1500" spc="-1" strike="noStrike">
                <a:solidFill>
                  <a:srgbClr val="333333"/>
                </a:solidFill>
                <a:latin typeface="Quattrocento Sans"/>
                <a:ea typeface="Quattrocento Sans"/>
              </a:rPr>
              <a:t>多流架构：</a:t>
            </a:r>
            <a:r>
              <a:rPr b="0" lang="en-US" sz="1500" spc="-1" strike="noStrike">
                <a:solidFill>
                  <a:srgbClr val="333333"/>
                </a:solidFill>
                <a:latin typeface="Quattrocento Sans"/>
                <a:ea typeface="Quattrocento Sans"/>
              </a:rPr>
              <a:t>CoVAR, DiT4DiT — cross-attention</a:t>
            </a:r>
            <a:r>
              <a:rPr b="0" lang="zh-CN" sz="1500" spc="-1" strike="noStrike">
                <a:solidFill>
                  <a:srgbClr val="333333"/>
                </a:solidFill>
                <a:latin typeface="Quattrocento Sans"/>
                <a:ea typeface="Quattrocento Sans"/>
              </a:rPr>
              <a:t>耦合状态流和动作流</a:t>
            </a:r>
            <a:endParaRPr b="0" lang="en-US" sz="1500" spc="-1" strike="noStrike">
              <a:latin typeface="Arial"/>
            </a:endParaRPr>
          </a:p>
          <a:p>
            <a:pPr>
              <a:lnSpc>
                <a:spcPct val="160000"/>
              </a:lnSpc>
              <a:buNone/>
            </a:pPr>
            <a:r>
              <a:rPr b="1" lang="en-US" sz="1500" spc="-1" strike="noStrike">
                <a:solidFill>
                  <a:srgbClr val="333333"/>
                </a:solidFill>
                <a:latin typeface="Quattrocento Sans"/>
                <a:ea typeface="Quattrocento Sans"/>
              </a:rPr>
              <a:t>Cascaded WAM / </a:t>
            </a:r>
            <a:r>
              <a:rPr b="1" lang="zh-CN" sz="1500" spc="-1" strike="noStrike">
                <a:solidFill>
                  <a:srgbClr val="333333"/>
                </a:solidFill>
                <a:latin typeface="Quattrocento Sans"/>
                <a:ea typeface="Quattrocento Sans"/>
              </a:rPr>
              <a:t>隐式潜在规划：</a:t>
            </a:r>
            <a:r>
              <a:rPr b="0" lang="en-US" sz="1500" spc="-1" strike="noStrike">
                <a:solidFill>
                  <a:srgbClr val="333333"/>
                </a:solidFill>
                <a:latin typeface="Quattrocento Sans"/>
                <a:ea typeface="Quattrocento Sans"/>
              </a:rPr>
              <a:t>VPP, S-VAM, LaPA — </a:t>
            </a:r>
            <a:r>
              <a:rPr b="0" lang="zh-CN" sz="1500" spc="-1" strike="noStrike">
                <a:solidFill>
                  <a:srgbClr val="333333"/>
                </a:solidFill>
                <a:latin typeface="Quattrocento Sans"/>
                <a:ea typeface="Quattrocento Sans"/>
              </a:rPr>
              <a:t>潜在动作预测</a:t>
            </a:r>
            <a:endParaRPr b="0" lang="en-US" sz="1500" spc="-1" strike="noStrike">
              <a:latin typeface="Arial"/>
            </a:endParaRPr>
          </a:p>
          <a:p>
            <a:pPr>
              <a:lnSpc>
                <a:spcPct val="160000"/>
              </a:lnSpc>
              <a:buNone/>
            </a:pPr>
            <a:r>
              <a:rPr b="1" lang="zh-CN" sz="1500" spc="-1" strike="noStrike">
                <a:solidFill>
                  <a:srgbClr val="333333"/>
                </a:solidFill>
                <a:latin typeface="Quattrocento Sans"/>
                <a:ea typeface="Quattrocento Sans"/>
              </a:rPr>
              <a:t>评估专题：</a:t>
            </a:r>
            <a:r>
              <a:rPr b="0" lang="en-US" sz="1500" spc="-1" strike="noStrike">
                <a:solidFill>
                  <a:srgbClr val="333333"/>
                </a:solidFill>
                <a:latin typeface="Quattrocento Sans"/>
                <a:ea typeface="Quattrocento Sans"/>
              </a:rPr>
              <a:t>WorldModelBench, WorldSimBench — WAM</a:t>
            </a:r>
            <a:r>
              <a:rPr b="0" lang="zh-CN" sz="1500" spc="-1" strike="noStrike">
                <a:solidFill>
                  <a:srgbClr val="333333"/>
                </a:solidFill>
                <a:latin typeface="Quattrocento Sans"/>
                <a:ea typeface="Quattrocento Sans"/>
              </a:rPr>
              <a:t>评估标准</a:t>
            </a:r>
            <a:endParaRPr b="0" lang="en-US" sz="1500" spc="-1" strike="noStrike">
              <a:latin typeface="Arial"/>
            </a:endParaRPr>
          </a:p>
        </p:txBody>
      </p:sp>
    </p:spTree>
  </p:cSld>
  <p:transition>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afe"/>
        </a:solidFill>
      </p:bgPr>
    </p:bg>
    <p:spTree>
      <p:nvGrpSpPr>
        <p:cNvPr id="1" name=""/>
        <p:cNvGrpSpPr/>
        <p:nvPr/>
      </p:nvGrpSpPr>
      <p:grpSpPr>
        <a:xfrm>
          <a:off x="0" y="0"/>
          <a:ext cx="0" cy="0"/>
          <a:chOff x="0" y="0"/>
          <a:chExt cx="0" cy="0"/>
        </a:xfrm>
      </p:grpSpPr>
      <p:sp>
        <p:nvSpPr>
          <p:cNvPr id="610" name="Shape 0"/>
          <p:cNvSpPr/>
          <p:nvPr/>
        </p:nvSpPr>
        <p:spPr>
          <a:xfrm>
            <a:off x="0" y="0"/>
            <a:ext cx="16255800" cy="1269720"/>
          </a:xfrm>
          <a:prstGeom prst="rect">
            <a:avLst/>
          </a:prstGeom>
          <a:solidFill>
            <a:srgbClr val="f4fafe"/>
          </a:solidFill>
          <a:ln w="0">
            <a:noFill/>
          </a:ln>
        </p:spPr>
        <p:style>
          <a:lnRef idx="0"/>
          <a:fillRef idx="0"/>
          <a:effectRef idx="0"/>
          <a:fontRef idx="minor"/>
        </p:style>
      </p:sp>
      <p:sp>
        <p:nvSpPr>
          <p:cNvPr id="611" name="Shape 1"/>
          <p:cNvSpPr/>
          <p:nvPr/>
        </p:nvSpPr>
        <p:spPr>
          <a:xfrm>
            <a:off x="0" y="1371600"/>
            <a:ext cx="16255800" cy="3809520"/>
          </a:xfrm>
          <a:prstGeom prst="rect">
            <a:avLst/>
          </a:prstGeom>
          <a:gradFill rotWithShape="0">
            <a:gsLst>
              <a:gs pos="0">
                <a:srgbClr val="004060"/>
              </a:gs>
              <a:gs pos="100000">
                <a:srgbClr val="005c82"/>
              </a:gs>
            </a:gsLst>
            <a:lin ang="5400000"/>
          </a:gradFill>
          <a:ln w="0">
            <a:noFill/>
          </a:ln>
        </p:spPr>
        <p:style>
          <a:lnRef idx="0"/>
          <a:fillRef idx="0"/>
          <a:effectRef idx="0"/>
          <a:fontRef idx="minor"/>
        </p:style>
      </p:sp>
      <p:sp>
        <p:nvSpPr>
          <p:cNvPr id="612" name="Text 2"/>
          <p:cNvSpPr/>
          <p:nvPr/>
        </p:nvSpPr>
        <p:spPr>
          <a:xfrm>
            <a:off x="1015920" y="1879560"/>
            <a:ext cx="11429640" cy="1015560"/>
          </a:xfrm>
          <a:prstGeom prst="rect">
            <a:avLst/>
          </a:prstGeom>
          <a:noFill/>
          <a:ln w="0">
            <a:noFill/>
          </a:ln>
        </p:spPr>
        <p:style>
          <a:lnRef idx="0"/>
          <a:fillRef idx="0"/>
          <a:effectRef idx="0"/>
          <a:fontRef idx="minor"/>
        </p:style>
        <p:txBody>
          <a:bodyPr wrap="none" lIns="0" rIns="0" tIns="0" bIns="0" anchor="ctr">
            <a:noAutofit/>
          </a:bodyPr>
          <a:p>
            <a:pPr>
              <a:lnSpc>
                <a:spcPct val="120000"/>
              </a:lnSpc>
              <a:buNone/>
            </a:pPr>
            <a:r>
              <a:rPr b="1" lang="zh-CN" sz="6400" spc="-1" strike="noStrike">
                <a:solidFill>
                  <a:srgbClr val="ffffff"/>
                </a:solidFill>
                <a:latin typeface="Quattrocento Sans"/>
                <a:ea typeface="Quattrocento Sans"/>
              </a:rPr>
              <a:t>感谢聆听</a:t>
            </a:r>
            <a:endParaRPr b="0" lang="en-US" sz="6400" spc="-1" strike="noStrike">
              <a:latin typeface="Arial"/>
            </a:endParaRPr>
          </a:p>
        </p:txBody>
      </p:sp>
      <p:sp>
        <p:nvSpPr>
          <p:cNvPr id="613" name="Text 3"/>
          <p:cNvSpPr/>
          <p:nvPr/>
        </p:nvSpPr>
        <p:spPr>
          <a:xfrm>
            <a:off x="1015920" y="3022560"/>
            <a:ext cx="1142964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800" spc="398" strike="noStrike">
                <a:solidFill>
                  <a:srgbClr val="ffffff"/>
                </a:solidFill>
                <a:latin typeface="Quattrocento Sans"/>
                <a:ea typeface="Quattrocento Sans"/>
              </a:rPr>
              <a:t>THANK YOU FOR YOUR ATTENTION</a:t>
            </a:r>
            <a:endParaRPr b="0" lang="en-US" sz="1800" spc="-1" strike="noStrike">
              <a:latin typeface="Arial"/>
            </a:endParaRPr>
          </a:p>
        </p:txBody>
      </p:sp>
      <p:sp>
        <p:nvSpPr>
          <p:cNvPr id="614" name="Shape 4"/>
          <p:cNvSpPr/>
          <p:nvPr/>
        </p:nvSpPr>
        <p:spPr>
          <a:xfrm>
            <a:off x="0" y="5181480"/>
            <a:ext cx="16255800" cy="3962160"/>
          </a:xfrm>
          <a:prstGeom prst="rect">
            <a:avLst/>
          </a:prstGeom>
          <a:solidFill>
            <a:srgbClr val="f4fafe"/>
          </a:solidFill>
          <a:ln w="0">
            <a:noFill/>
          </a:ln>
        </p:spPr>
        <p:style>
          <a:lnRef idx="0"/>
          <a:fillRef idx="0"/>
          <a:effectRef idx="0"/>
          <a:fontRef idx="minor"/>
        </p:style>
      </p:sp>
      <p:sp>
        <p:nvSpPr>
          <p:cNvPr id="615" name="Shape 5"/>
          <p:cNvSpPr/>
          <p:nvPr/>
        </p:nvSpPr>
        <p:spPr>
          <a:xfrm>
            <a:off x="1015920" y="5537160"/>
            <a:ext cx="177480" cy="177480"/>
          </a:xfrm>
          <a:prstGeom prst="diamond">
            <a:avLst/>
          </a:prstGeom>
          <a:solidFill>
            <a:srgbClr val="005c82"/>
          </a:solidFill>
          <a:ln w="0">
            <a:noFill/>
          </a:ln>
        </p:spPr>
        <p:style>
          <a:lnRef idx="0"/>
          <a:fillRef idx="0"/>
          <a:effectRef idx="0"/>
          <a:fontRef idx="minor"/>
        </p:style>
      </p:sp>
      <p:sp>
        <p:nvSpPr>
          <p:cNvPr id="616" name="Text 6"/>
          <p:cNvSpPr/>
          <p:nvPr/>
        </p:nvSpPr>
        <p:spPr>
          <a:xfrm>
            <a:off x="1371600" y="5460840"/>
            <a:ext cx="8889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1" lang="en-US" sz="1800" spc="-1" strike="noStrike">
                <a:solidFill>
                  <a:srgbClr val="333333"/>
                </a:solidFill>
                <a:latin typeface="Quattrocento Sans"/>
                <a:ea typeface="Quattrocento Sans"/>
              </a:rPr>
              <a:t>WAM</a:t>
            </a:r>
            <a:r>
              <a:rPr b="1" lang="zh-CN" sz="1800" spc="-1" strike="noStrike">
                <a:solidFill>
                  <a:srgbClr val="333333"/>
                </a:solidFill>
                <a:latin typeface="Quattrocento Sans"/>
                <a:ea typeface="Quattrocento Sans"/>
              </a:rPr>
              <a:t>方向预研与主流论文解析</a:t>
            </a:r>
            <a:r>
              <a:rPr b="0" lang="zh-CN" sz="1800" spc="-1" strike="noStrike">
                <a:solidFill>
                  <a:srgbClr val="333333"/>
                </a:solidFill>
                <a:latin typeface="Quattrocento Sans"/>
                <a:ea typeface="Quattrocento Sans"/>
              </a:rPr>
              <a:t>　</a:t>
            </a:r>
            <a:r>
              <a:rPr b="0" lang="en-US" sz="1800" spc="-1" strike="noStrike">
                <a:solidFill>
                  <a:srgbClr val="333333"/>
                </a:solidFill>
                <a:latin typeface="Quattrocento Sans"/>
                <a:ea typeface="Quattrocento Sans"/>
              </a:rPr>
              <a:t>|</a:t>
            </a:r>
            <a:r>
              <a:rPr b="0" lang="zh-CN" sz="1800" spc="-1" strike="noStrike">
                <a:solidFill>
                  <a:srgbClr val="333333"/>
                </a:solidFill>
                <a:latin typeface="Quattrocento Sans"/>
                <a:ea typeface="Quattrocento Sans"/>
              </a:rPr>
              <a:t>　第一周汇报</a:t>
            </a:r>
            <a:endParaRPr b="0" lang="en-US" sz="1800" spc="-1" strike="noStrike">
              <a:latin typeface="Arial"/>
            </a:endParaRPr>
          </a:p>
        </p:txBody>
      </p:sp>
      <p:sp>
        <p:nvSpPr>
          <p:cNvPr id="617" name="Shape 7"/>
          <p:cNvSpPr/>
          <p:nvPr/>
        </p:nvSpPr>
        <p:spPr>
          <a:xfrm>
            <a:off x="1015920" y="6045120"/>
            <a:ext cx="177480" cy="177480"/>
          </a:xfrm>
          <a:prstGeom prst="diamond">
            <a:avLst/>
          </a:prstGeom>
          <a:solidFill>
            <a:srgbClr val="005c82"/>
          </a:solidFill>
          <a:ln w="0">
            <a:noFill/>
          </a:ln>
        </p:spPr>
        <p:style>
          <a:lnRef idx="0"/>
          <a:fillRef idx="0"/>
          <a:effectRef idx="0"/>
          <a:fontRef idx="minor"/>
        </p:style>
      </p:sp>
      <p:sp>
        <p:nvSpPr>
          <p:cNvPr id="618" name="Text 8"/>
          <p:cNvSpPr/>
          <p:nvPr/>
        </p:nvSpPr>
        <p:spPr>
          <a:xfrm>
            <a:off x="1371600" y="5969160"/>
            <a:ext cx="888948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600" spc="-1" strike="noStrike">
                <a:solidFill>
                  <a:srgbClr val="555555"/>
                </a:solidFill>
                <a:latin typeface="Quattrocento Sans"/>
                <a:ea typeface="Quattrocento Sans"/>
              </a:rPr>
              <a:t>WAM / PathToAMI / LeJEPA / V-JEPA 2 / V-JEPA 2.1</a:t>
            </a:r>
            <a:endParaRPr b="0" lang="en-US" sz="1600" spc="-1" strike="noStrike">
              <a:latin typeface="Arial"/>
            </a:endParaRPr>
          </a:p>
        </p:txBody>
      </p:sp>
      <p:sp>
        <p:nvSpPr>
          <p:cNvPr id="619" name="Shape 9"/>
          <p:cNvSpPr/>
          <p:nvPr/>
        </p:nvSpPr>
        <p:spPr>
          <a:xfrm>
            <a:off x="1015920" y="6553080"/>
            <a:ext cx="177480" cy="177480"/>
          </a:xfrm>
          <a:prstGeom prst="diamond">
            <a:avLst/>
          </a:prstGeom>
          <a:solidFill>
            <a:srgbClr val="b0bec5"/>
          </a:solidFill>
          <a:ln w="0">
            <a:noFill/>
          </a:ln>
        </p:spPr>
        <p:style>
          <a:lnRef idx="0"/>
          <a:fillRef idx="0"/>
          <a:effectRef idx="0"/>
          <a:fontRef idx="minor"/>
        </p:style>
      </p:sp>
      <p:sp>
        <p:nvSpPr>
          <p:cNvPr id="620" name="Text 10"/>
          <p:cNvSpPr/>
          <p:nvPr/>
        </p:nvSpPr>
        <p:spPr>
          <a:xfrm>
            <a:off x="1371600" y="6477120"/>
            <a:ext cx="5079600" cy="35532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en-US" sz="1400" spc="-1" strike="noStrike">
                <a:solidFill>
                  <a:srgbClr val="888888"/>
                </a:solidFill>
                <a:latin typeface="Quattrocento Sans"/>
                <a:ea typeface="Quattrocento Sans"/>
              </a:rPr>
              <a:t>2025</a:t>
            </a:r>
            <a:r>
              <a:rPr b="0" lang="zh-CN" sz="1400" spc="-1" strike="noStrike">
                <a:solidFill>
                  <a:srgbClr val="888888"/>
                </a:solidFill>
                <a:latin typeface="Quattrocento Sans"/>
                <a:ea typeface="Quattrocento Sans"/>
              </a:rPr>
              <a:t>年</a:t>
            </a:r>
            <a:r>
              <a:rPr b="0" lang="en-US" sz="1400" spc="-1" strike="noStrike">
                <a:solidFill>
                  <a:srgbClr val="888888"/>
                </a:solidFill>
                <a:latin typeface="Quattrocento Sans"/>
                <a:ea typeface="Quattrocento Sans"/>
              </a:rPr>
              <a:t>6</a:t>
            </a:r>
            <a:r>
              <a:rPr b="0" lang="zh-CN" sz="1400" spc="-1" strike="noStrike">
                <a:solidFill>
                  <a:srgbClr val="888888"/>
                </a:solidFill>
                <a:latin typeface="Quattrocento Sans"/>
                <a:ea typeface="Quattrocento Sans"/>
              </a:rPr>
              <a:t>月</a:t>
            </a:r>
            <a:endParaRPr b="0" lang="en-US" sz="1400" spc="-1" strike="noStrike">
              <a:latin typeface="Arial"/>
            </a:endParaRPr>
          </a:p>
        </p:txBody>
      </p:sp>
      <p:sp>
        <p:nvSpPr>
          <p:cNvPr id="621" name="Text 11"/>
          <p:cNvSpPr/>
          <p:nvPr/>
        </p:nvSpPr>
        <p:spPr>
          <a:xfrm>
            <a:off x="1015920" y="7112160"/>
            <a:ext cx="7619760" cy="456840"/>
          </a:xfrm>
          <a:prstGeom prst="rect">
            <a:avLst/>
          </a:prstGeom>
          <a:noFill/>
          <a:ln w="0">
            <a:noFill/>
          </a:ln>
        </p:spPr>
        <p:style>
          <a:lnRef idx="0"/>
          <a:fillRef idx="0"/>
          <a:effectRef idx="0"/>
          <a:fontRef idx="minor"/>
        </p:style>
        <p:txBody>
          <a:bodyPr wrap="none" lIns="0" rIns="0" tIns="0" bIns="0" anchor="t">
            <a:noAutofit/>
          </a:bodyPr>
          <a:p>
            <a:pPr>
              <a:lnSpc>
                <a:spcPct val="120000"/>
              </a:lnSpc>
              <a:buNone/>
            </a:pPr>
            <a:r>
              <a:rPr b="0" lang="zh-CN" sz="2000" spc="-1" strike="noStrike">
                <a:solidFill>
                  <a:srgbClr val="005c82"/>
                </a:solidFill>
                <a:latin typeface="Quattrocento Sans"/>
                <a:ea typeface="Quattrocento Sans"/>
              </a:rPr>
              <a:t>敬请各位老师批评指正  </a:t>
            </a:r>
            <a:r>
              <a:rPr b="0" lang="en-US" sz="2000" spc="-1" strike="noStrike">
                <a:solidFill>
                  <a:srgbClr val="005c82"/>
                </a:solidFill>
                <a:latin typeface="Quattrocento Sans"/>
                <a:ea typeface="Quattrocento Sans"/>
              </a:rPr>
              <a:t>|  Q &amp; A</a:t>
            </a:r>
            <a:endParaRPr b="0" lang="en-US" sz="2000" spc="-1" strike="noStrike">
              <a:latin typeface="Arial"/>
            </a:endParaRPr>
          </a:p>
        </p:txBody>
      </p:sp>
      <p:sp>
        <p:nvSpPr>
          <p:cNvPr id="622" name="Shape 12"/>
          <p:cNvSpPr/>
          <p:nvPr/>
        </p:nvSpPr>
        <p:spPr>
          <a:xfrm>
            <a:off x="12065040" y="5460840"/>
            <a:ext cx="3555720" cy="3174480"/>
          </a:xfrm>
          <a:prstGeom prst="rect">
            <a:avLst/>
          </a:prstGeom>
          <a:solidFill>
            <a:srgbClr val="005c82">
              <a:alpha val="4000"/>
            </a:srgbClr>
          </a:solidFill>
          <a:ln w="12600">
            <a:solidFill>
              <a:srgbClr val="005c82"/>
            </a:solidFill>
            <a:round/>
          </a:ln>
        </p:spPr>
        <p:style>
          <a:lnRef idx="0"/>
          <a:fillRef idx="0"/>
          <a:effectRef idx="0"/>
          <a:fontRef idx="minor"/>
        </p:style>
      </p:sp>
      <p:sp>
        <p:nvSpPr>
          <p:cNvPr id="623" name="Shape 13"/>
          <p:cNvSpPr/>
          <p:nvPr/>
        </p:nvSpPr>
        <p:spPr>
          <a:xfrm>
            <a:off x="12573000" y="5969160"/>
            <a:ext cx="2539800" cy="2158560"/>
          </a:xfrm>
          <a:prstGeom prst="rect">
            <a:avLst/>
          </a:prstGeom>
          <a:solidFill>
            <a:srgbClr val="005c82">
              <a:alpha val="3000"/>
            </a:srgbClr>
          </a:solidFill>
          <a:ln w="12600">
            <a:solidFill>
              <a:srgbClr val="005c82"/>
            </a:solidFill>
            <a:round/>
          </a:ln>
        </p:spPr>
        <p:style>
          <a:lnRef idx="0"/>
          <a:fillRef idx="0"/>
          <a:effectRef idx="0"/>
          <a:fontRef idx="minor"/>
        </p:style>
      </p:sp>
      <p:sp>
        <p:nvSpPr>
          <p:cNvPr id="624" name="Shape 14"/>
          <p:cNvSpPr/>
          <p:nvPr/>
        </p:nvSpPr>
        <p:spPr>
          <a:xfrm>
            <a:off x="13080960" y="6477120"/>
            <a:ext cx="1523520" cy="1142640"/>
          </a:xfrm>
          <a:prstGeom prst="rect">
            <a:avLst/>
          </a:prstGeom>
          <a:solidFill>
            <a:srgbClr val="005c82">
              <a:alpha val="2000"/>
            </a:srgbClr>
          </a:solidFill>
          <a:ln w="12600">
            <a:solidFill>
              <a:srgbClr val="005c82"/>
            </a:solidFill>
            <a:round/>
          </a:ln>
        </p:spPr>
        <p:style>
          <a:lnRef idx="0"/>
          <a:fillRef idx="0"/>
          <a:effectRef idx="0"/>
          <a:fontRef idx="minor"/>
        </p:style>
      </p:sp>
    </p:spTree>
  </p:cSld>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LibreOffice/7.3.7.2$Linux_X86_64 LibreOffice_project/30$Build-2</Application>
  <AppVersion>15.0000</AppVersion>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2026-06-26T02:47:45Z</dcterms:created>
  <dc:creator>Kimi</dc:creator>
  <dc:description/>
  <dc:language>en-US</dc:language>
  <cp:lastModifiedBy/>
  <dcterms:modified xsi:type="dcterms:W3CDTF">2026-06-29T05:08:04Z</dcterms:modified>
  <cp:revision>4</cp:revision>
  <dc:subject>WAM方向预研与主流论文解析</dc:subject>
  <dc:title>WAM方向预研与主流论文解析</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WAM方向预研与主流论文解析","ContentProducer":"001191110108MACG2KBH8F10000","ProduceID":"19f01bff-3652-81c8-8000-0000a7dd02d8","ReservedCode1":"","ContentPropagator":"001191110108MACG2KBH8F20000","PropagateID":"19f01bca-05a2-89e1-8000-09b68bb0c108","ReservedCode2":""}</vt:lpwstr>
  </property>
  <property fmtid="{D5CDD505-2E9C-101B-9397-08002B2CF9AE}" pid="3" name="Notes">
    <vt:r8>18</vt:r8>
  </property>
  <property fmtid="{D5CDD505-2E9C-101B-9397-08002B2CF9AE}" pid="4" name="PresentationFormat">
    <vt:lpwstr>On-screen Show (16:9)</vt:lpwstr>
  </property>
  <property fmtid="{D5CDD505-2E9C-101B-9397-08002B2CF9AE}" pid="5" name="Slides">
    <vt:r8>18</vt:r8>
  </property>
</Properties>
</file>